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 </a:t>
            </a:r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Solução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778240" y="292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pPr algn="r"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7863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20" kern="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Antévia é o </a:t>
            </a:r>
            <a:pPr algn="l" indent="0" marL="0">
              <a:lnSpc>
                <a:spcPct val="128000"/>
              </a:lnSpc>
              <a:buNone/>
            </a:pPr>
            <a:r>
              <a:rPr lang="en-US" sz="195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concierge de viagem do aluno-executivo</a:t>
            </a:r>
            <a:pPr algn="l" indent="0" marL="0">
              <a:lnSpc>
                <a:spcPct val="128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: uma plataforma integrada ao calendário acadêmico que antecipa e organiza passagem, hotel e traslado de todos os módulos em um só lugar — com </a:t>
            </a:r>
            <a:pPr algn="l" indent="0" marL="0">
              <a:lnSpc>
                <a:spcPct val="128000"/>
              </a:lnSpc>
              <a:buNone/>
            </a:pPr>
            <a:r>
              <a:rPr lang="en-US" sz="1950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 previsível desde o início</a:t>
            </a:r>
            <a:pPr algn="l" indent="0" marL="0">
              <a:lnSpc>
                <a:spcPct val="128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e a liberdade de manter companhia e milhas — para que o aluno chegue a cada encontro tranquilo e focado, e a escola ganhe em NPS.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Relacionamento contínuo pela plataforma:  </a:t>
            </a:r>
            <a:pPr algn="l" indent="0" marL="0">
              <a:buNone/>
            </a:pPr>
            <a:r>
              <a:rPr lang="en-US" sz="10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calendário do programa, avisos proativos, painel de custos e concierge dedicado — do primeiro ao último módulo.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112264" cy="1417320"/>
          </a:xfrm>
          <a:prstGeom prst="roundRect">
            <a:avLst>
              <a:gd name="adj" fmla="val 3871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456285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É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0976" y="481888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de viagem operado por uma plataforma própria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54096" y="4434840"/>
            <a:ext cx="2112264" cy="1417320"/>
          </a:xfrm>
          <a:prstGeom prst="roundRect">
            <a:avLst>
              <a:gd name="adj" fmla="val 3871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82112" y="456285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QUEM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82112" y="481888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Aluno-executivo que viaja para módulos presenciais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85232" y="4434840"/>
            <a:ext cx="2112264" cy="1417320"/>
          </a:xfrm>
          <a:prstGeom prst="roundRect">
            <a:avLst>
              <a:gd name="adj" fmla="val 3871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13248" y="456285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QUAL PROBLEMA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13248" y="481888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 fragmentada, reativa e fora do calendário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16368" y="4434840"/>
            <a:ext cx="2112264" cy="1417320"/>
          </a:xfrm>
          <a:prstGeom prst="roundRect">
            <a:avLst>
              <a:gd name="adj" fmla="val 3871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44384" y="456285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 QUAL CONTEXTO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44384" y="481888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executivos presenciais e periódicos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747504" y="4434840"/>
            <a:ext cx="2112264" cy="1417320"/>
          </a:xfrm>
          <a:prstGeom prst="roundRect">
            <a:avLst>
              <a:gd name="adj" fmla="val 3871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0" y="456285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DIFERENCIAL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875520" y="481888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na janela certa, guiada pelo calendário acadêmico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03 · SQUEEZE 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3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Model Canvas — preenchido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229856" cy="3877056"/>
          </a:xfrm>
          <a:prstGeom prst="roundRect">
            <a:avLst>
              <a:gd name="adj" fmla="val 246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48056" y="100126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32688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Parcerias-chave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 rot="-84000">
            <a:off x="429768" y="1216152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Escolas de negócios (FDC)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 rot="72000">
            <a:off x="429768" y="1538021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Consolidadoras e agências B2B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-60000">
            <a:off x="429768" y="1859890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Cias aéreas: LATAM, GOL e Azul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 rot="84000">
            <a:off x="429768" y="2181758"/>
            <a:ext cx="2010400" cy="360274"/>
          </a:xfrm>
          <a:prstGeom prst="roundRect">
            <a:avLst>
              <a:gd name="adj" fmla="val 7614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Hotéis próximos aos locais das aulas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0480" y="868680"/>
            <a:ext cx="2229856" cy="1963765"/>
          </a:xfrm>
          <a:prstGeom prst="roundRect">
            <a:avLst>
              <a:gd name="adj" fmla="val 279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78496" y="100126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4800" y="932688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Atividades-chave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 rot="-84000">
            <a:off x="2760208" y="1216152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Negociar e gerir bloqueios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 rot="72000">
            <a:off x="2760208" y="1519733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Disparar compras pelo calendário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 rot="-60000">
            <a:off x="2760208" y="1823314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Atender o aluno ponta a ponta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 rot="84000">
            <a:off x="2760208" y="2126894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Gerir no-show e reembolsos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50480" y="2933029"/>
            <a:ext cx="2229856" cy="1812707"/>
          </a:xfrm>
          <a:prstGeom prst="roundRect">
            <a:avLst>
              <a:gd name="adj" fmla="val 302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78496" y="306561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9" name="Text 17"/>
          <p:cNvSpPr/>
          <p:nvPr/>
        </p:nvSpPr>
        <p:spPr>
          <a:xfrm>
            <a:off x="2924800" y="2997037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Recursos-chave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 rot="-84000">
            <a:off x="2760208" y="3280501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Acordos de bloqueio aéreo + hotel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 rot="72000">
            <a:off x="2760208" y="3574938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ligada ao calendário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 rot="-60000">
            <a:off x="2760208" y="3869375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de concierge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 rot="84000">
            <a:off x="2760208" y="4163812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de giro p/ garantias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0920" y="868680"/>
            <a:ext cx="2229856" cy="3877056"/>
          </a:xfrm>
          <a:prstGeom prst="roundRect">
            <a:avLst>
              <a:gd name="adj" fmla="val 246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08936" y="100126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6" name="Text 24"/>
          <p:cNvSpPr/>
          <p:nvPr/>
        </p:nvSpPr>
        <p:spPr>
          <a:xfrm>
            <a:off x="5255240" y="932688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Proposta de valor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 rot="-78000">
            <a:off x="5090648" y="1234440"/>
            <a:ext cx="2010400" cy="360274"/>
          </a:xfrm>
          <a:prstGeom prst="roundRect">
            <a:avLst>
              <a:gd name="adj" fmla="val 7614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 de todos os módulos num só lugar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 rot="78000">
            <a:off x="5090648" y="1672438"/>
            <a:ext cx="2010400" cy="360274"/>
          </a:xfrm>
          <a:prstGeom prst="roundRect">
            <a:avLst>
              <a:gd name="adj" fmla="val 7614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na janela certa: 20–30% mais barata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 rot="-78000">
            <a:off x="5090648" y="2110435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previsível desde a matrícula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 rot="78000">
            <a:off x="5090648" y="2427732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mantém companhia e milhas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 rot="-78000">
            <a:off x="5090648" y="2745029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Escola ganha NPS e menos fricção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1360" y="868680"/>
            <a:ext cx="2229856" cy="1963765"/>
          </a:xfrm>
          <a:prstGeom prst="roundRect">
            <a:avLst>
              <a:gd name="adj" fmla="val 279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39376" y="100126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4" name="Text 32"/>
          <p:cNvSpPr/>
          <p:nvPr/>
        </p:nvSpPr>
        <p:spPr>
          <a:xfrm>
            <a:off x="7585680" y="932688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Relacionamento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 rot="-84000">
            <a:off x="7421088" y="1216152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dedicado por turma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 rot="72000">
            <a:off x="7421088" y="1528877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proativos a cada módulo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 rot="-60000">
            <a:off x="7421088" y="1841602"/>
            <a:ext cx="2010400" cy="360274"/>
          </a:xfrm>
          <a:prstGeom prst="roundRect">
            <a:avLst>
              <a:gd name="adj" fmla="val 7614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de custo do programa na plataforma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11360" y="2933029"/>
            <a:ext cx="2229856" cy="1812707"/>
          </a:xfrm>
          <a:prstGeom prst="roundRect">
            <a:avLst>
              <a:gd name="adj" fmla="val 302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39376" y="306561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Text 38"/>
          <p:cNvSpPr/>
          <p:nvPr/>
        </p:nvSpPr>
        <p:spPr>
          <a:xfrm>
            <a:off x="7585680" y="2997037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Canais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 rot="-84000">
            <a:off x="7421088" y="3280501"/>
            <a:ext cx="2010400" cy="360274"/>
          </a:xfrm>
          <a:prstGeom prst="roundRect">
            <a:avLst>
              <a:gd name="adj" fmla="val 7614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própria escola (matrícula e secretaria)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 rot="72000">
            <a:off x="7421088" y="3704783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 plataforma Antévia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 rot="-60000">
            <a:off x="7421088" y="4008364"/>
            <a:ext cx="2010400" cy="239573"/>
          </a:xfrm>
          <a:prstGeom prst="roundRect">
            <a:avLst>
              <a:gd name="adj" fmla="val 11450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do concierge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641799" y="868680"/>
            <a:ext cx="2229856" cy="3877056"/>
          </a:xfrm>
          <a:prstGeom prst="roundRect">
            <a:avLst>
              <a:gd name="adj" fmla="val 246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769815" y="100126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6" name="Text 44"/>
          <p:cNvSpPr/>
          <p:nvPr/>
        </p:nvSpPr>
        <p:spPr>
          <a:xfrm>
            <a:off x="9916119" y="932688"/>
            <a:ext cx="186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Segmentos de clientes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 rot="-84000">
            <a:off x="9751527" y="1216152"/>
            <a:ext cx="2010400" cy="375361"/>
          </a:xfrm>
          <a:prstGeom prst="roundRect">
            <a:avLst>
              <a:gd name="adj" fmla="val 7308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Aluno-executivo viajante (PF) — usa o serviço e paga a taxa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 rot="72000">
            <a:off x="9751527" y="1701241"/>
            <a:ext cx="2010400" cy="375361"/>
          </a:xfrm>
          <a:prstGeom prst="roundRect">
            <a:avLst>
              <a:gd name="adj" fmla="val 7308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Escola de negócios (B2B) — viabiliza o bloqueio da turma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846320"/>
            <a:ext cx="5725516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8056" y="497890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4910328"/>
            <a:ext cx="535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Estrutura de custos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 rot="-72000">
            <a:off x="429768" y="5248656"/>
            <a:ext cx="1307935" cy="566928"/>
          </a:xfrm>
          <a:prstGeom prst="roundRect">
            <a:avLst>
              <a:gd name="adj" fmla="val 4839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de concierge e operação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 rot="72000">
            <a:off x="1829143" y="5248656"/>
            <a:ext cx="1307935" cy="566928"/>
          </a:xfrm>
          <a:prstGeom prst="roundRect">
            <a:avLst>
              <a:gd name="adj" fmla="val 4839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e integrações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 rot="-72000">
            <a:off x="3228518" y="5248656"/>
            <a:ext cx="1307935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Garantias financeiras e capital de giro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 rot="72000">
            <a:off x="4627893" y="5248656"/>
            <a:ext cx="1307935" cy="566928"/>
          </a:xfrm>
          <a:prstGeom prst="roundRect">
            <a:avLst>
              <a:gd name="adj" fmla="val 4839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Inadimplência e no-show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46140" y="4846320"/>
            <a:ext cx="5725516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74156" y="4978908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8" name="Text 56"/>
          <p:cNvSpPr/>
          <p:nvPr/>
        </p:nvSpPr>
        <p:spPr>
          <a:xfrm>
            <a:off x="6420460" y="4910328"/>
            <a:ext cx="535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Fontes de receita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 rot="72000">
            <a:off x="6255868" y="5248656"/>
            <a:ext cx="1774393" cy="566928"/>
          </a:xfrm>
          <a:prstGeom prst="roundRect">
            <a:avLst>
              <a:gd name="adj" fmla="val 4839"/>
            </a:avLst>
          </a:prstGeom>
          <a:solidFill>
            <a:srgbClr val="FDF1CB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serviço por encontro, paga pelo aluno (R$ 50–150, a validar)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 rot="-72000">
            <a:off x="8121701" y="5248656"/>
            <a:ext cx="1774393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Comissão sobre bloqueios aéreos e hoteleiros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 rot="72000">
            <a:off x="9987534" y="5248656"/>
            <a:ext cx="1774393" cy="566928"/>
          </a:xfrm>
          <a:prstGeom prst="roundRect">
            <a:avLst>
              <a:gd name="adj" fmla="val 4839"/>
            </a:avLst>
          </a:prstGeom>
          <a:solidFill>
            <a:srgbClr val="E6E8F0"/>
          </a:solidFill>
          <a:ln w="6350">
            <a:solidFill>
              <a:srgbClr val="D8DCE4"/>
            </a:solidFill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 da escola por turma (potencial)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03 · SQUEEZE 3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Personas — quem usa e quem viabiliza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5638648" cy="9144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66344" y="1005840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B2C · QUEM USA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75688" y="960120"/>
            <a:ext cx="376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Ricardo Fontes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" y="1325880"/>
            <a:ext cx="534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anos · casado, 2 filhos · diretor de operações na indústria · alta renda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" y="1527048"/>
            <a:ext cx="534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Mora em Belém · cursa programa executivo em Nova Lima · viaja a cada 6 semanas, por 20 meses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 rot="-78000">
            <a:off x="320040" y="1901952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FDF1CB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 rot="-78000">
            <a:off x="438912" y="1993392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VALORIZA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 rot="-78000">
            <a:off x="438912" y="2203704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Rapidez e previsibilidade. Quer manter a companhia de sempre e as milhas pessoais. Reembolso sem planilha.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rot="72000">
            <a:off x="3203372" y="1901952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 rot="72000">
            <a:off x="3322244" y="1993392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CANAIS E INFLUÊNCIAS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 rot="72000">
            <a:off x="3322244" y="2203704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de cia aérea e OTAs, WhatsApp e e-mail da escola. Ouve os colegas de turma e a secretaria do programa.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 rot="78000">
            <a:off x="320040" y="3401568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E6E8F0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 rot="78000">
            <a:off x="438912" y="3493008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MEDOS E O QUE EVITA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 rot="78000">
            <a:off x="438912" y="3703320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Pagar 2–3× por decidir tarde. Plataformas rígidas que travam a escolha da cia. Burocracia de reembolso.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rot="-72000">
            <a:off x="3203372" y="3401568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FDF1CB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 rot="-72000">
            <a:off x="3322244" y="3493008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PAGARIA MAIS POR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 rot="-72000">
            <a:off x="3322244" y="3703320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Alguém que resolva tudo — passagem, hotel, traslado — sem tirar dele o controle das escolhas.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4910328"/>
            <a:ext cx="5638648" cy="1655064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" y="4992624"/>
            <a:ext cx="538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O RICARDO DIRIA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8056" y="5202936"/>
            <a:ext cx="1721053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“Eu sei as datas desde março. E mesmo assim só compro em cima da hora.”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78837" y="5202936"/>
            <a:ext cx="1721053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“Cada módulo é uma operação: voo num app, hotel noutro, reembolso na planilha.”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09618" y="5202936"/>
            <a:ext cx="1721053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 alguém resolver isso por mim sem me tirar as milhas, eu pago.”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233008" y="868680"/>
            <a:ext cx="5638648" cy="9144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79312" y="1005840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B2B · QUEM VIABILIZA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988656" y="960120"/>
            <a:ext cx="376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Mariana Duarte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79312" y="1325880"/>
            <a:ext cx="534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anos · gerente de programas executivos · escola de negócios de grande porte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79312" y="1527048"/>
            <a:ext cx="534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com fluxo de fora · decide junto com a diretoria · compra por indicação e reputação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 rot="-78000">
            <a:off x="6233008" y="1901952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 rot="-78000">
            <a:off x="6351880" y="1993392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PRECISA SABER ANTES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 rot="-78000">
            <a:off x="6351880" y="2203704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reais, governança financeira do bloqueio e quem responde pelo aluno quando a viagem dá errado.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rot="72000">
            <a:off x="9116339" y="1901952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E6E8F0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 rot="72000">
            <a:off x="9235211" y="1993392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COMO DECIDE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 rot="72000">
            <a:off x="9235211" y="2203704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Racional e estratégica. Avalia reclamação potencial, esforço da equipe e alinhamento com o posicionamento premium.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rot="78000">
            <a:off x="6233008" y="3401568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FDF1CB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 rot="78000">
            <a:off x="6351880" y="3493008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EVITA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 rot="78000">
            <a:off x="6351880" y="3703320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Fornecedor que gere reclamação, qualquer obrigação imposta ao aluno e risco de imagem para a escola.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 rot="-72000">
            <a:off x="9116339" y="3401568"/>
            <a:ext cx="2755316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 rot="-72000">
            <a:off x="9235211" y="3493008"/>
            <a:ext cx="251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APOIARIA POR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 rot="-72000">
            <a:off x="9235211" y="3703320"/>
            <a:ext cx="25175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e acolhimento do aluno antes dos módulos, com zero atrito operacional para a coordenação.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33008" y="4910328"/>
            <a:ext cx="5638648" cy="1655064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6350">
            <a:solidFill>
              <a:srgbClr val="D8DCE4"/>
            </a:solidFill>
            <a:prstDash val="solid"/>
          </a:ln>
          <a:effectLst>
            <a:outerShdw sx="100000" sy="100000" kx="0" ky="0" algn="bl" rotWithShape="0" blurRad="38100" dist="12700" dir="5400000">
              <a:srgbClr val="0B122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61024" y="4992624"/>
            <a:ext cx="538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A MARIANA DIRIA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61024" y="5202936"/>
            <a:ext cx="1721053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 aluno chega estressado da viagem — e isso aparece na avaliação do módulo.”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91805" y="5202936"/>
            <a:ext cx="1721053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“Posso indicar um parceiro de confiança. Obrigar o aluno, jamais.”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0022586" y="5202936"/>
            <a:ext cx="1721053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 der algum problema na viagem, quem ouve sou eu.”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03 · SQUEEZE 3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2026-07-22T00:25:35Z</dcterms:created>
  <dcterms:modified xsi:type="dcterms:W3CDTF">2026-07-22T00:25:35Z</dcterms:modified>
</cp:coreProperties>
</file>