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 apresentação a todos. Na sprint anterior nós mostramos quanto a Antévia pode faturar. Hoje vamos mostrar quanto custa colocá-la de pé, quanto custa operá-la, e quanto dinheiro estamos pedindo para chegar até o ponto em que ela se paga. São cinco anos de projeção, com o primeiro ano aberto mês a mês, porque o primeiro ano é o piloto. E já adiantamos o número: pedimos 560 mil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Nós começamos pequeno, e isso é uma decisão, não uma limitação. A meta do ano 1 é captar 100 alunos, sem nenhuma contratação: dois sócios operam com planilha e WhatsApp, o que dá 38 viagens por mês, ou 19 por sócio. O investimento inicial é de 51 mil e 500 reais, cobrindo constituição da empresa, registro de marca, pesquisa e validação, protótipo, identidade visual e equipamentos. O caixa consumido no ano é de 120 mil reais.</a:t>
            </a:r>
          </a:p>
          <a:p/>
          <a:p>
            <a:r>
              <a:t>O aluno que aderir no piloto recebe exatamente a mesma promessa da versão final: o plano de viagem do programa inteiro, a compra na janela certa, o roteiro único e o painel de custo. O que muda é o meio, não a entrega — e ele nem precisa saber que por trás há planilha e não plataforma.</a:t>
            </a:r>
          </a:p>
          <a:p/>
          <a:p>
            <a:r>
              <a:t>E o piloto existe para provar quatro coisas, cada uma com critério objetivo: se o aluno paga, com 100 alunos captados e renovação acima de 80%; se a escola indica de fato, com pelo menos duas coordenações; se a antecipação gera a economia prometida, acima de 200 reais por módulo; e se a operação escala, com um sócio tocando 30 viagens por mês sem falha. Se as quatro passarem, o investimento em plataforma do ano 2 se justifica. Se alguma falhar, é muito mais barato descobrir com 100 alunos do que com mil.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negócio funciona em seis blocos. Captação, quando a escola indica e o aluno adere. Planejamento, quando montamos o plano de viagem do programa inteiro. Compra na janela, aos 90 dias de cada módulo. Entrega, com o roteiro único e o suporte na semana do encontro. Pós-viagem, com reembolso e painel de custo. E gestão da operação, que é contínua.</a:t>
            </a:r>
          </a:p>
          <a:p/>
          <a:p>
            <a:r>
              <a:t>Os blocos três, quatro e cinco se repetem doze vezes por aluno, ao longo de vinte meses.</a:t>
            </a:r>
          </a:p>
          <a:p/>
          <a:p>
            <a:r>
              <a:t>Quatro desses blocos têm gargalos que precisamos declarar. A captação é o gargalo do negócio inteiro: o aluno não captado na matrícula só volta a ser captável na próxima turma. A compra na janela é onde a economia é gerada ou perdida — perder os 90 dias significa comprar no mesmo preço que o aluno pagaria sozinho. A entrega é onde a operação é julgada: uma falha chega à coordenação da escola e custa o canal, não apenas um cliente. E na gestão está a inadimplência: como a compra é antecipada, quem desiste depois da emissão gera prejuízo, não apenas receita perdida.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Sobre governança: os cinco sócios do Grupo Kairós são os fundadores. Três ocupam diretorias executivas com pró-labore, e os outros dois permanecem como acionistas e integram o conselho consultivo a partir do ano 3, junto com um conselheiro externo do setor de viagens corporativas.</a:t>
            </a:r>
          </a:p>
          <a:p/>
          <a:p>
            <a:r>
              <a:t>O pró-labore começa em 2 mil reais por diretor no ano 1 e chega a 9 mil no ano 5. E nos seis primeiros meses não há retirada nenhuma.</a:t>
            </a:r>
          </a:p>
          <a:p/>
          <a:p>
            <a:r>
              <a:t>A equipe operacional cresce depois do volume, nunca antes. O primeiro concierge entra no ano 2, quando a operação ultrapassa a capacidade dos sócios. No ano 5 são doze contratados. A regra de dimensionamento é 150 viagens por concierge por mês, e ela pressupõe a plataforma funcionando — sem ela, a produtividade realista é 60.</a:t>
            </a:r>
          </a:p>
          <a:p/>
          <a:p>
            <a:r>
              <a:t>Há um número que precisa ser dito com todas as letras: se as três diretorias fossem remuneradas a preço de mercado, o custo seria 2,6 milhões em cinco anos, contra 1 milhão e 87 mil que efetivamente pagamos. A diferença é um milhão e meio de reais em trabalho não remunerado — quase três vezes o capital que estamos pedindo. Os sócios são os maiores investidores do próprio negócio.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custos estão separados em cinco categorias, como pede o Encontro 6.</a:t>
            </a:r>
          </a:p>
          <a:p/>
          <a:p>
            <a:r>
              <a:t>Custos variáveis são apenas meios de pagamento, inadimplência, comissionamento de vendas e suporte por viagem. Eles somam pouco mais de 9% da receita, e é por isso que a margem de contribuição fica em 90% nos cinco anos. Isso é a assinatura de um negócio de intermediação: nós não compramos e revendemos passagem, então não existe custo de mercadoria vendida.</a:t>
            </a:r>
          </a:p>
          <a:p/>
          <a:p>
            <a:r>
              <a:t>Custos fixos de operação são a folha da equipe, a infraestrutura tecnológica, a manutenção da plataforma e o treinamento. Eles saem de 8% da receita no ano 1 para 35% no ano 5.</a:t>
            </a:r>
          </a:p>
          <a:p/>
          <a:p>
            <a:r>
              <a:t>Despesas administrativas incluem a diretoria, o conselho, contabilidade, jurídico, ferramentas e seguros. Caem de 56% para 19% da receita conforme a estrutura se dilui no volume.</a:t>
            </a:r>
          </a:p>
          <a:p/>
          <a:p>
            <a:r>
              <a:t>Despesas comerciais caem de 98% para 11%, e o ano 1 é alto porque concentra a campanha de lançamento.</a:t>
            </a:r>
          </a:p>
          <a:p/>
          <a:p>
            <a:r>
              <a:t>E os investimentos somam 374 mil e 500 reais nos cinco anos.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investimento acompanha a validação. No ano 1 são 51 mil e 500 reais para colocar a operação de pé sem plataforma nenhuma. No ano 2, 116 mil reais na plataforma e nas integrações. No ano 3, 70 mil na automação de reembolso e conciliação. No ano 4, aplicativo móvel. No ano 5, inteligência de dados.</a:t>
            </a:r>
          </a:p>
          <a:p/>
          <a:p>
            <a:r>
              <a:t>O investimento do ano 2 é o mais importante dos cinco, e vale entender por quê: ele não traz receita nova. Ele impede que a folha cresça junto com o volume. É ele que leva o concierge de 60 para 150 viagens por mês. Sem essa plataforma, o ano 5 precisaria de dez concierges em vez de sete, e a margem simplesmente desapareceria.</a:t>
            </a:r>
          </a:p>
          <a:p/>
          <a:p>
            <a:r>
              <a:t>Cada etapa só começa depois que a anterior provou o que precisava provar. É isso que torna o pedido de capital defensável: não pedimos tudo de uma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Sobre como o mercado vai nos descobrir. O canal é a escola, não a mídia, e isso muda a natureza do gasto: uma venda institucional destrava dezenas de alunos de uma vez.</a:t>
            </a:r>
          </a:p>
          <a:p/>
          <a:p>
            <a:r>
              <a:t>O lançamento custa 45 mil reais, concentrados nos três primeiros meses. São materiais institucionais, vídeo de demonstração, um evento com as coordenações dos campi-alvo e assessoria de relações institucionais. Sem essa verba, a conversa com uma coordenação de escola de negócios de grande porte simplesmente não acontece — o interlocutor é institucional e espera material à altura.</a:t>
            </a:r>
          </a:p>
          <a:p/>
          <a:p>
            <a:r>
              <a:t>A aquisição soma 786 mil ao longo dos cinco anos, e a linha mais importante é prospecção presencial: coordenação de campus se abre em reunião, não por e-mail. Eventos e feiras do setor vêm em seguida. Mídia digital é complementar, nunca principal — ela sustenta a decisão do aluno que já ouviu falar da Antévia pela escola.</a:t>
            </a:r>
          </a:p>
          <a:p/>
          <a:p>
            <a:r>
              <a:t>O custo de captar um aluno vai de 870 reais no ano 1, que carrega o lançamento, para cerca de 450 nos anos seguintes. Cada aluno captado gera aproximadamente 2 mil e 940 reais de receita ao longo dos doze módulos — uma relação de 3,4 a 7,1 vezes.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é a consolidação de tudo. A receita bruta sai de 88 mil no ano 1 para 2 milhões e 955 mil no ano 5, somando 6 milhões no período.</a:t>
            </a:r>
          </a:p>
          <a:p/>
          <a:p>
            <a:r>
              <a:t>A margem de contribuição é de 90% e praticamente não se move — de novo, é a natureza da intermediação.</a:t>
            </a:r>
          </a:p>
          <a:p/>
          <a:p>
            <a:r>
              <a:t>O EBITDA é negativo nos três primeiros anos: menos 77,8%, menos 28,4% e menos 6,8%. Vira positivo no ano 4, com 3,5%, e chega a 10,4% no ano 5. O EBITDA acumulado dos cinco anos é positivo em 146 mil reais.</a:t>
            </a:r>
          </a:p>
          <a:p/>
          <a:p>
            <a:r>
              <a:t>O fluxo de caixa livre acompanha, com o peso adicional dos investimentos. O caixa acumulado fecha o ano 5 em menos 228 mil, e vira positivo no início do ano 6 — porque só o ano 5 gera 243 mil de caixa.</a:t>
            </a:r>
          </a:p>
          <a:p/>
          <a:p>
            <a:r>
              <a:t>Nós não estamos escondendo o prejuízo dos três primeiros anos. Ele é a descrição correta de um negócio que precisa de volume para ter margem e que não tem volume no começo.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ano 1 aberto mês a mês, que é o piloto.</a:t>
            </a:r>
          </a:p>
          <a:p/>
          <a:p>
            <a:r>
              <a:t>Três coisas se leem nesta curva. A primeira: os três primeiros meses concentram o lançamento, com 18 mil e 500 reais mensais em despesa comercial contra 3 mil e 500 nos meses seguintes. É o custo de entrar no mercado, e ele é gasto de uma vez.</a:t>
            </a:r>
          </a:p>
          <a:p/>
          <a:p>
            <a:r>
              <a:t>A segunda: o salto do mês 7 é o início do pró-labore. Os dois sócios executivos passam os seis primeiros meses sem retirada nenhuma.</a:t>
            </a:r>
          </a:p>
          <a:p/>
          <a:p>
            <a:r>
              <a:t>E a terceira: o EBITDA vira positivo no mês 12, com 331 reais. É simbólico em valor, mas é o mês em que a operação passa a se pagar — e é exatamente o que o piloto precisava demonstrar.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Pedimos 560 mil reais, e eles são liberados em três tranches condicionadas.</a:t>
            </a:r>
          </a:p>
          <a:p/>
          <a:p>
            <a:r>
              <a:t>A primeira, de 175 mil, cobre o ano 1: constituição, MVP, lançamento e o custeio dos 100 primeiros alunos. A segunda, de 230 mil, entra no ano 2 e destrava a plataforma — que é o que leva o concierge de 60 para 150 viagens por mês. A terceira, de 155 mil, cobre integrações, equipe e a expansão para São Paulo e Rio.</a:t>
            </a:r>
          </a:p>
          <a:p/>
          <a:p>
            <a:r>
              <a:t>A liberação é condicionada aos critérios de validação de cada etapa. Isso protege o investidor: se o piloto não provar o que precisa provar, a segunda tranche não é liberada, e a perda fica em 175 mil reais, não em 560 mil.</a:t>
            </a:r>
          </a:p>
          <a:p/>
          <a:p>
            <a:r>
              <a:t>Sobre onde o dinheiro é aplicado: 374 mil e 500 são investimento, e 224 mil e 700 são o prejuízo operacional acumulado dos três primeiros anos, enquanto a operação ainda não se paga. O EBITDA fica positivo no ano 4 e o caixa acumulado vira positivo no início do ano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fechar, o professor pediu que chegássemos com uma definição, e nós temos uma: vamos defender o cenário Moderado.</a:t>
            </a:r>
          </a:p>
          <a:p/>
          <a:p>
            <a:r>
              <a:t>O conservador chega a 800 alunos ativos no ano 5. Nesse patamar o negócio não se paga em horizonte nenhum, e o pedido de capital sobe para 3,2 milhões. Pedir mais para entregar menos não se defende.</a:t>
            </a:r>
          </a:p>
          <a:p/>
          <a:p>
            <a:r>
              <a:t>O otimista chega a 3.300 alunos, o que seria 31% do mercado onde podemos atuar. É possível, mas assumi-lo como base transforma a projeção em torcida.</a:t>
            </a:r>
          </a:p>
          <a:p/>
          <a:p>
            <a:r>
              <a:t>O moderado chega a 1.755 alunos, 16,7% desse mercado, com 6 milhões de receita em cinco anos, 39 milhões e meio de volume transacionado, EBITDA positivo a partir do ano 4 e capital de 559 mil reais. É a combinação de ambição com responsabilidade financeira que sustenta uma conversa com investidor.</a:t>
            </a:r>
          </a:p>
          <a:p/>
          <a:p>
            <a:r>
              <a:t>Obrigado. Estamos à disposição para as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56048" y="1417320"/>
            <a:ext cx="2286000" cy="310896"/>
          </a:xfrm>
          <a:prstGeom prst="roundRect">
            <a:avLst>
              <a:gd name="adj" fmla="val 35000"/>
            </a:avLst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956048" y="1499616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spc="120">
                <a:solidFill>
                  <a:srgbClr val="F2B705"/>
                </a:solidFill>
                <a:latin typeface="Inter SemiBold"/>
              </a:rPr>
              <a:t>SPRINT 05 · VIABILIDADE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44575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Sora"/>
              </a:rPr>
              <a:t>Ant</a:t>
            </a:r>
            <a:r>
              <a:rPr sz="7200" b="1">
                <a:solidFill>
                  <a:srgbClr val="F2B705"/>
                </a:solidFill>
                <a:latin typeface="Sora"/>
              </a:rPr>
              <a:t>é</a:t>
            </a:r>
            <a:r>
              <a:rPr sz="7200" b="1">
                <a:solidFill>
                  <a:srgbClr val="FFFFFF"/>
                </a:solidFill>
                <a:latin typeface="Sora"/>
              </a:rPr>
              <a:t>via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4457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spc="220">
                <a:solidFill>
                  <a:srgbClr val="E6E8F0"/>
                </a:solidFill>
                <a:latin typeface="Inter"/>
              </a:rPr>
              <a:t>A LOGÍSTICA DA SUA FORMAÇÃO, NO TEMPO CERTO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848" y="4224528"/>
            <a:ext cx="914400" cy="1828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371600" y="4526280"/>
            <a:ext cx="94457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Inter"/>
              </a:rPr>
              <a:t>Custos, estrutura e necessidade de capital · 5 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983480"/>
            <a:ext cx="94457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F2B705"/>
                </a:solidFill>
                <a:latin typeface="Inter"/>
              </a:rPr>
              <a:t>Pedimos R$ 560 mil para atravessar da validação ao ponto de equilíbrio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760720"/>
            <a:ext cx="94457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AEB6C6"/>
                </a:solidFill>
                <a:latin typeface="Inter"/>
              </a:rPr>
              <a:t>Grupo Kairós · Business Designer · Fundação Dom Cabral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spc="60">
                <a:solidFill>
                  <a:srgbClr val="8A93A6"/>
                </a:solidFill>
                <a:latin typeface="Inter"/>
              </a:rPr>
              <a:t>GRUPO KAIRÓS · BUSINESS DESIGN · SPRINT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50" b="0">
                <a:solidFill>
                  <a:srgbClr val="8A93A6"/>
                </a:solidFill>
                <a:latin typeface="Inter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2B705"/>
                </a:solidFill>
                <a:latin typeface="Sora"/>
              </a:rPr>
              <a:t>01  </a:t>
            </a:r>
            <a:r>
              <a:rPr sz="2300" b="1">
                <a:solidFill>
                  <a:srgbClr val="0B1220"/>
                </a:solidFill>
                <a:latin typeface="Sora"/>
              </a:rPr>
              <a:t>Começamos pequeno: o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B2435"/>
                </a:solidFill>
                <a:latin typeface="Inter"/>
              </a:rPr>
              <a:t>O ano 1 é um piloto. A promessa entregue é a mesma da versão final — o que muda é o meio.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2103120"/>
            <a:ext cx="2761488" cy="2331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2340863"/>
            <a:ext cx="23957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2B705"/>
                </a:solidFill>
                <a:latin typeface="Sora"/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63239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Alunos no piloto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93008"/>
            <a:ext cx="2395728" cy="8321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Meta de captação do ano 1, somando turmas e instituições.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103120"/>
            <a:ext cx="2761488" cy="2331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429000" y="2340863"/>
            <a:ext cx="23957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2B705"/>
                </a:solidFill>
                <a:latin typeface="Sora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063239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Contratações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493008"/>
            <a:ext cx="2395728" cy="8321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Dois sócios operam com planilha e WhatsApp. 38 viagens por mês.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103120"/>
            <a:ext cx="2761488" cy="2331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64224" y="2340863"/>
            <a:ext cx="23957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2B705"/>
                </a:solidFill>
                <a:latin typeface="Sora"/>
              </a:rPr>
              <a:t>R$ 51,5 mil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3063239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Investimento inicial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3493008"/>
            <a:ext cx="2395728" cy="8321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Constituição, marca, validação, protótipo, identidade e equipamentos.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07424" y="2103120"/>
            <a:ext cx="2761488" cy="2331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290304" y="2340863"/>
            <a:ext cx="23957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2B705"/>
                </a:solidFill>
                <a:latin typeface="Sora"/>
              </a:rPr>
              <a:t>R$ 120 mil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0304" y="3063239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Caixa consumido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0304" y="3493008"/>
            <a:ext cx="2395728" cy="8321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É o custo de descobrir se o modelo funciona.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4754880"/>
            <a:ext cx="11521440" cy="1188720"/>
          </a:xfrm>
          <a:prstGeom prst="roundRect">
            <a:avLst>
              <a:gd name="adj" fmla="val 6000"/>
            </a:avLst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8640" y="491947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spc="120">
                <a:solidFill>
                  <a:srgbClr val="F2B705"/>
                </a:solidFill>
                <a:latin typeface="Inter SemiBold"/>
              </a:rPr>
              <a:t>O QUE O PILOTO PRECISA PROVAR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2120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E6E8F0"/>
                </a:solidFill>
                <a:latin typeface="Inter"/>
              </a:rPr>
              <a:t>O aluno paga? — 100 alunos com renovação acima de 80%.    A escola indica? — 2 coordenações na matrícula.
A economia é real? — acima de R$ 200 por módulo.    A operação escala? — 30 viagens/mês por sócio, sem falha.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spc="60">
                <a:solidFill>
                  <a:srgbClr val="9AA1AD"/>
                </a:solidFill>
                <a:latin typeface="Inter"/>
              </a:rPr>
              <a:t>GRUPO KAIRÓS · BUSINESS DESIGN · SPRINT 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50" b="0">
                <a:solidFill>
                  <a:srgbClr val="9AA1AD"/>
                </a:solidFill>
                <a:latin typeface="Inter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2B705"/>
                </a:solidFill>
                <a:latin typeface="Sora"/>
              </a:rPr>
              <a:t>02  </a:t>
            </a:r>
            <a:r>
              <a:rPr sz="2300" b="1">
                <a:solidFill>
                  <a:srgbClr val="0B1220"/>
                </a:solidFill>
                <a:latin typeface="Sora"/>
              </a:rPr>
              <a:t>Como o negócio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B2435"/>
                </a:solidFill>
                <a:latin typeface="Inter"/>
              </a:rPr>
              <a:t>Seis blocos. Os blocos 3, 4 e 5 se repetem doze vezes por aluno ao longo de 20 meses.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2103120"/>
            <a:ext cx="1755648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48056" y="22128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2B705"/>
                </a:solidFill>
                <a:latin typeface="Sor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2560320"/>
            <a:ext cx="149961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spc="80">
                <a:solidFill>
                  <a:srgbClr val="0B1220"/>
                </a:solidFill>
                <a:latin typeface="Inter SemiBold"/>
              </a:rPr>
              <a:t>CAPTAÇÃO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" y="2834640"/>
            <a:ext cx="149961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1B2435"/>
                </a:solidFill>
                <a:latin typeface="Inter"/>
              </a:rPr>
              <a:t>escola indica
aluno adere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651760"/>
            <a:ext cx="2011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2B705"/>
                </a:solidFill>
                <a:latin typeface="Inter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9424" y="2103120"/>
            <a:ext cx="1755648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377440" y="22128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2B705"/>
                </a:solidFill>
                <a:latin typeface="Sor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560320"/>
            <a:ext cx="149961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spc="80">
                <a:solidFill>
                  <a:srgbClr val="0B1220"/>
                </a:solidFill>
                <a:latin typeface="Inter SemiBold"/>
              </a:rPr>
              <a:t>PLANEJAMENTO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834640"/>
            <a:ext cx="149961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1B2435"/>
                </a:solidFill>
                <a:latin typeface="Inter"/>
              </a:rPr>
              <a:t>plano do programa
inteiro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32504" y="2651760"/>
            <a:ext cx="2011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2B705"/>
                </a:solidFill>
                <a:latin typeface="Inter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78808" y="2103120"/>
            <a:ext cx="1755648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306824" y="22128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2B705"/>
                </a:solidFill>
                <a:latin typeface="Sor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6824" y="2560320"/>
            <a:ext cx="149961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spc="80">
                <a:solidFill>
                  <a:srgbClr val="0B1220"/>
                </a:solidFill>
                <a:latin typeface="Inter SemiBold"/>
              </a:rPr>
              <a:t>COMPRA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6824" y="2834640"/>
            <a:ext cx="149961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1B2435"/>
                </a:solidFill>
                <a:latin typeface="Inter"/>
              </a:rPr>
              <a:t>disparo aos 90 dias
consolidadora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2651760"/>
            <a:ext cx="2011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2B705"/>
                </a:solidFill>
                <a:latin typeface="Inter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2103120"/>
            <a:ext cx="1755648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36207" y="22128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2B705"/>
                </a:solidFill>
                <a:latin typeface="Sor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7" y="2560320"/>
            <a:ext cx="149961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spc="80">
                <a:solidFill>
                  <a:srgbClr val="0B1220"/>
                </a:solidFill>
                <a:latin typeface="Inter SemiBold"/>
              </a:rPr>
              <a:t>ENTREGA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7" y="2834640"/>
            <a:ext cx="149961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1B2435"/>
                </a:solidFill>
                <a:latin typeface="Inter"/>
              </a:rPr>
              <a:t>roteiro único
suporte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1" y="2651760"/>
            <a:ext cx="2011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2B705"/>
                </a:solidFill>
                <a:latin typeface="Inter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37575" y="2103120"/>
            <a:ext cx="1755648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165592" y="22128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2B705"/>
                </a:solidFill>
                <a:latin typeface="Sora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5592" y="2560320"/>
            <a:ext cx="149961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spc="80">
                <a:solidFill>
                  <a:srgbClr val="0B1220"/>
                </a:solidFill>
                <a:latin typeface="Inter SemiBold"/>
              </a:rPr>
              <a:t>PÓS-VIAGEM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5592" y="2834640"/>
            <a:ext cx="149961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1B2435"/>
                </a:solidFill>
                <a:latin typeface="Inter"/>
              </a:rPr>
              <a:t>reembolso
painel de custos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0655" y="2651760"/>
            <a:ext cx="2011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2B705"/>
                </a:solidFill>
                <a:latin typeface="Inter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66959" y="2103120"/>
            <a:ext cx="1755648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094976" y="22128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2B705"/>
                </a:solidFill>
                <a:latin typeface="Sor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94976" y="2560320"/>
            <a:ext cx="149961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spc="80">
                <a:solidFill>
                  <a:srgbClr val="0B1220"/>
                </a:solidFill>
                <a:latin typeface="Inter SemiBold"/>
              </a:rPr>
              <a:t>GESTÃO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94976" y="2834640"/>
            <a:ext cx="149961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1B2435"/>
                </a:solidFill>
                <a:latin typeface="Inter"/>
              </a:rPr>
              <a:t>conciliação
indicadores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749039"/>
            <a:ext cx="11521440" cy="329184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11479" y="3831335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2B705"/>
                </a:solidFill>
                <a:latin typeface="Inter SemiBold"/>
              </a:rPr>
              <a:t>Bloco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8920" y="3831335"/>
            <a:ext cx="8961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2B705"/>
                </a:solidFill>
                <a:latin typeface="Inter SemiBold"/>
              </a:rPr>
              <a:t>Gargalo crítico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078224"/>
            <a:ext cx="11521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11479" y="4169663"/>
            <a:ext cx="21945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1 · Captação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4169663"/>
            <a:ext cx="896112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É o gargalo do negócio inteiro. Aluno não captado na matrícula só volta na próxima turma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480560"/>
            <a:ext cx="11521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11479" y="4572000"/>
            <a:ext cx="21945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3 · Compra na janela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88920" y="4572000"/>
            <a:ext cx="896112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Perder os 90 dias significa comprar no preço que o aluno pagaria sozinho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882896"/>
            <a:ext cx="11521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11479" y="4974336"/>
            <a:ext cx="21945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4 · Entrega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88920" y="4974336"/>
            <a:ext cx="896112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Falha aqui chega à coordenação — custa o canal, não apenas um cliente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285232"/>
            <a:ext cx="11521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11479" y="5376672"/>
            <a:ext cx="21945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6 · Gestão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88920" y="5376672"/>
            <a:ext cx="896112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Compra antecipada: quem desiste depois da emissão gera prejuízo, não receita perdida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6309360"/>
            <a:ext cx="11521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Os blocos 2 e 5 são os que mais se beneficiam de automação — é neles que o investimento em plataforma se justifica.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spc="60">
                <a:solidFill>
                  <a:srgbClr val="9AA1AD"/>
                </a:solidFill>
                <a:latin typeface="Inter"/>
              </a:rPr>
              <a:t>GRUPO KAIRÓS · BUSINESS DESIGN · SPRINT 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50" b="0">
                <a:solidFill>
                  <a:srgbClr val="9AA1AD"/>
                </a:solidFill>
                <a:latin typeface="Inter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2B705"/>
                </a:solidFill>
                <a:latin typeface="Sora"/>
              </a:rPr>
              <a:t>03  </a:t>
            </a:r>
            <a:r>
              <a:rPr sz="2300" b="1">
                <a:solidFill>
                  <a:srgbClr val="0B1220"/>
                </a:solidFill>
                <a:latin typeface="Sora"/>
              </a:rPr>
              <a:t>Governança e estrutura de pessoal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B2435"/>
                </a:solidFill>
                <a:latin typeface="Inter"/>
              </a:rPr>
              <a:t>Os cinco sócios do Grupo Kairós na governança. A estrutura cresce depois do volume, nunca antes.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2011680"/>
            <a:ext cx="11430000" cy="329184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11479" y="2093976"/>
            <a:ext cx="356615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2B705"/>
                </a:solidFill>
                <a:latin typeface="Inter SemiBold"/>
              </a:rPr>
              <a:t>Cargo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19" y="2093976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Salário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19" y="2093976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Custo mensal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19" y="2093976"/>
            <a:ext cx="7132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A1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7031" y="2093976"/>
            <a:ext cx="7132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A2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53144" y="2093976"/>
            <a:ext cx="7132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A3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49256" y="2093976"/>
            <a:ext cx="7132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A4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45368" y="2093976"/>
            <a:ext cx="7132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A5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40864"/>
            <a:ext cx="11430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11479" y="2432304"/>
            <a:ext cx="356615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Diretoria executiva (sócios)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19" y="2432304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R$ 2.000 → 9.000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19" y="2432304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R$ 2.400 → 10.800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19" y="243230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43230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3144" y="243230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49256" y="243230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45368" y="243230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706624"/>
            <a:ext cx="11430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11479" y="2798064"/>
            <a:ext cx="356615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Conselho consultivo (jeton)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19" y="2798064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R$ 1.200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19" y="2798064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R$ 1.200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19" y="279806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1" y="279806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279806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49256" y="279806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45368" y="279806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072384"/>
            <a:ext cx="11430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11479" y="3163824"/>
            <a:ext cx="356615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Concierge de viagem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19" y="3163824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R$ 3.000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19" y="3163824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R$ 5.100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19" y="316382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1" y="316382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3144" y="316382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49256" y="316382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45368" y="316382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438144"/>
            <a:ext cx="11430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11479" y="3529584"/>
            <a:ext cx="356615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Coordenador de operações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60519" y="3529584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R$ 6.000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19" y="3529584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R$ 10.200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19" y="352958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7031" y="352958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53144" y="352958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49256" y="352958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45368" y="352958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3803904"/>
            <a:ext cx="11430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11479" y="3895344"/>
            <a:ext cx="356615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Analista comercial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60519" y="3895344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R$ 4.000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719" y="3895344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R$ 6.800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60919" y="389534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57031" y="389534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53144" y="389534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49256" y="389534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45368" y="389534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4169664"/>
            <a:ext cx="11430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411479" y="4261104"/>
            <a:ext cx="356615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Customer Success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60519" y="4261104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R$ 3.500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60719" y="4261104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R$ 5.950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60919" y="426110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57031" y="426110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53144" y="426110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49256" y="426110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45368" y="426110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4535424"/>
            <a:ext cx="11430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411479" y="4626864"/>
            <a:ext cx="356615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Analista administrativo-financeiro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60519" y="4626864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R$ 4.500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60719" y="4626864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R$ 7.650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60919" y="462686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57031" y="462686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53144" y="462686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49256" y="462686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945368" y="462686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4901184"/>
            <a:ext cx="11430000" cy="365760"/>
          </a:xfrm>
          <a:prstGeom prst="rect">
            <a:avLst/>
          </a:prstGeom>
          <a:solidFill>
            <a:srgbClr val="FDF1CB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11479" y="4992624"/>
            <a:ext cx="356615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0B1220"/>
                </a:solidFill>
                <a:latin typeface="Inter SemiBold"/>
              </a:rPr>
              <a:t>Total contratado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60519" y="4992624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B1220"/>
                </a:solidFill>
                <a:latin typeface="Inter SemiBold"/>
              </a:rPr>
              <a:t/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760719" y="4992624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B1220"/>
                </a:solidFill>
                <a:latin typeface="Inter SemiBold"/>
              </a:rPr>
              <a:t/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60919" y="499262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B1220"/>
                </a:solidFill>
                <a:latin typeface="Inter SemiBold"/>
              </a:rP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57031" y="499262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B1220"/>
                </a:solidFill>
                <a:latin typeface="Inter SemiBold"/>
              </a:rP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53144" y="499262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B1220"/>
                </a:solidFill>
                <a:latin typeface="Inter SemiBold"/>
              </a:rP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049256" y="499262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B1220"/>
                </a:solidFill>
                <a:latin typeface="Inter SemiBold"/>
              </a:rPr>
              <a:t>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945368" y="4992624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B1220"/>
                </a:solidFill>
                <a:latin typeface="Inter SemiBold"/>
              </a:rPr>
              <a:t>12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20040" y="5257800"/>
            <a:ext cx="11521440" cy="868680"/>
          </a:xfrm>
          <a:prstGeom prst="roundRect">
            <a:avLst>
              <a:gd name="adj" fmla="val 6000"/>
            </a:avLst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548640" y="5431536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8F0"/>
                </a:solidFill>
                <a:latin typeface="Inter"/>
              </a:rPr>
              <a:t>Os sócios são os maiores investidores do próprio negócio: R$ 1,5 milhão em trabalho não remunerado ao longo de cinco anos — quase três vezes o capital que estamos pedindo.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spc="60">
                <a:solidFill>
                  <a:srgbClr val="9AA1AD"/>
                </a:solidFill>
                <a:latin typeface="Inter"/>
              </a:rPr>
              <a:t>GRUPO KAIRÓS · BUSINESS DESIGN · SPRINT 05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50" b="0">
                <a:solidFill>
                  <a:srgbClr val="9AA1AD"/>
                </a:solidFill>
                <a:latin typeface="Inter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2B705"/>
                </a:solidFill>
                <a:latin typeface="Sora"/>
              </a:rPr>
              <a:t>04  </a:t>
            </a:r>
            <a:r>
              <a:rPr sz="2300" b="1">
                <a:solidFill>
                  <a:srgbClr val="0B1220"/>
                </a:solidFill>
                <a:latin typeface="Sora"/>
              </a:rPr>
              <a:t>Custos e despesas, cinco categorias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B2435"/>
                </a:solidFill>
                <a:latin typeface="Inter"/>
              </a:rPr>
              <a:t>Margem de contribuição de 90% nos cinco anos — a assinatura de um negócio de intermediação.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2011680"/>
            <a:ext cx="11521440" cy="329184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11479" y="2093976"/>
            <a:ext cx="338327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2B705"/>
                </a:solidFill>
                <a:latin typeface="Inter SemiBold"/>
              </a:rPr>
              <a:t>Categoria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2093976"/>
            <a:ext cx="11155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Ano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76088" y="2093976"/>
            <a:ext cx="11155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Ano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4536" y="2093976"/>
            <a:ext cx="11155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Ano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72983" y="2093976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Ano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0304" y="2093976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Ano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07624" y="2093976"/>
            <a:ext cx="10424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% receita A5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340864"/>
            <a:ext cx="11521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11479" y="2432304"/>
            <a:ext cx="3383279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Custos variáveis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432304"/>
            <a:ext cx="111556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8.719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2432304"/>
            <a:ext cx="111556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32.211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2432304"/>
            <a:ext cx="111556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81.281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2983" y="2432304"/>
            <a:ext cx="123444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163.481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0304" y="2432304"/>
            <a:ext cx="123444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268.516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07624" y="2432304"/>
            <a:ext cx="1042416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9,1%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743200"/>
            <a:ext cx="11521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11479" y="2834640"/>
            <a:ext cx="3383279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Custos fixos de operação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2834640"/>
            <a:ext cx="111556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7.200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2834640"/>
            <a:ext cx="111556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93.600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4536" y="2834640"/>
            <a:ext cx="111556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271.200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2983" y="2834640"/>
            <a:ext cx="123444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628.200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4" y="2834640"/>
            <a:ext cx="123444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1.035.600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07624" y="2834640"/>
            <a:ext cx="1042416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35,0%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145536"/>
            <a:ext cx="11521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11479" y="3236976"/>
            <a:ext cx="3383279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Despesas administrativas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3236976"/>
            <a:ext cx="111556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49.200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76088" y="3236976"/>
            <a:ext cx="111556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192.000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74536" y="3236976"/>
            <a:ext cx="111556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325.200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72983" y="3236976"/>
            <a:ext cx="123444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442.800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0304" y="3236976"/>
            <a:ext cx="123444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566.400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07624" y="3236976"/>
            <a:ext cx="1042416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19,2%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547872"/>
            <a:ext cx="11521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11479" y="3639312"/>
            <a:ext cx="3383279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Despesas comerciais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77639" y="3639312"/>
            <a:ext cx="111556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87.000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76088" y="3639312"/>
            <a:ext cx="111556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88.800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74536" y="3639312"/>
            <a:ext cx="111556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152.400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72983" y="3639312"/>
            <a:ext cx="123444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231.600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0304" y="3639312"/>
            <a:ext cx="123444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318.000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07624" y="3639312"/>
            <a:ext cx="1042416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10,8%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3950208"/>
            <a:ext cx="11521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11479" y="4041648"/>
            <a:ext cx="3383279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Investimentos (CAPEX)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77639" y="4041648"/>
            <a:ext cx="111556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51.500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76088" y="4041648"/>
            <a:ext cx="111556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116.000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74536" y="4041648"/>
            <a:ext cx="111556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70.000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72983" y="4041648"/>
            <a:ext cx="123444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72.000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90304" y="4041648"/>
            <a:ext cx="123444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65.000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07624" y="4041648"/>
            <a:ext cx="1042416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2,2%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0040" y="4343400"/>
            <a:ext cx="3749039" cy="16002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502920" y="4471416"/>
            <a:ext cx="33832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2B705"/>
                </a:solidFill>
                <a:latin typeface="Sora"/>
              </a:rPr>
              <a:t>90%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4873752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220"/>
                </a:solidFill>
                <a:latin typeface="Inter SemiBold"/>
              </a:rPr>
              <a:t>Margem de contribuição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5148072"/>
            <a:ext cx="338327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1B2435"/>
                </a:solidFill>
                <a:latin typeface="Inter"/>
              </a:rPr>
              <a:t>Não compramos e revendemos passagem: não há custo de mercadoria vendida.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24528" y="4343400"/>
            <a:ext cx="3749039" cy="16002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4407408" y="4471416"/>
            <a:ext cx="33832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2B705"/>
                </a:solidFill>
                <a:latin typeface="Sora"/>
              </a:rPr>
              <a:t>R$ 45 mil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07408" y="4873752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220"/>
                </a:solidFill>
                <a:latin typeface="Inter SemiBold"/>
              </a:rPr>
              <a:t>Lançamento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07408" y="5148072"/>
            <a:ext cx="338327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1B2435"/>
                </a:solidFill>
                <a:latin typeface="Inter"/>
              </a:rPr>
              <a:t>Concentrado nos 3 primeiros meses. É o que coloca a Antévia diante de uma coordenação.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19872" y="4343400"/>
            <a:ext cx="3749039" cy="16002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8302752" y="4471416"/>
            <a:ext cx="33832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2B705"/>
                </a:solidFill>
                <a:latin typeface="Sora"/>
              </a:rPr>
              <a:t>150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02752" y="4873752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220"/>
                </a:solidFill>
                <a:latin typeface="Inter SemiBold"/>
              </a:rPr>
              <a:t>Viagens por concierge/mês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02752" y="5148072"/>
            <a:ext cx="338327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1B2435"/>
                </a:solidFill>
                <a:latin typeface="Inter"/>
              </a:rPr>
              <a:t>Com a plataforma. Sem ela, 60 — e o ano 5 precisaria de 10 concierges, não 7.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spc="60">
                <a:solidFill>
                  <a:srgbClr val="9AA1AD"/>
                </a:solidFill>
                <a:latin typeface="Inter"/>
              </a:rPr>
              <a:t>GRUPO KAIRÓS · BUSINESS DESIGN · SPRINT 05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50" b="0">
                <a:solidFill>
                  <a:srgbClr val="9AA1AD"/>
                </a:solidFill>
                <a:latin typeface="Inter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2B705"/>
                </a:solidFill>
                <a:latin typeface="Sora"/>
              </a:rPr>
              <a:t>05  </a:t>
            </a:r>
            <a:r>
              <a:rPr sz="2300" b="1">
                <a:solidFill>
                  <a:srgbClr val="0B1220"/>
                </a:solidFill>
                <a:latin typeface="Sora"/>
              </a:rPr>
              <a:t>Onde o dinheiro é investido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B2435"/>
                </a:solidFill>
                <a:latin typeface="Inter"/>
              </a:rPr>
              <a:t>R$ 374,5 mil em cinco anos. Cada etapa só começa depois que a anterior provou o que precisava provar.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2057400"/>
            <a:ext cx="11521440" cy="329184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11479" y="2139696"/>
            <a:ext cx="868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Ano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139696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2B705"/>
                </a:solidFill>
                <a:latin typeface="Inter SemiBold"/>
              </a:rPr>
              <a:t>O que se compra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59" y="21396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Valor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139696"/>
            <a:ext cx="4892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2B705"/>
                </a:solidFill>
                <a:latin typeface="Inter SemiBold"/>
              </a:rPr>
              <a:t>Por quê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386584"/>
            <a:ext cx="11521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11479" y="2478024"/>
            <a:ext cx="86868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1B2435"/>
                </a:solidFill>
                <a:latin typeface="Inter"/>
              </a:rPr>
              <a:t>Ano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78024"/>
            <a:ext cx="3749039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B2435"/>
                </a:solidFill>
                <a:latin typeface="Inter"/>
              </a:rPr>
              <a:t>Constituição, marca, validação, protótipo, equipamentos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59" y="2478024"/>
            <a:ext cx="12801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1B2435"/>
                </a:solidFill>
                <a:latin typeface="Inter"/>
              </a:rPr>
              <a:t>R$ 51.500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478024"/>
            <a:ext cx="489204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B2435"/>
                </a:solidFill>
                <a:latin typeface="Inter"/>
              </a:rPr>
              <a:t>Colocar a operação de pé sem plataforma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862072"/>
            <a:ext cx="11521440" cy="475488"/>
          </a:xfrm>
          <a:prstGeom prst="rect">
            <a:avLst/>
          </a:prstGeom>
          <a:solidFill>
            <a:srgbClr val="FDF1CB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11479" y="2953512"/>
            <a:ext cx="86868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0B1220"/>
                </a:solidFill>
                <a:latin typeface="Inter SemiBold"/>
              </a:rPr>
              <a:t>Ano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953512"/>
            <a:ext cx="3749039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B1220"/>
                </a:solidFill>
                <a:latin typeface="Inter SemiBold"/>
              </a:rPr>
              <a:t>Plataforma v1 + integrações e APIs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59" y="2953512"/>
            <a:ext cx="12801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0B1220"/>
                </a:solidFill>
                <a:latin typeface="Inter SemiBold"/>
              </a:rPr>
              <a:t>R$ 116.000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953512"/>
            <a:ext cx="489204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B1220"/>
                </a:solidFill>
                <a:latin typeface="Inter SemiBold"/>
              </a:rPr>
              <a:t>Não gera receita — evita custo. Leva o concierge de 60 para 150 viagens/mês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337560"/>
            <a:ext cx="11521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11479" y="3429000"/>
            <a:ext cx="86868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1B2435"/>
                </a:solidFill>
                <a:latin typeface="Inter"/>
              </a:rPr>
              <a:t>Ano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429000"/>
            <a:ext cx="3749039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B2435"/>
                </a:solidFill>
                <a:latin typeface="Inter"/>
              </a:rPr>
              <a:t>Plataforma v2: automação de reembolso e conciliação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59" y="3429000"/>
            <a:ext cx="12801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1B2435"/>
                </a:solidFill>
                <a:latin typeface="Inter"/>
              </a:rPr>
              <a:t>R$ 70.000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429000"/>
            <a:ext cx="489204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B2435"/>
                </a:solidFill>
                <a:latin typeface="Inter"/>
              </a:rPr>
              <a:t>Sustenta a operação a 300 viagens mensais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813048"/>
            <a:ext cx="11521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11479" y="3904487"/>
            <a:ext cx="86868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1B2435"/>
                </a:solidFill>
                <a:latin typeface="Inter"/>
              </a:rPr>
              <a:t>Ano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904487"/>
            <a:ext cx="3749039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B2435"/>
                </a:solidFill>
                <a:latin typeface="Inter"/>
              </a:rPr>
              <a:t>Aplicativo móvel + evolução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59" y="3904487"/>
            <a:ext cx="12801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1B2435"/>
                </a:solidFill>
                <a:latin typeface="Inter"/>
              </a:rPr>
              <a:t>R$ 72.000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904487"/>
            <a:ext cx="489204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B2435"/>
                </a:solidFill>
                <a:latin typeface="Inter"/>
              </a:rPr>
              <a:t>Base de 1.170 alunos ativos exige autoatendimento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288536"/>
            <a:ext cx="11521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11479" y="4379975"/>
            <a:ext cx="86868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1B2435"/>
                </a:solidFill>
                <a:latin typeface="Inter"/>
              </a:rPr>
              <a:t>Ano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379975"/>
            <a:ext cx="3749039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B2435"/>
                </a:solidFill>
                <a:latin typeface="Inter"/>
              </a:rPr>
              <a:t>Evolução + inteligência de dados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59" y="4379975"/>
            <a:ext cx="12801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1B2435"/>
                </a:solidFill>
                <a:latin typeface="Inter"/>
              </a:rPr>
              <a:t>R$ 65.000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379975"/>
            <a:ext cx="489204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B2435"/>
                </a:solidFill>
                <a:latin typeface="Inter"/>
              </a:rPr>
              <a:t>Otimização de compra e previsão de demanda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" y="4983480"/>
            <a:ext cx="11521440" cy="960120"/>
          </a:xfrm>
          <a:prstGeom prst="roundRect">
            <a:avLst>
              <a:gd name="adj" fmla="val 5000"/>
            </a:avLst>
          </a:prstGeom>
          <a:solidFill>
            <a:srgbClr val="FDF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94360" y="517550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B1220"/>
                </a:solidFill>
                <a:latin typeface="Sora"/>
              </a:rPr>
              <a:t>O investimento do ano 2 é o mais importante dos cinco. Ele não traz receita nova — ele impede que a folha cresça junto com o volume.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spc="60">
                <a:solidFill>
                  <a:srgbClr val="9AA1AD"/>
                </a:solidFill>
                <a:latin typeface="Inter"/>
              </a:rPr>
              <a:t>GRUPO KAIRÓS · BUSINESS DESIGN · SPRINT 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50" b="0">
                <a:solidFill>
                  <a:srgbClr val="9AA1AD"/>
                </a:solidFill>
                <a:latin typeface="Inter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2B705"/>
                </a:solidFill>
                <a:latin typeface="Sora"/>
              </a:rPr>
              <a:t>06  </a:t>
            </a:r>
            <a:r>
              <a:rPr sz="2300" b="1">
                <a:solidFill>
                  <a:srgbClr val="0B1220"/>
                </a:solidFill>
                <a:latin typeface="Sora"/>
              </a:rPr>
              <a:t>Como o mercado vai nos descobrir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B2435"/>
                </a:solidFill>
                <a:latin typeface="Inter"/>
              </a:rPr>
              <a:t>O canal é a escola, não a mídia. Uma venda institucional destrava dezenas de alunos.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2057400"/>
            <a:ext cx="3749039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2295144"/>
            <a:ext cx="33832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2B705"/>
                </a:solidFill>
                <a:latin typeface="Sora"/>
              </a:rPr>
              <a:t>R$ 45 mil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17520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Lançamento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47288"/>
            <a:ext cx="33832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Materiais institucionais, vídeo de demonstração, evento com as coordenações e assessoria.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4528" y="2057400"/>
            <a:ext cx="3749039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407408" y="2295144"/>
            <a:ext cx="33832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2B705"/>
                </a:solidFill>
                <a:latin typeface="Sora"/>
              </a:rPr>
              <a:t>R$ 786 mil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3017520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Aquisição em 5 anos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3447288"/>
            <a:ext cx="33832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Prospecção presencial, eventos do setor, material de matrícula e mídia digital complementar.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2057400"/>
            <a:ext cx="3749039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02752" y="2295144"/>
            <a:ext cx="33832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2B705"/>
                </a:solidFill>
                <a:latin typeface="Sora"/>
              </a:rPr>
              <a:t>R$ 47 mil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3017520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Retenção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447288"/>
            <a:ext cx="33832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CRM e Customer Success a partir do ano 4, quando a base passa de mil alunos.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160520"/>
            <a:ext cx="11521440" cy="329184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11479" y="4242816"/>
            <a:ext cx="402335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2B705"/>
                </a:solidFill>
                <a:latin typeface="Inter SemiBold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19" y="424281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Ano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59" y="424281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Ano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799" y="424281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Ano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39" y="424281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Ano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79" y="424281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Ano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489704"/>
            <a:ext cx="11521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11479" y="4581144"/>
            <a:ext cx="4023359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Despesa comercial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19" y="4581144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R$ 87.000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59" y="4581144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R$ 88.800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799" y="4581144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R$ 152.400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39" y="4581144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R$ 231.600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69879" y="4581144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R$ 318.000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873752"/>
            <a:ext cx="11521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11479" y="4965192"/>
            <a:ext cx="4023359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Alunos novos no ano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19" y="4965192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59" y="4965192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180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799" y="4965192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370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39" y="4965192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520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69879" y="4965192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585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257800"/>
            <a:ext cx="11521440" cy="384048"/>
          </a:xfrm>
          <a:prstGeom prst="rect">
            <a:avLst/>
          </a:prstGeom>
          <a:solidFill>
            <a:srgbClr val="FDF1CB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11479" y="5349240"/>
            <a:ext cx="4023359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0B1220"/>
                </a:solidFill>
                <a:latin typeface="Inter SemiBold"/>
              </a:rPr>
              <a:t>Custo por aluno captado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19" y="5349240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B1220"/>
                </a:solidFill>
                <a:latin typeface="Inter SemiBold"/>
              </a:rPr>
              <a:t>R$ 870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59" y="5349240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B1220"/>
                </a:solidFill>
                <a:latin typeface="Inter SemiBold"/>
              </a:rPr>
              <a:t>R$ 493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43799" y="5349240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B1220"/>
                </a:solidFill>
                <a:latin typeface="Inter SemiBold"/>
              </a:rPr>
              <a:t>R$ 412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39" y="5349240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B1220"/>
                </a:solidFill>
                <a:latin typeface="Inter SemiBold"/>
              </a:rPr>
              <a:t>R$ 445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69879" y="5349240"/>
            <a:ext cx="12801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B1220"/>
                </a:solidFill>
                <a:latin typeface="Inter SemiBold"/>
              </a:rPr>
              <a:t>R$ 544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6309360"/>
            <a:ext cx="11521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Cada aluno captado gera cerca de R$ 2.940 de receita ao longo dos 12 módulos — de 3,4 a 7,1 vezes o custo de captá-lo.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spc="60">
                <a:solidFill>
                  <a:srgbClr val="9AA1AD"/>
                </a:solidFill>
                <a:latin typeface="Inter"/>
              </a:rPr>
              <a:t>GRUPO KAIRÓS · BUSINESS DESIGN · SPRINT 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50" b="0">
                <a:solidFill>
                  <a:srgbClr val="9AA1AD"/>
                </a:solidFill>
                <a:latin typeface="Inter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2B705"/>
                </a:solidFill>
                <a:latin typeface="Sora"/>
              </a:rPr>
              <a:t>07  </a:t>
            </a:r>
            <a:r>
              <a:rPr sz="2300" b="1">
                <a:solidFill>
                  <a:srgbClr val="0B1220"/>
                </a:solidFill>
                <a:latin typeface="Sora"/>
              </a:rPr>
              <a:t>Demonstração de Fluxos de Caixa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B2435"/>
                </a:solidFill>
                <a:latin typeface="Inter"/>
              </a:rPr>
              <a:t>Cinco anos, cenário Moderado. Valores em reais.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920240"/>
            <a:ext cx="11521440" cy="292608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11479" y="2002536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2B705"/>
                </a:solidFill>
                <a:latin typeface="Inter SemiBold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59" y="2002536"/>
            <a:ext cx="11155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Ano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93207" y="2002536"/>
            <a:ext cx="11155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Ano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91655" y="2002536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Ano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7" y="200253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Ano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08007" y="200253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Ano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71047" y="2002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Total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212848"/>
            <a:ext cx="11521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11479" y="2304288"/>
            <a:ext cx="32004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1B2435"/>
                </a:solidFill>
                <a:latin typeface="Inter"/>
              </a:rPr>
              <a:t>RECEITA BRUTA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59" y="2304288"/>
            <a:ext cx="1115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B2435"/>
                </a:solidFill>
                <a:latin typeface="Inter"/>
              </a:rPr>
              <a:t>88.560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3207" y="2304288"/>
            <a:ext cx="1115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B2435"/>
                </a:solidFill>
                <a:latin typeface="Inter"/>
              </a:rPr>
              <a:t>340.632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5" y="2304288"/>
            <a:ext cx="117043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B2435"/>
                </a:solidFill>
                <a:latin typeface="Inter"/>
              </a:rPr>
              <a:t>876.031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7" y="2304288"/>
            <a:ext cx="128016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B2435"/>
                </a:solidFill>
                <a:latin typeface="Inter"/>
              </a:rPr>
              <a:t>1.776.730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8007" y="2304288"/>
            <a:ext cx="128016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B2435"/>
                </a:solidFill>
                <a:latin typeface="Inter"/>
              </a:rPr>
              <a:t>2.955.380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71047" y="2304288"/>
            <a:ext cx="107899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B2435"/>
                </a:solidFill>
                <a:latin typeface="Inter"/>
              </a:rPr>
              <a:t>6.037.332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542032"/>
            <a:ext cx="11521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11479" y="2633472"/>
            <a:ext cx="32004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1B2435"/>
                </a:solidFill>
                <a:latin typeface="Inter"/>
              </a:rPr>
              <a:t>(−) Impostos sobre a receita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59" y="2633472"/>
            <a:ext cx="1115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−5.314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7" y="2633472"/>
            <a:ext cx="1115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−30.657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5" y="2633472"/>
            <a:ext cx="117043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−105.124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4967" y="2633472"/>
            <a:ext cx="128016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−248.742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7" y="2633472"/>
            <a:ext cx="128016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−458.084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71047" y="2633472"/>
            <a:ext cx="107899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−847.920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871215"/>
            <a:ext cx="11521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11479" y="2962656"/>
            <a:ext cx="32004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1B2435"/>
                </a:solidFill>
                <a:latin typeface="Inter"/>
              </a:rPr>
              <a:t>(−) Custos variáveis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59" y="2962656"/>
            <a:ext cx="1115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−8.719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93207" y="2962656"/>
            <a:ext cx="1115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−32.211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5" y="2962656"/>
            <a:ext cx="117043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−81.281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44967" y="2962656"/>
            <a:ext cx="128016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−163.481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08007" y="2962656"/>
            <a:ext cx="128016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−268.516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71047" y="2962656"/>
            <a:ext cx="107899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−554.208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200399"/>
            <a:ext cx="11521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11479" y="3291839"/>
            <a:ext cx="32004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B1220"/>
                </a:solidFill>
                <a:latin typeface="Inter SemiBold"/>
              </a:rPr>
              <a:t>(=) MARGEM DE CONTRIBUIÇÃO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59" y="3291839"/>
            <a:ext cx="1115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B1220"/>
                </a:solidFill>
                <a:latin typeface="Inter SemiBold"/>
              </a:rPr>
              <a:t>79.841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93207" y="3291839"/>
            <a:ext cx="1115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B1220"/>
                </a:solidFill>
                <a:latin typeface="Inter SemiBold"/>
              </a:rPr>
              <a:t>308.421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91655" y="3291839"/>
            <a:ext cx="117043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B1220"/>
                </a:solidFill>
                <a:latin typeface="Inter SemiBold"/>
              </a:rPr>
              <a:t>794.751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44967" y="3291839"/>
            <a:ext cx="128016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B1220"/>
                </a:solidFill>
                <a:latin typeface="Inter SemiBold"/>
              </a:rPr>
              <a:t>1.613.248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08007" y="3291839"/>
            <a:ext cx="128016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B1220"/>
                </a:solidFill>
                <a:latin typeface="Inter SemiBold"/>
              </a:rPr>
              <a:t>2.686.864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71047" y="3291839"/>
            <a:ext cx="107899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B1220"/>
                </a:solidFill>
                <a:latin typeface="Inter SemiBold"/>
              </a:rPr>
              <a:t>5.483.125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3529583"/>
            <a:ext cx="11521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11479" y="3621023"/>
            <a:ext cx="32004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1B2435"/>
                </a:solidFill>
                <a:latin typeface="Inter"/>
              </a:rPr>
              <a:t>(−) Custos fixos de operação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94759" y="3621023"/>
            <a:ext cx="1115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−7.200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93207" y="3621023"/>
            <a:ext cx="1115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−93.600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91655" y="3621023"/>
            <a:ext cx="117043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−271.200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44967" y="3621023"/>
            <a:ext cx="128016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−628.200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08007" y="3621023"/>
            <a:ext cx="128016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−1.035.600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71047" y="3621023"/>
            <a:ext cx="107899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−2.035.800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3858768"/>
            <a:ext cx="11521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11479" y="3950207"/>
            <a:ext cx="32004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1B2435"/>
                </a:solidFill>
                <a:latin typeface="Inter"/>
              </a:rPr>
              <a:t>(−) Despesas administrativas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94759" y="3950207"/>
            <a:ext cx="1115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−49.200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93207" y="3950207"/>
            <a:ext cx="1115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−192.000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91655" y="3950207"/>
            <a:ext cx="117043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−325.200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44967" y="3950207"/>
            <a:ext cx="128016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−442.800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08007" y="3950207"/>
            <a:ext cx="128016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−566.400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71047" y="3950207"/>
            <a:ext cx="107899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−1.575.600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4187952"/>
            <a:ext cx="11521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411479" y="4279392"/>
            <a:ext cx="32004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1B2435"/>
                </a:solidFill>
                <a:latin typeface="Inter"/>
              </a:rPr>
              <a:t>(−) Despesas comerciais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94759" y="4279392"/>
            <a:ext cx="1115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−87.000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93207" y="4279392"/>
            <a:ext cx="1115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−88.800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91655" y="4279392"/>
            <a:ext cx="117043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−152.400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44967" y="4279392"/>
            <a:ext cx="128016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−231.600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08007" y="4279392"/>
            <a:ext cx="128016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−318.000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71047" y="4279392"/>
            <a:ext cx="107899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−877.800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4517136"/>
            <a:ext cx="11521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411479" y="4608576"/>
            <a:ext cx="32004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B1220"/>
                </a:solidFill>
                <a:latin typeface="Inter SemiBold"/>
              </a:rPr>
              <a:t>(=) EBITDA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94759" y="4608576"/>
            <a:ext cx="1115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B85042"/>
                </a:solidFill>
                <a:latin typeface="Inter SemiBold"/>
              </a:rPr>
              <a:t>−68.873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93207" y="4608576"/>
            <a:ext cx="1115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B85042"/>
                </a:solidFill>
                <a:latin typeface="Inter SemiBold"/>
              </a:rPr>
              <a:t>−96.636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91655" y="4608576"/>
            <a:ext cx="117043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B85042"/>
                </a:solidFill>
                <a:latin typeface="Inter SemiBold"/>
              </a:rPr>
              <a:t>−59.173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44967" y="4608576"/>
            <a:ext cx="128016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B1220"/>
                </a:solidFill>
                <a:latin typeface="Inter SemiBold"/>
              </a:rPr>
              <a:t>61.906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08007" y="4608576"/>
            <a:ext cx="128016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B1220"/>
                </a:solidFill>
                <a:latin typeface="Inter SemiBold"/>
              </a:rPr>
              <a:t>308.780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71047" y="4608576"/>
            <a:ext cx="107899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B1220"/>
                </a:solidFill>
                <a:latin typeface="Inter SemiBold"/>
              </a:rPr>
              <a:t>146.004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4846320"/>
            <a:ext cx="11521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11479" y="4937760"/>
            <a:ext cx="32004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1B2435"/>
                </a:solidFill>
                <a:latin typeface="Inter"/>
              </a:rPr>
              <a:t>(−) Investimentos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94759" y="4937760"/>
            <a:ext cx="1115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−51.500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93207" y="4937760"/>
            <a:ext cx="1115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−116.000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91655" y="4937760"/>
            <a:ext cx="117043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−70.000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44967" y="4937760"/>
            <a:ext cx="128016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−72.000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208007" y="4937760"/>
            <a:ext cx="128016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−65.000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671047" y="4937760"/>
            <a:ext cx="107899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B85042"/>
                </a:solidFill>
                <a:latin typeface="Inter"/>
              </a:rPr>
              <a:t>−374.500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20040" y="5175504"/>
            <a:ext cx="11521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411479" y="5266944"/>
            <a:ext cx="32004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B1220"/>
                </a:solidFill>
                <a:latin typeface="Inter SemiBold"/>
              </a:rPr>
              <a:t>(=) FLUXO DE CAIXA LIVRE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794759" y="5266944"/>
            <a:ext cx="1115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B85042"/>
                </a:solidFill>
                <a:latin typeface="Inter SemiBold"/>
              </a:rPr>
              <a:t>−120.373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93207" y="5266944"/>
            <a:ext cx="1115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B85042"/>
                </a:solidFill>
                <a:latin typeface="Inter SemiBold"/>
              </a:rPr>
              <a:t>−212.636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91655" y="5266944"/>
            <a:ext cx="117043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B85042"/>
                </a:solidFill>
                <a:latin typeface="Inter SemiBold"/>
              </a:rPr>
              <a:t>−129.173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44967" y="5266944"/>
            <a:ext cx="128016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B85042"/>
                </a:solidFill>
                <a:latin typeface="Inter SemiBold"/>
              </a:rPr>
              <a:t>−10.094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208007" y="5266944"/>
            <a:ext cx="128016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B1220"/>
                </a:solidFill>
                <a:latin typeface="Inter SemiBold"/>
              </a:rPr>
              <a:t>243.780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671047" y="5266944"/>
            <a:ext cx="107899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B85042"/>
                </a:solidFill>
                <a:latin typeface="Inter SemiBold"/>
              </a:rPr>
              <a:t>−228.496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20040" y="5504688"/>
            <a:ext cx="11521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411479" y="5596128"/>
            <a:ext cx="32004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B1220"/>
                </a:solidFill>
                <a:latin typeface="Inter SemiBold"/>
              </a:rPr>
              <a:t>FC ACUMULADO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794759" y="5596128"/>
            <a:ext cx="1115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B85042"/>
                </a:solidFill>
                <a:latin typeface="Inter SemiBold"/>
              </a:rPr>
              <a:t>−120.373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93207" y="5596128"/>
            <a:ext cx="1115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B85042"/>
                </a:solidFill>
                <a:latin typeface="Inter SemiBold"/>
              </a:rPr>
              <a:t>−333.008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91655" y="5596128"/>
            <a:ext cx="117043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B85042"/>
                </a:solidFill>
                <a:latin typeface="Inter SemiBold"/>
              </a:rPr>
              <a:t>−462.181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744967" y="5596128"/>
            <a:ext cx="128016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B85042"/>
                </a:solidFill>
                <a:latin typeface="Inter SemiBold"/>
              </a:rPr>
              <a:t>−472.275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208007" y="5596128"/>
            <a:ext cx="128016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B85042"/>
                </a:solidFill>
                <a:latin typeface="Inter SemiBold"/>
              </a:rPr>
              <a:t>−228.496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671047" y="5596128"/>
            <a:ext cx="107899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B1220"/>
                </a:solidFill>
                <a:latin typeface="Inter SemiBold"/>
              </a:rPr>
              <a:t/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20040" y="5961888"/>
            <a:ext cx="11521440" cy="411480"/>
          </a:xfrm>
          <a:prstGeom prst="roundRect">
            <a:avLst>
              <a:gd name="adj" fmla="val 6000"/>
            </a:avLst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548640" y="606247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8F0"/>
                </a:solidFill>
                <a:latin typeface="Inter"/>
              </a:rPr>
              <a:t>Margem EBITDA: −77,8% · −28,4% · −6,8% · +3,5% · +10,4%   —   o negócio vira no ano 4.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spc="60">
                <a:solidFill>
                  <a:srgbClr val="9AA1AD"/>
                </a:solidFill>
                <a:latin typeface="Inter"/>
              </a:rPr>
              <a:t>GRUPO KAIRÓS · BUSINESS DESIGN · SPRINT 05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50" b="0">
                <a:solidFill>
                  <a:srgbClr val="9AA1AD"/>
                </a:solidFill>
                <a:latin typeface="Inter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2B705"/>
                </a:solidFill>
                <a:latin typeface="Sora"/>
              </a:rPr>
              <a:t>08  </a:t>
            </a:r>
            <a:r>
              <a:rPr sz="2300" b="1">
                <a:solidFill>
                  <a:srgbClr val="0B1220"/>
                </a:solidFill>
                <a:latin typeface="Sora"/>
              </a:rPr>
              <a:t>O ano 1, mês a mês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B2435"/>
                </a:solidFill>
                <a:latin typeface="Inter"/>
              </a:rPr>
              <a:t>O piloto detalhado. Três coisas se leem nesta curva.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520086"/>
            <a:ext cx="10881360" cy="18288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22960" y="2520086"/>
            <a:ext cx="530352" cy="2004827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13232" y="4616353"/>
            <a:ext cx="7498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B85042"/>
                </a:solidFill>
                <a:latin typeface="Inter"/>
              </a:rPr>
              <a:t>−18.564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864608"/>
            <a:ext cx="7498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Inter"/>
              </a:rPr>
              <a:t>M1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9072" y="2520086"/>
            <a:ext cx="530352" cy="1978044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609343" y="4589571"/>
            <a:ext cx="7498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B85042"/>
                </a:solidFill>
                <a:latin typeface="Inter"/>
              </a:rPr>
              <a:t>−18.316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343" y="4864608"/>
            <a:ext cx="7498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Inter"/>
              </a:rPr>
              <a:t>M2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15184" y="2520086"/>
            <a:ext cx="530352" cy="1951153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505456" y="4562680"/>
            <a:ext cx="7498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B85042"/>
                </a:solidFill>
                <a:latin typeface="Inter"/>
              </a:rPr>
              <a:t>−18.067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5456" y="4864608"/>
            <a:ext cx="7498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Inter"/>
              </a:rPr>
              <a:t>M3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11296" y="2520086"/>
            <a:ext cx="530352" cy="143417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401568" y="2754944"/>
            <a:ext cx="7498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B85042"/>
                </a:solidFill>
                <a:latin typeface="Inter"/>
              </a:rPr>
              <a:t>−1.328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4864608"/>
            <a:ext cx="7498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Inter"/>
              </a:rPr>
              <a:t>M4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07408" y="2520086"/>
            <a:ext cx="530352" cy="89852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297680" y="2701378"/>
            <a:ext cx="7498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B85042"/>
                </a:solidFill>
                <a:latin typeface="Inter"/>
              </a:rPr>
              <a:t>−832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864608"/>
            <a:ext cx="7498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Inter"/>
              </a:rPr>
              <a:t>M5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0" y="2520086"/>
            <a:ext cx="530352" cy="36178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193792" y="2647704"/>
            <a:ext cx="7498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B85042"/>
                </a:solidFill>
                <a:latin typeface="Inter"/>
              </a:rPr>
              <a:t>−335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4864608"/>
            <a:ext cx="7498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Inter"/>
              </a:rPr>
              <a:t>M6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2" y="2520086"/>
            <a:ext cx="530352" cy="420426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089904" y="3031952"/>
            <a:ext cx="7498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B85042"/>
                </a:solidFill>
                <a:latin typeface="Inter"/>
              </a:rPr>
              <a:t>−3.893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9904" y="4864608"/>
            <a:ext cx="7498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Inter"/>
              </a:rPr>
              <a:t>M7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95744" y="2520086"/>
            <a:ext cx="530352" cy="339861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986016" y="2951388"/>
            <a:ext cx="7498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B85042"/>
                </a:solidFill>
                <a:latin typeface="Inter"/>
              </a:rPr>
              <a:t>−3.147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864608"/>
            <a:ext cx="7498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Inter"/>
              </a:rPr>
              <a:t>M8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91856" y="2520086"/>
            <a:ext cx="530352" cy="259405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882128" y="2870931"/>
            <a:ext cx="7498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B85042"/>
                </a:solidFill>
                <a:latin typeface="Inter"/>
              </a:rPr>
              <a:t>−2.402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8" y="4864608"/>
            <a:ext cx="7498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Inter"/>
              </a:rPr>
              <a:t>M9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87968" y="2520086"/>
            <a:ext cx="530352" cy="178948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778240" y="2790474"/>
            <a:ext cx="7498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B85042"/>
                </a:solidFill>
                <a:latin typeface="Inter"/>
              </a:rPr>
              <a:t>−1.657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4864608"/>
            <a:ext cx="7498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Inter"/>
              </a:rPr>
              <a:t>M10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84080" y="2520086"/>
            <a:ext cx="530352" cy="71600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674352" y="2683127"/>
            <a:ext cx="7498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B85042"/>
                </a:solidFill>
                <a:latin typeface="Inter"/>
              </a:rPr>
              <a:t>−663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74352" y="4864608"/>
            <a:ext cx="7498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Inter"/>
              </a:rPr>
              <a:t>M11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80192" y="2465222"/>
            <a:ext cx="530352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570464" y="2228307"/>
            <a:ext cx="7498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0B1220"/>
                </a:solidFill>
                <a:latin typeface="Inter"/>
              </a:rPr>
              <a:t>331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70464" y="4864608"/>
            <a:ext cx="7498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Inter"/>
              </a:rPr>
              <a:t>M12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1993392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spc="120">
                <a:solidFill>
                  <a:srgbClr val="F2B705"/>
                </a:solidFill>
                <a:latin typeface="Inter SemiBold"/>
              </a:rPr>
              <a:t>EBITDA MENSAL — ANO 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0040" y="5074920"/>
            <a:ext cx="3749039" cy="1188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02920" y="5202936"/>
            <a:ext cx="33832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2B705"/>
                </a:solidFill>
                <a:latin typeface="Sora"/>
              </a:rPr>
              <a:t>M1–M3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605272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220"/>
                </a:solidFill>
                <a:latin typeface="Inter SemiBold"/>
              </a:rPr>
              <a:t>O lançamento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879592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1B2435"/>
                </a:solidFill>
                <a:latin typeface="Inter"/>
              </a:rPr>
              <a:t>R$ 18.500 por mês em despesa comercial, contra R$ 3.500 nos meses seguintes.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24528" y="5074920"/>
            <a:ext cx="3749039" cy="1188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407408" y="5202936"/>
            <a:ext cx="33832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2B705"/>
                </a:solidFill>
                <a:latin typeface="Sora"/>
              </a:rPr>
              <a:t>M7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07408" y="5605272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220"/>
                </a:solidFill>
                <a:latin typeface="Inter SemiBold"/>
              </a:rPr>
              <a:t>Entra o pró-labore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07408" y="5879592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1B2435"/>
                </a:solidFill>
                <a:latin typeface="Inter"/>
              </a:rPr>
              <a:t>Os dois sócios executivos passam seis meses sem retirada.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2" y="5074920"/>
            <a:ext cx="3749039" cy="1188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302752" y="5202936"/>
            <a:ext cx="33832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2B705"/>
                </a:solidFill>
                <a:latin typeface="Sora"/>
              </a:rPr>
              <a:t>M12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02752" y="5605272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220"/>
                </a:solidFill>
                <a:latin typeface="Inter SemiBold"/>
              </a:rPr>
              <a:t>EBITDA vira positivo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02752" y="5879592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1B2435"/>
                </a:solidFill>
                <a:latin typeface="Inter"/>
              </a:rPr>
              <a:t>R$ 331. Simbólico em valor, mas é quando a operação passa a se pagar.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spc="60">
                <a:solidFill>
                  <a:srgbClr val="9AA1AD"/>
                </a:solidFill>
                <a:latin typeface="Inter"/>
              </a:rPr>
              <a:t>GRUPO KAIRÓS · BUSINESS DESIGN · SPRINT 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50" b="0">
                <a:solidFill>
                  <a:srgbClr val="9AA1AD"/>
                </a:solidFill>
                <a:latin typeface="Inter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2B705"/>
                </a:solidFill>
                <a:latin typeface="Sora"/>
              </a:rPr>
              <a:t>09  </a:t>
            </a:r>
            <a:r>
              <a:rPr sz="2300" b="1">
                <a:solidFill>
                  <a:srgbClr val="0B1220"/>
                </a:solidFill>
                <a:latin typeface="Sora"/>
              </a:rPr>
              <a:t>Quanto pedimos e para quê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B2435"/>
                </a:solidFill>
                <a:latin typeface="Inter"/>
              </a:rPr>
              <a:t>R$ 560 mil para atravessar da validação ao ponto de equilíbrio, liberados em três tranches.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2011680"/>
            <a:ext cx="11521440" cy="329184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11479" y="2093976"/>
            <a:ext cx="21488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2B705"/>
                </a:solidFill>
                <a:latin typeface="Inter SemiBold"/>
              </a:rPr>
              <a:t>Tranche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093976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Valor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2093976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Momento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209397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2B705"/>
                </a:solidFill>
                <a:latin typeface="Inter SemiBold"/>
              </a:rPr>
              <a:t>O que destrava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340864"/>
            <a:ext cx="115214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11479" y="2432304"/>
            <a:ext cx="2148839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1ª — Piloto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432304"/>
            <a:ext cx="123444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R$ 175 mil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432304"/>
            <a:ext cx="118872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Ano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2432304"/>
            <a:ext cx="621792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Constituição, MVP, lançamento e custeio de 100 alunos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761488"/>
            <a:ext cx="115214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11479" y="2852928"/>
            <a:ext cx="2148839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2ª — Plataforma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852928"/>
            <a:ext cx="123444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R$ 230 mil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852928"/>
            <a:ext cx="118872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Ano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2852928"/>
            <a:ext cx="621792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Automação que leva o concierge de 60 para 150 viagens/mês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182112"/>
            <a:ext cx="115214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11479" y="3273552"/>
            <a:ext cx="2148839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3ª — Escala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273552"/>
            <a:ext cx="123444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R$ 155 mil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3273552"/>
            <a:ext cx="118872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Anos 3–4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3273552"/>
            <a:ext cx="621792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Integrações, equipe e expansão para São Paulo e 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566160"/>
            <a:ext cx="11521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Liberação condicionada aos critérios de validação de cada etapa: se o piloto não provar o que precisa, a perda fica em R$ 175 mil, não em R$ 560 mil.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3977639"/>
            <a:ext cx="2761488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02920" y="4215383"/>
            <a:ext cx="23957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2B705"/>
                </a:solidFill>
                <a:latin typeface="Sora"/>
              </a:rPr>
              <a:t>R$ 374,5 mil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937759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Investimento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367527"/>
            <a:ext cx="23957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Plataforma, integrações, app, equipamentos, constituição e marca.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46120" y="3977639"/>
            <a:ext cx="2761488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429000" y="4215383"/>
            <a:ext cx="23957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2B705"/>
                </a:solidFill>
                <a:latin typeface="Sora"/>
              </a:rPr>
              <a:t>R$ 224,7 mil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4937759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Prejuízo operacional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5367527"/>
            <a:ext cx="23957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O custeio dos anos 1 a 3, enquanto a operação não se paga.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1344" y="3977639"/>
            <a:ext cx="2761488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364224" y="4215383"/>
            <a:ext cx="23957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D6A4F"/>
                </a:solidFill>
                <a:latin typeface="Sora"/>
              </a:rPr>
              <a:t>Ano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4224" y="4937759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EBITDA positivo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4224" y="5367527"/>
            <a:ext cx="23957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A operação passa a se pagar, com margem de 3,5%.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07424" y="3977639"/>
            <a:ext cx="2761488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290304" y="4215383"/>
            <a:ext cx="23957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D6A4F"/>
                </a:solidFill>
                <a:latin typeface="Sora"/>
              </a:rPr>
              <a:t>Ano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0304" y="4937759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Caixa acumulado positivo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0304" y="5367527"/>
            <a:ext cx="23957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O investidor recupera o capital aplicado.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spc="60">
                <a:solidFill>
                  <a:srgbClr val="9AA1AD"/>
                </a:solidFill>
                <a:latin typeface="Inter"/>
              </a:rPr>
              <a:t>GRUPO KAIRÓS · BUSINESS DESIGN · SPRINT 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50" b="0">
                <a:solidFill>
                  <a:srgbClr val="9AA1AD"/>
                </a:solidFill>
                <a:latin typeface="Inter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2B705"/>
                </a:solidFill>
                <a:latin typeface="Sora"/>
              </a:rPr>
              <a:t>10  </a:t>
            </a:r>
            <a:r>
              <a:rPr sz="2300" b="1">
                <a:solidFill>
                  <a:srgbClr val="FFFFFF"/>
                </a:solidFill>
                <a:latin typeface="Sora"/>
              </a:rPr>
              <a:t>O cenário que vamos defender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23444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6E8F0"/>
                </a:solidFill>
                <a:latin typeface="Inter"/>
              </a:rPr>
              <a:t>Dos três cenários que modelamos, adotamos 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00200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2B705"/>
                </a:solidFill>
                <a:latin typeface="Sora"/>
              </a:rPr>
              <a:t>MODERADO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2423160"/>
            <a:ext cx="10149840" cy="329184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554480" y="2505456"/>
            <a:ext cx="19202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2B705"/>
                </a:solidFill>
                <a:latin typeface="Inter SemiBold"/>
              </a:rPr>
              <a:t>Cenário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5054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Alunos no ano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79" y="2505456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Receita 5 anos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19" y="2505456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EBITDA 5 anos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59" y="2505456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2B705"/>
                </a:solidFill>
                <a:latin typeface="Inter SemiBold"/>
              </a:rPr>
              <a:t>Capital necessário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2752344"/>
            <a:ext cx="101498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554480" y="2843784"/>
            <a:ext cx="192023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Conservador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84378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800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79" y="2843784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R$ 2,47 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2843784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B85042"/>
                </a:solidFill>
                <a:latin typeface="Inter"/>
              </a:rPr>
              <a:t>−R$ 2,82 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59" y="2843784"/>
            <a:ext cx="201167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R$ 3,20 mi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3118103"/>
            <a:ext cx="10149840" cy="365760"/>
          </a:xfrm>
          <a:prstGeom prst="rect">
            <a:avLst/>
          </a:prstGeom>
          <a:solidFill>
            <a:srgbClr val="FDF1CB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554480" y="3209544"/>
            <a:ext cx="192023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0B1220"/>
                </a:solidFill>
                <a:latin typeface="Inter SemiBold"/>
              </a:rPr>
              <a:t>Moderado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20954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B1220"/>
                </a:solidFill>
                <a:latin typeface="Inter SemiBold"/>
              </a:rPr>
              <a:t>1.755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79" y="3209544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B1220"/>
                </a:solidFill>
                <a:latin typeface="Inter SemiBold"/>
              </a:rPr>
              <a:t>R$ 6,04 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3209544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B1220"/>
                </a:solidFill>
                <a:latin typeface="Inter SemiBold"/>
              </a:rPr>
              <a:t>+R$ 146 mil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59" y="3209544"/>
            <a:ext cx="201167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B1220"/>
                </a:solidFill>
                <a:latin typeface="Inter SemiBold"/>
              </a:rPr>
              <a:t>R$ 559 mil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63040" y="3483863"/>
            <a:ext cx="101498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554480" y="3575303"/>
            <a:ext cx="192023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Otimista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575303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3.300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79" y="3575303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R$ 9,17 mi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19" y="3575303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+R$ 2,30 mi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59" y="3575303"/>
            <a:ext cx="201167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R$ 248 mil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3977639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0">
                <a:solidFill>
                  <a:srgbClr val="E6E8F0"/>
                </a:solidFill>
                <a:latin typeface="Inter"/>
              </a:rPr>
              <a:t>O conservador não se paga em horizonte nenhum e pediria R$ 3,2 milhões — pedir mais para entregar menos não se defende. O otimista seria 31% do mercado onde atuamos: possível, mas assumi-lo como base transforma a projeção em torcida.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4754880"/>
            <a:ext cx="2761488" cy="1051560"/>
          </a:xfrm>
          <a:prstGeom prst="roundRect">
            <a:avLst>
              <a:gd name="adj" fmla="val 6000"/>
            </a:avLst>
          </a:prstGeom>
          <a:solidFill>
            <a:srgbClr val="1B2435"/>
          </a:solidFill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02920" y="4919472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F2B705"/>
                </a:solidFill>
                <a:latin typeface="Sora"/>
              </a:rPr>
              <a:t>R$ 6,04 mi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4132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E6E8F0"/>
                </a:solidFill>
                <a:latin typeface="Inter"/>
              </a:rPr>
              <a:t>receita em 5 anos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46120" y="4754880"/>
            <a:ext cx="2761488" cy="1051560"/>
          </a:xfrm>
          <a:prstGeom prst="roundRect">
            <a:avLst>
              <a:gd name="adj" fmla="val 6000"/>
            </a:avLst>
          </a:prstGeom>
          <a:solidFill>
            <a:srgbClr val="1B2435"/>
          </a:solidFill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429000" y="4919472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F2B705"/>
                </a:solidFill>
                <a:latin typeface="Sora"/>
              </a:rPr>
              <a:t>R$ 39,5 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54132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E6E8F0"/>
                </a:solidFill>
                <a:latin typeface="Inter"/>
              </a:rPr>
              <a:t>GMV transacionado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81344" y="4754880"/>
            <a:ext cx="2761488" cy="1051560"/>
          </a:xfrm>
          <a:prstGeom prst="roundRect">
            <a:avLst>
              <a:gd name="adj" fmla="val 6000"/>
            </a:avLst>
          </a:prstGeom>
          <a:solidFill>
            <a:srgbClr val="1B2435"/>
          </a:solidFill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364224" y="4919472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F2B705"/>
                </a:solidFill>
                <a:latin typeface="Sora"/>
              </a:rPr>
              <a:t>Ano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4224" y="54132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E6E8F0"/>
                </a:solidFill>
                <a:latin typeface="Inter"/>
              </a:rPr>
              <a:t>EBITDA positivo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07424" y="4754880"/>
            <a:ext cx="2761488" cy="1051560"/>
          </a:xfrm>
          <a:prstGeom prst="roundRect">
            <a:avLst>
              <a:gd name="adj" fmla="val 6000"/>
            </a:avLst>
          </a:prstGeom>
          <a:solidFill>
            <a:srgbClr val="1B2435"/>
          </a:solidFill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90304" y="4919472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F2B705"/>
                </a:solidFill>
                <a:latin typeface="Sora"/>
              </a:rPr>
              <a:t>16,7%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0304" y="54132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E6E8F0"/>
                </a:solidFill>
                <a:latin typeface="Inter"/>
              </a:rPr>
              <a:t>do mercado onde atuamos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5989320"/>
            <a:ext cx="32278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ora"/>
              </a:rPr>
              <a:t>Ant</a:t>
            </a:r>
            <a:r>
              <a:rPr sz="2000" b="1">
                <a:solidFill>
                  <a:srgbClr val="F2B705"/>
                </a:solidFill>
                <a:latin typeface="Sora"/>
              </a:rPr>
              <a:t>é</a:t>
            </a:r>
            <a:r>
              <a:rPr sz="2000" b="1">
                <a:solidFill>
                  <a:srgbClr val="FFFFFF"/>
                </a:solidFill>
                <a:latin typeface="Sora"/>
              </a:rPr>
              <a:t>via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spc="60">
                <a:solidFill>
                  <a:srgbClr val="8A93A6"/>
                </a:solidFill>
                <a:latin typeface="Inter"/>
              </a:rPr>
              <a:t>GRUPO KAIRÓS · BUSINESS DESIGN · SPRINT 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50" b="0">
                <a:solidFill>
                  <a:srgbClr val="8A93A6"/>
                </a:solidFill>
                <a:latin typeface="Inter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