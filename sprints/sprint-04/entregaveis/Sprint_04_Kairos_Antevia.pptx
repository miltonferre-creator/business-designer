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6048" y="1417320"/>
            <a:ext cx="2286000" cy="310896"/>
          </a:xfrm>
          <a:prstGeom prst="roundRect">
            <a:avLst>
              <a:gd name="adj" fmla="val 35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56048" y="149961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20">
                <a:solidFill>
                  <a:srgbClr val="F2B705"/>
                </a:solidFill>
                <a:latin typeface="Inter SemiBold"/>
              </a:rPr>
              <a:t>SPRINT 04 · VIABILIDADE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ra"/>
              </a:rPr>
              <a:t>Ant</a:t>
            </a:r>
            <a:r>
              <a:rPr sz="7200" b="1">
                <a:solidFill>
                  <a:srgbClr val="F2B705"/>
                </a:solidFill>
                <a:latin typeface="Sora"/>
              </a:rPr>
              <a:t>é</a:t>
            </a:r>
            <a:r>
              <a:rPr sz="7200" b="1">
                <a:solidFill>
                  <a:srgbClr val="FFFFFF"/>
                </a:solidFill>
                <a:latin typeface="Sora"/>
              </a:rPr>
              <a:t>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220">
                <a:solidFill>
                  <a:srgbClr val="E6E8F0"/>
                </a:solidFill>
                <a:latin typeface="Inter"/>
              </a:rPr>
              <a:t>A LOGÍSTICA DA SUA FORMAÇÃO, NO TEMPO CERTO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224528"/>
            <a:ext cx="914400" cy="1828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9445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Inter"/>
              </a:rPr>
              <a:t>Projeção de receitas · 12 trimestres · 3 cenários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2B705"/>
                </a:solidFill>
                <a:latin typeface="Inter"/>
              </a:rPr>
              <a:t>R$ 4,58 mi de receita e R$ 8,77 mi devolvidos ao bolso dos alunos em 3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AEB6C6"/>
                </a:solidFill>
                <a:latin typeface="Inter"/>
              </a:rPr>
              <a:t>Grupo Kairós · Business Designer · Fundação Dom Cabral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8A93A6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A93A6"/>
                </a:solidFill>
                <a:latin typeface="Inter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01  </a:t>
            </a:r>
            <a:r>
              <a:rPr sz="2300" b="1">
                <a:solidFill>
                  <a:srgbClr val="0B1220"/>
                </a:solidFill>
                <a:latin typeface="Sora"/>
              </a:rPr>
              <a:t>O que vendemos, para quem e como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A unidade comercial é a turma, não o aluno. Uma negociação com a coordenação abre 20 meses de receita recorrente.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Taxa por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2395728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Paga pelo aluno, por encontro cursado. Adesão voluntária, módulo a módulo.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6,4%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Comissão do bloqueio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49039"/>
            <a:ext cx="2395728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Paga pelos fornecedores sobre o volume intermediado. Não aparece no bolso do aluno.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1 turma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A unidade 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749039"/>
            <a:ext cx="2395728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100 alunos · 12 módulos · ciclo de 20 meses. O contrato é com a escola.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90304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Custo para a escola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749039"/>
            <a:ext cx="2395728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Empresta CNPJ, turma e calendário, sem desembolso. O fee de escola citado na banca segue fora da projeção.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166360"/>
            <a:ext cx="11521440" cy="7315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3309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8F0"/>
                </a:solidFill>
                <a:latin typeface="Inter"/>
              </a:rPr>
              <a:t>A escola indica na matrícula e ganha NPS. O aluno decide e paga. Nada é imposto — é a condição de entrada no canal.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02  </a:t>
            </a:r>
            <a:r>
              <a:rPr sz="2300" b="1">
                <a:solidFill>
                  <a:srgbClr val="0B1220"/>
                </a:solidFill>
                <a:latin typeface="Sora"/>
              </a:rPr>
              <a:t>A economia por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 aluno de fora desembolsa R$ 2.200 por módulo comprando em cima da hora. Com o bloqueio antecipado, R$ 1.800.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103120"/>
            <a:ext cx="909828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2194560"/>
            <a:ext cx="2706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5848" y="2194560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Hoje (compra &lt;30 dias)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1848" y="2194560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Com Antévia (bloqueio 90 dias)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2194560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Variação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50591"/>
            <a:ext cx="9098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" y="2551175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Aéreo (ida e volta)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551175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2551175"/>
            <a:ext cx="2295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551175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−27%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07791"/>
            <a:ext cx="9098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9768" y="3008375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Hotel (2 diárias)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008375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3008375"/>
            <a:ext cx="2295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008375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−17%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64991"/>
            <a:ext cx="9098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9768" y="3465575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Traslado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465575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3465575"/>
            <a:ext cx="2295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465575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−10%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22191"/>
            <a:ext cx="9098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8" y="3922776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Subtotal logístico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3922776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R$ 2.200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3922776"/>
            <a:ext cx="2295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R$ 1.700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92277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−R$ 500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79392"/>
            <a:ext cx="9098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9768" y="4379976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Taxa de serviço Antévia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4379976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41848" y="4379976"/>
            <a:ext cx="2295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37997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+R$ 100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736592"/>
            <a:ext cx="9098280" cy="457200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29768" y="4837176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Total desembolsado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848" y="4837176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R$ 2.200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848" y="4837176"/>
            <a:ext cx="2295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R$ 1.800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483717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−18,2%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2103120"/>
            <a:ext cx="2267712" cy="3090672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02368" y="2450592"/>
            <a:ext cx="1865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−18,2%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3227832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8F0"/>
                </a:solidFill>
                <a:latin typeface="Inter SemiBold"/>
              </a:rPr>
              <a:t>no desembolso do aluno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3794760"/>
            <a:ext cx="18653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E6E8F0"/>
                </a:solidFill>
                <a:latin typeface="Inter"/>
              </a:rPr>
              <a:t>Dentro da meta de −15% a −25% fixada no objetivo de longo prazo da Sprint 1.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144768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Desconto do bloqueio: 22,7%, dentro da faixa de 20–30% defendida na banca. No bolso do aluno, já pagando a taxa, a redução é de 18,2%.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03  </a:t>
            </a:r>
            <a:r>
              <a:rPr sz="2300" b="1">
                <a:solidFill>
                  <a:srgbClr val="0B1220"/>
                </a:solidFill>
                <a:latin typeface="Sora"/>
              </a:rPr>
              <a:t>Como o mercado cobra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Nenhuma alternativa cobre a operação inteira de um programa. O aluno paga pouco em taxa e muito em tarifa.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57400"/>
            <a:ext cx="1152144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2148840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Alternativa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2148840"/>
            <a:ext cx="256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Modelo de cobrança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3288" y="214884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Faixa de referência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148840"/>
            <a:ext cx="37581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Por que não resolve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04872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" y="2505456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Apps das 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505456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Sem taxa; margem no tarifário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2505456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505456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Resolve um trecho, ignora o calendário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80360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9768" y="2980944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OTAs (Decolar, CVC)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980944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Conveniência + comissão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2980944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R$ 0–80 / emissão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980944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Viagem a viagem, sob demanda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55848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9768" y="3456432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Agência tradicional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456432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Fee por emissão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3456432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R$ 40–120 / bilhete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456432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Cotação reativa, sem integração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31335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8" y="3931920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Plataformas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3931920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SaaS + fee por transação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3931920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R$ 20–60 / usuário/mês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931920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Exige CNPJ — o aluno PF fica fora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06823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9768" y="4407407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Concierge 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4407407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Mensalidade ou % da viagem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4407407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5–15% da viagem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4407407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Não existe recorte para aluno-executivo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074920"/>
            <a:ext cx="11521440" cy="868680"/>
          </a:xfrm>
          <a:prstGeom prst="roundRect">
            <a:avLst>
              <a:gd name="adj" fmla="val 5000"/>
            </a:avLst>
          </a:prstGeom>
          <a:solidFill>
            <a:srgbClr val="FD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5285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Sora"/>
              </a:rPr>
              <a:t>O custo real da decisão tardia é invisível para o aluno: não aparece como taxa, aparece como preço da passagem.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04  </a:t>
            </a:r>
            <a:r>
              <a:rPr sz="2300" b="1">
                <a:solidFill>
                  <a:srgbClr val="0B1220"/>
                </a:solidFill>
                <a:latin typeface="Sora"/>
              </a:rPr>
              <a:t>O preço se paga sozinho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A taxa não foi fixada por disposição a pagar declarada. Foi ancorada na economia que o serviço entrega.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Economia entregue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Diferença entre comprar na janela certa e comprar em cima da hora.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Taxa de serviço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49039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5,9% do ticket logístico. Piso da faixa de concierge premium.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Volta para o aluno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749039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Economia líquida por módulo, já descontada a taxa que ele paga.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90304" y="2377439"/>
            <a:ext cx="23957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4×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Retorno sobre a taxa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749039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Paga R$ 100, recebe R$ 400 e não precisa organizar nada.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120640"/>
            <a:ext cx="11521440" cy="7315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3309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8F0"/>
                </a:solidFill>
                <a:latin typeface="Inter"/>
              </a:rPr>
              <a:t>A comissão dos fornecedores responde por 52% da receita por viagem. Se H6 se confirmar em R$ 50, o modelo perde 24% — não deixa de existir.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05  </a:t>
            </a:r>
            <a:r>
              <a:rPr sz="2300" b="1">
                <a:solidFill>
                  <a:srgbClr val="0B1220"/>
                </a:solidFill>
                <a:latin typeface="Sora"/>
              </a:rPr>
              <a:t>Potencial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Construído de baixo para cima a partir da base do IBGE já usada na Sprint 1. Cada premissa está rastreada.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1521440" cy="841248"/>
          </a:xfrm>
          <a:prstGeom prst="roundRect">
            <a:avLst>
              <a:gd name="adj" fmla="val 6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59" y="20756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B1220"/>
                </a:solidFill>
                <a:latin typeface="Sora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0756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Inter SemiBold"/>
              </a:rPr>
              <a:t>42.000 alunos-viajantes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40487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1220"/>
                </a:solidFill>
                <a:latin typeface="Inter"/>
              </a:rPr>
              <a:t>R$ 63,1 mi/ano de receita capturável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399" y="2926080"/>
            <a:ext cx="8046720" cy="841248"/>
          </a:xfrm>
          <a:prstGeom prst="roundRect">
            <a:avLst>
              <a:gd name="adj" fmla="val 6000"/>
            </a:avLst>
          </a:prstGeom>
          <a:solidFill>
            <a:srgbClr val="D9A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331719" y="30358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B1220"/>
                </a:solidFill>
                <a:latin typeface="Sora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03580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Inter SemiBold"/>
              </a:rPr>
              <a:t>10.500 alunos · Nova Lima, SP e 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36499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1220"/>
                </a:solidFill>
                <a:latin typeface="Inter"/>
              </a:rPr>
              <a:t>R$ 15,8 mi/ano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886200"/>
            <a:ext cx="4754880" cy="841248"/>
          </a:xfrm>
          <a:prstGeom prst="roundRect">
            <a:avLst>
              <a:gd name="adj" fmla="val 6000"/>
            </a:avLst>
          </a:prstGeom>
          <a:solidFill>
            <a:srgbClr val="B88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977639" y="39959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B1220"/>
                </a:solidFill>
                <a:latin typeface="Sora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995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Inter SemiBold"/>
              </a:rPr>
              <a:t>2.520 alunos no T12 · 42 turmas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3251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1220"/>
                </a:solidFill>
                <a:latin typeface="Inter"/>
              </a:rPr>
              <a:t>R$ 3,79 mi/ano · 24% do SAM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83480"/>
            <a:ext cx="11521440" cy="2926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" y="5074920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Fim do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5074920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Turmas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5074920"/>
            <a:ext cx="2340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Alunos aderentes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5074920"/>
            <a:ext cx="2340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Receita anualizada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5074920"/>
            <a:ext cx="18836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% do SAM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76088"/>
            <a:ext cx="11521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8" y="5376672"/>
            <a:ext cx="21579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Ano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5376672"/>
            <a:ext cx="1700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5376672"/>
            <a:ext cx="2340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5376672"/>
            <a:ext cx="2340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R$ 541 mil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5376672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3,4%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586984"/>
            <a:ext cx="11521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9768" y="5687568"/>
            <a:ext cx="21579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Ano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5687568"/>
            <a:ext cx="1700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5687568"/>
            <a:ext cx="2340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1.200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5687568"/>
            <a:ext cx="2340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R$ 1,80 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568756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11,4%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897880"/>
            <a:ext cx="11521440" cy="310896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29768" y="5998464"/>
            <a:ext cx="21579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Ano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7208" y="5998464"/>
            <a:ext cx="1700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998464"/>
            <a:ext cx="2340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2.520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5998464"/>
            <a:ext cx="2340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R$ 3,79 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5998464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24,0%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327648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TAM: IBGE (1,4 mi em pós-graduação) × P2 (12%) × P3 (25%). SAM: 25% do TAM — campi com fluxo de fora. Premissas P2, P3 e P4 a validar.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06  </a:t>
            </a:r>
            <a:r>
              <a:rPr sz="2300" b="1">
                <a:solidFill>
                  <a:srgbClr val="0B1220"/>
                </a:solidFill>
                <a:latin typeface="Sora"/>
              </a:rPr>
              <a:t>Turmas ativas por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 ritmo de contratação é o motor do modelo. Cada turma contratada gera 108 viagens por trimestre durante 20 meses.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5257800"/>
            <a:ext cx="10972800" cy="10972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" y="5207508"/>
            <a:ext cx="219456" cy="50291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7" y="498805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16736" y="5157216"/>
            <a:ext cx="219456" cy="100583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5" y="5207508"/>
            <a:ext cx="219456" cy="50291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929384" y="5157216"/>
            <a:ext cx="219456" cy="100583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37943" y="4937759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5056632"/>
            <a:ext cx="219456" cy="201167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36775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5157216"/>
            <a:ext cx="219456" cy="100583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788920" y="5056632"/>
            <a:ext cx="219456" cy="201167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97479" y="48371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4905756"/>
            <a:ext cx="219456" cy="35204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96312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5106924"/>
            <a:ext cx="219456" cy="15087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48456" y="4956048"/>
            <a:ext cx="219456" cy="3017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557015" y="473659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95344" y="4754880"/>
            <a:ext cx="219456" cy="502919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55848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5006340"/>
            <a:ext cx="219456" cy="251459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507992" y="4805172"/>
            <a:ext cx="219456" cy="452627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16552" y="45857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503420"/>
            <a:ext cx="219456" cy="754380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15384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905756"/>
            <a:ext cx="219456" cy="352044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367527" y="4654296"/>
            <a:ext cx="219456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276088" y="443484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14416" y="4201668"/>
            <a:ext cx="219456" cy="1056131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74920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0176" y="4805172"/>
            <a:ext cx="219456" cy="452627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27064" y="4453128"/>
            <a:ext cx="219456" cy="804671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35624" y="423367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73952" y="3849624"/>
            <a:ext cx="219456" cy="1408176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34456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9712" y="4654296"/>
            <a:ext cx="219456" cy="603504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086600" y="4251960"/>
            <a:ext cx="219456" cy="1005839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995160" y="403250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3488" y="3447288"/>
            <a:ext cx="219456" cy="1810511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93992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4503420"/>
            <a:ext cx="219456" cy="75438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946136" y="4000500"/>
            <a:ext cx="219456" cy="12573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54696" y="378104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3044952"/>
            <a:ext cx="219456" cy="2212847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53527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58784" y="4352544"/>
            <a:ext cx="219456" cy="905255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805672" y="3749039"/>
            <a:ext cx="219456" cy="150876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14232" y="3529583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59" y="2743200"/>
            <a:ext cx="219456" cy="2514600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513063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19" y="4201668"/>
            <a:ext cx="219456" cy="1056131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9665207" y="3447288"/>
            <a:ext cx="219456" cy="1810511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573767" y="322783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12096" y="2491740"/>
            <a:ext cx="219456" cy="2766060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72599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77856" y="4050791"/>
            <a:ext cx="219456" cy="120700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0524744" y="3145536"/>
            <a:ext cx="219456" cy="2112263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433304" y="292608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B1220"/>
                </a:solidFill>
                <a:latin typeface="Inter SemiBold"/>
              </a:rPr>
              <a:t>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71632" y="2240280"/>
            <a:ext cx="219456" cy="3017520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232136" y="53309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T12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5806440"/>
            <a:ext cx="146304" cy="146304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060704" y="579729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Pessimista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806440"/>
            <a:ext cx="146304" cy="1463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2980944" y="579729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Tendencial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5806440"/>
            <a:ext cx="146304" cy="14630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901183" y="579729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Otimista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6144768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No cenário pessimista o T1 fecha sem turma: o primeiro trimestre é consumido pela negociação com a coordenação.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07  </a:t>
            </a:r>
            <a:r>
              <a:rPr sz="2300" b="1">
                <a:solidFill>
                  <a:srgbClr val="0B1220"/>
                </a:solidFill>
                <a:latin typeface="Sora"/>
              </a:rPr>
              <a:t>Três cenários de receita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Cada cenário move quatro variáveis juntas: adesão, taxa, comissão e ritmo de contratação.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3749039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3383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8A93A6"/>
                </a:solidFill>
                <a:latin typeface="Sora"/>
              </a:rPr>
              <a:t>R$ 1,42 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Pessimista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3383279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Adesão 50% · taxa R$ 50 · comissão 5% · 24 turmas no T12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2057400"/>
            <a:ext cx="3749039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2331720"/>
            <a:ext cx="3383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2B705"/>
                </a:solidFill>
                <a:latin typeface="Sora"/>
              </a:rPr>
              <a:t>R$ 4,58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15468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Tendencial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703320"/>
            <a:ext cx="3383279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Adesão 60% · taxa R$ 100 · comissão 6,4% · 42 turmas no T12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749039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02752" y="2331720"/>
            <a:ext cx="3383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D6A4F"/>
                </a:solidFill>
                <a:latin typeface="Sora"/>
              </a:rPr>
              <a:t>R$ 11,96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15468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Otimista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703320"/>
            <a:ext cx="3383279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Adesão 70% · taxa R$ 150 · comissão 8% · 60 turmas no T12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06240"/>
            <a:ext cx="1152144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" y="4297679"/>
            <a:ext cx="16550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Cenário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4297679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297679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Ano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297679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Ano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297679"/>
            <a:ext cx="1563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Total 3 anos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7" y="4297679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Viagens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7" y="4297679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GMV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53712"/>
            <a:ext cx="11521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8" y="4654296"/>
            <a:ext cx="165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Pessimista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65429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R$ 73 mil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465429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R$ 401 mil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465429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R$ 948 mil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654296"/>
            <a:ext cx="1563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R$ 1,42 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7" y="465429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9.360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3847" y="4654296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R$ 15,9 mi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919472"/>
            <a:ext cx="11521440" cy="365760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29768" y="5020056"/>
            <a:ext cx="165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Tendencial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502005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R$ 293 mil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502005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R$ 1,29 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8" y="502005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R$ 3,00 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5020056"/>
            <a:ext cx="1563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R$ 4,58 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0807" y="502005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21.924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3847" y="5020056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R$ 37,3 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285232"/>
            <a:ext cx="11521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9768" y="5385816"/>
            <a:ext cx="165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Otimista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288" y="538581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R$ 829 mil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7328" y="538581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R$ 3,60 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7528" y="538581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R$ 7,53 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385816"/>
            <a:ext cx="1563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R$ 11,96 mi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0807" y="538581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41.832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3847" y="5385816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R$ 71,1 mi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5669280"/>
            <a:ext cx="11521440" cy="384048"/>
          </a:xfrm>
          <a:prstGeom prst="roundRect">
            <a:avLst>
              <a:gd name="adj" fmla="val 8000"/>
            </a:avLst>
          </a:prstGeom>
          <a:solidFill>
            <a:srgbClr val="FD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5760720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Inter SemiBold"/>
              </a:rPr>
              <a:t>No cenário tendencial, a economia devolvida aos alunos (R$ 8,77 mi) é quase o dobro da receita da empresa.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08  </a:t>
            </a:r>
            <a:r>
              <a:rPr sz="2300" b="1">
                <a:solidFill>
                  <a:srgbClr val="0B1220"/>
                </a:solidFill>
                <a:latin typeface="Sora"/>
              </a:rPr>
              <a:t>A variável crítica não é a adesão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Cada variável movida isoladamente, com as demais no cenário tendencial. Base: R$ 4,58 mi em 3 anos.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2103120"/>
            <a:ext cx="10972" cy="301752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657599" y="2286000"/>
            <a:ext cx="2377440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035040" y="2286000"/>
            <a:ext cx="2377440" cy="3108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0040" y="232257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Inter SemiBold"/>
              </a:rPr>
              <a:t>Ritmo de contratação de turmas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3225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−30% / +30%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1012" y="3035808"/>
            <a:ext cx="1894027" cy="31089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035040" y="3035808"/>
            <a:ext cx="1894027" cy="31089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0040" y="307238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435"/>
                </a:solidFill>
                <a:latin typeface="Inter"/>
              </a:rPr>
              <a:t>Taxa de serviço (R$ 50 / R$ 150)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07238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−23,9% / +23,9%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8380" y="3785615"/>
            <a:ext cx="1616659" cy="31089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035040" y="3785615"/>
            <a:ext cx="1616659" cy="31089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0040" y="3822191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435"/>
                </a:solidFill>
                <a:latin typeface="Inter"/>
              </a:rPr>
              <a:t>Comissão sobre bloqueio (4% / 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82219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−19,5% / +21,2%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1598" y="4535424"/>
            <a:ext cx="1323441" cy="31089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35040" y="4535424"/>
            <a:ext cx="1323441" cy="31089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20040" y="457200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435"/>
                </a:solidFill>
                <a:latin typeface="Inter"/>
              </a:rPr>
              <a:t>Adesão da turma (50% / 70%)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572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−16,7% / +16,7%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1206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Inter"/>
              </a:rPr>
              <a:t>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486400"/>
            <a:ext cx="11521440" cy="7315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4360" y="559612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8F0"/>
                </a:solidFill>
                <a:latin typeface="Inter"/>
              </a:rPr>
              <a:t>Desde a Sprint 1 tratamos a adesão como o risco principal. Ela é a menos determinante das quatro. O que decide o resultado é assinar turmas — uma turma a mais vale mais do que dez pontos de adesão.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09  </a:t>
            </a:r>
            <a:r>
              <a:rPr sz="2300" b="1">
                <a:solidFill>
                  <a:srgbClr val="FFFFFF"/>
                </a:solidFill>
                <a:latin typeface="Sora"/>
              </a:rPr>
              <a:t>O que a Sprint 4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E6E8F0"/>
                </a:solidFill>
                <a:latin typeface="Inter"/>
              </a:rPr>
              <a:t>Em 3 anos, no cenário tendencial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2B705"/>
                </a:solidFill>
                <a:latin typeface="Sora"/>
              </a:rPr>
              <a:t>R$ 4,58 mi</a:t>
            </a:r>
            <a:r>
              <a:rPr sz="2700" b="1">
                <a:solidFill>
                  <a:srgbClr val="FFFFFF"/>
                </a:solidFill>
                <a:latin typeface="Sora"/>
              </a:rPr>
              <a:t> de receita e </a:t>
            </a:r>
            <a:r>
              <a:rPr sz="2700" b="1">
                <a:solidFill>
                  <a:srgbClr val="F2B705"/>
                </a:solidFill>
                <a:latin typeface="Sora"/>
              </a:rPr>
              <a:t>R$ 8,77 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Sora"/>
              </a:rPr>
              <a:t>devolvidos ao bolso dos alunos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926080"/>
            <a:ext cx="2761488" cy="11887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B705"/>
                </a:solidFill>
                <a:latin typeface="Sora"/>
              </a:rPr>
              <a:t>21.924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7588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viagens organizadas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926080"/>
            <a:ext cx="2761488" cy="11887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B705"/>
                </a:solidFill>
                <a:latin typeface="Sora"/>
              </a:rPr>
              <a:t>R$ 37,3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67588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volume transacionado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926080"/>
            <a:ext cx="2761488" cy="11887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B705"/>
                </a:solidFill>
                <a:latin typeface="Sora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67588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turmas ativas no T12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2926080"/>
            <a:ext cx="2761488" cy="11887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90304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B705"/>
                </a:solidFill>
                <a:latin typeface="Sora"/>
              </a:rPr>
              <a:t>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367588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do SAM alcançado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89120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50">
                <a:solidFill>
                  <a:srgbClr val="F2B705"/>
                </a:solidFill>
                <a:latin typeface="Inter SemiBold"/>
              </a:rPr>
              <a:t>PRÓXIMO PASSO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E6E8F0"/>
                </a:solidFill>
                <a:latin typeface="Inter"/>
              </a:rPr>
              <a:t>Validar o ritmo de contratação de turmas — a variável de maior impacto e a única sem referência externa.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53212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ora"/>
              </a:rPr>
              <a:t>Ant</a:t>
            </a:r>
            <a:r>
              <a:rPr sz="2200" b="1">
                <a:solidFill>
                  <a:srgbClr val="F2B705"/>
                </a:solidFill>
                <a:latin typeface="Sora"/>
              </a:rPr>
              <a:t>é</a:t>
            </a:r>
            <a:r>
              <a:rPr sz="2200" b="1">
                <a:solidFill>
                  <a:srgbClr val="FFFFFF"/>
                </a:solidFill>
                <a:latin typeface="Sora"/>
              </a:rPr>
              <a:t>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603504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spc="200">
                <a:solidFill>
                  <a:srgbClr val="E6E8F0"/>
                </a:solidFill>
                <a:latin typeface="Inter"/>
              </a:rPr>
              <a:t>A LOGÍSTICA DA SUA FORMAÇÃO, NO TEMPO CERTO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8A93A6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A93A6"/>
                </a:solidFill>
                <a:latin typeface="Inter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