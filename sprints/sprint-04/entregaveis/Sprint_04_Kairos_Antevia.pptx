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956048" y="1417320"/>
            <a:ext cx="2286000" cy="310896"/>
          </a:xfrm>
          <a:prstGeom prst="roundRect">
            <a:avLst>
              <a:gd name="adj" fmla="val 35000"/>
            </a:avLst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956048" y="1499616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 spc="120">
                <a:solidFill>
                  <a:srgbClr val="F2B705"/>
                </a:solidFill>
                <a:latin typeface="Inter SemiBold"/>
              </a:rPr>
              <a:t>SPRINT 04 · VIABILIDADE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103120"/>
            <a:ext cx="94457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Sora"/>
              </a:rPr>
              <a:t>Ant</a:t>
            </a:r>
            <a:r>
              <a:rPr sz="7200" b="1">
                <a:solidFill>
                  <a:srgbClr val="F2B705"/>
                </a:solidFill>
                <a:latin typeface="Sora"/>
              </a:rPr>
              <a:t>é</a:t>
            </a:r>
            <a:r>
              <a:rPr sz="7200" b="1">
                <a:solidFill>
                  <a:srgbClr val="FFFFFF"/>
                </a:solidFill>
                <a:latin typeface="Sora"/>
              </a:rPr>
              <a:t>via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94457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spc="220">
                <a:solidFill>
                  <a:srgbClr val="E6E8F0"/>
                </a:solidFill>
                <a:latin typeface="Inter"/>
              </a:rPr>
              <a:t>A LOGÍSTICA DA SUA FORMAÇÃO, NO TEMPO CERTO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641848" y="4224528"/>
            <a:ext cx="914400" cy="18288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371600" y="4526280"/>
            <a:ext cx="94457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Inter"/>
              </a:rPr>
              <a:t>Projeção de receitas · 12 trimestres · 3 cenários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983480"/>
            <a:ext cx="94457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F2B705"/>
                </a:solidFill>
                <a:latin typeface="Inter"/>
              </a:rPr>
              <a:t>R$ 959 mil em 3 anos — e um primeiro ano de R$ 34 mil que é o verdadeiro desafio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760720"/>
            <a:ext cx="94457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AEB6C6"/>
                </a:solidFill>
                <a:latin typeface="Inter"/>
              </a:rPr>
              <a:t>Grupo Kairós · Business Designer · Fundação Dom Cabral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 spc="60">
                <a:solidFill>
                  <a:srgbClr val="8A93A6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8A93A6"/>
                </a:solidFill>
                <a:latin typeface="Inter"/>
              </a:rP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01  </a:t>
            </a:r>
            <a:r>
              <a:rPr sz="2300" b="1">
                <a:solidFill>
                  <a:srgbClr val="0B1220"/>
                </a:solidFill>
                <a:latin typeface="Sora"/>
              </a:rPr>
              <a:t>O que vendemos, para quem e como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435"/>
                </a:solidFill>
                <a:latin typeface="Inter"/>
              </a:rPr>
              <a:t>A unidade comercial é a turma. Uma negociação com a coordenação abre 20 meses de receita recorrente.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2103120"/>
            <a:ext cx="2761488" cy="26517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02920" y="2359152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F2B705"/>
                </a:solidFill>
                <a:latin typeface="Sora"/>
              </a:rPr>
              <a:t>R$ 100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2724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Taxa por módulo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584448"/>
            <a:ext cx="2395728" cy="10607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Paga pelo aluno, por encontro cursado. Adesão voluntária, módulo a módulo.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2103120"/>
            <a:ext cx="2761488" cy="26517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29000" y="2359152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F2B705"/>
                </a:solidFill>
                <a:latin typeface="Sora"/>
              </a:rPr>
              <a:t>3% → 6,4%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312724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Comissão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3584448"/>
            <a:ext cx="2395728" cy="10607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Paga pelos fornecedores. Cresce com o volume — começa em 3%, não em 6,4%.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2103120"/>
            <a:ext cx="2761488" cy="26517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64224" y="2359152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B85042"/>
                </a:solidFill>
                <a:latin typeface="Sora"/>
              </a:rPr>
              <a:t>40 alunos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312724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Turma (a validar)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3584448"/>
            <a:ext cx="2395728" cy="10607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Nunca foi verificado com a escola. A banca usou 100 sem lastro.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07424" y="2103120"/>
            <a:ext cx="2761488" cy="26517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290304" y="2359152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F2B705"/>
                </a:solidFill>
                <a:latin typeface="Sora"/>
              </a:rPr>
              <a:t>R$ 0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0304" y="312724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Custo para a escola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0304" y="3584448"/>
            <a:ext cx="2395728" cy="10607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Empresta CNPJ, turma e calendário, sem desembolso.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5166360"/>
            <a:ext cx="11521440" cy="731520"/>
          </a:xfrm>
          <a:prstGeom prst="roundRect">
            <a:avLst>
              <a:gd name="adj" fmla="val 6000"/>
            </a:avLst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4360" y="5330952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E6E8F0"/>
                </a:solidFill>
                <a:latin typeface="Inter"/>
              </a:rPr>
              <a:t>O tamanho da turma é a premissa mais barata de validar e a que mais move o modelo: move a receita em +50%.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 spc="60">
                <a:solidFill>
                  <a:srgbClr val="9AA1AD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9AA1AD"/>
                </a:solidFill>
                <a:latin typeface="Inter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02  </a:t>
            </a:r>
            <a:r>
              <a:rPr sz="2300" b="1">
                <a:solidFill>
                  <a:srgbClr val="0B1220"/>
                </a:solidFill>
                <a:latin typeface="Sora"/>
              </a:rPr>
              <a:t>O poder de negociação é conquistado, não assumido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435"/>
                </a:solidFill>
                <a:latin typeface="Inter"/>
              </a:rPr>
              <a:t>Por que uma companhia aérea venderia mais barato para nós do que vende direto para o aluno? No ano 1, não venderia.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2057400"/>
            <a:ext cx="11567160" cy="347472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2148840"/>
            <a:ext cx="96926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2B705"/>
                </a:solidFill>
                <a:latin typeface="Inter SemiBold"/>
              </a:rPr>
              <a:t>Fase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18488" y="2148840"/>
            <a:ext cx="3483863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2B705"/>
                </a:solidFill>
                <a:latin typeface="Inter SemiBold"/>
              </a:rPr>
              <a:t>Como compramos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21807" y="2148840"/>
            <a:ext cx="110642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Ticket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7688" y="2148840"/>
            <a:ext cx="15179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Economia líquida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5047" y="2148840"/>
            <a:ext cx="96926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Retorno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73767" y="2148840"/>
            <a:ext cx="96926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Comissão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62488" y="2148840"/>
            <a:ext cx="1014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R$/viagem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404872"/>
            <a:ext cx="11567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29768" y="2505456"/>
            <a:ext cx="9692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0B1220"/>
                </a:solidFill>
                <a:latin typeface="Inter SemiBold"/>
              </a:rPr>
              <a:t>Ano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18488" y="2505456"/>
            <a:ext cx="348386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0B1220"/>
                </a:solidFill>
                <a:latin typeface="Inter SemiBold"/>
              </a:rPr>
              <a:t>Apoio da consolidadora — só antecipação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21807" y="2505456"/>
            <a:ext cx="110642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B1220"/>
                </a:solidFill>
                <a:latin typeface="Inter SemiBold"/>
              </a:rPr>
              <a:t>R$ 1.920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7688" y="2505456"/>
            <a:ext cx="15179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B1220"/>
                </a:solidFill>
                <a:latin typeface="Inter SemiBold"/>
              </a:rPr>
              <a:t>R$ 180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7" y="2505456"/>
            <a:ext cx="9692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B1220"/>
                </a:solidFill>
                <a:latin typeface="Inter SemiBold"/>
              </a:rPr>
              <a:t>1,8×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73767" y="2505456"/>
            <a:ext cx="9692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B1220"/>
                </a:solidFill>
                <a:latin typeface="Inter SemiBold"/>
              </a:rPr>
              <a:t>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62488" y="2505456"/>
            <a:ext cx="10149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B1220"/>
                </a:solidFill>
                <a:latin typeface="Inter SemiBold"/>
              </a:rPr>
              <a:t>R$ 157,60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2880360"/>
            <a:ext cx="11567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29768" y="2980944"/>
            <a:ext cx="9692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Ano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18488" y="2980944"/>
            <a:ext cx="348386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Bloqueios pontuais onde a rota concentra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21807" y="2980944"/>
            <a:ext cx="110642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R$ 1.800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7688" y="2980944"/>
            <a:ext cx="15179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R$ 300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5047" y="2980944"/>
            <a:ext cx="9692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3,0×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73767" y="2980944"/>
            <a:ext cx="9692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62488" y="2980944"/>
            <a:ext cx="10149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R$ 190,00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3355848"/>
            <a:ext cx="11567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29768" y="3456432"/>
            <a:ext cx="9692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Ano 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18488" y="3456432"/>
            <a:ext cx="348386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Convênio próprio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21807" y="3456432"/>
            <a:ext cx="110642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R$ 1.700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47688" y="3456432"/>
            <a:ext cx="15179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R$ 400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5047" y="3456432"/>
            <a:ext cx="9692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4,0×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73767" y="3456432"/>
            <a:ext cx="9692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6,4%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62488" y="3456432"/>
            <a:ext cx="10149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R$ 208,80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0040" y="3977639"/>
            <a:ext cx="562356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48640" y="416052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spc="120">
                <a:solidFill>
                  <a:srgbClr val="F2B705"/>
                </a:solidFill>
                <a:latin typeface="Inter SemiBold"/>
              </a:rPr>
              <a:t>A ÚNICA ALAVANCA DO ANO 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480560"/>
            <a:ext cx="516636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1B2435"/>
                </a:solidFill>
                <a:latin typeface="Inter"/>
              </a:rPr>
              <a:t>Antecipação. Comprar aos 90 dias em vez de menos de 30 é a curva tarifária pública — não exige negociar com fornecedor nenhum. É gratuita e está disponível no primeiro dia.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3977639"/>
            <a:ext cx="5623560" cy="1783080"/>
          </a:xfrm>
          <a:prstGeom prst="roundRect">
            <a:avLst>
              <a:gd name="adj" fmla="val 4000"/>
            </a:avLst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446520" y="416052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spc="120">
                <a:solidFill>
                  <a:srgbClr val="F2B705"/>
                </a:solidFill>
                <a:latin typeface="Inter SemiBold"/>
              </a:rPr>
              <a:t>O TESTE CONTRA O VOLUME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480560"/>
            <a:ext cx="516636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E6E8F0"/>
                </a:solidFill>
                <a:latin typeface="Inter"/>
              </a:rPr>
              <a:t>Faixas da Velt: R$ 250–500 mil/ano rende 3–5%; acima de R$ 1 mi/ano, 8–12%. Nosso volume aéreo é R$ 248 mil no ano 1 — logo abaixo do piso.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" y="6263640"/>
            <a:ext cx="11521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Inter"/>
              </a:rPr>
              <a:t>Faixas apuradas na entrevista com Bruno Brant (Velt), Sprint 1. As comissões usadas nos anos 2 e 3 ficam abaixo do que o volume permitiria.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 spc="60">
                <a:solidFill>
                  <a:srgbClr val="9AA1AD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9AA1AD"/>
                </a:solidFill>
                <a:latin typeface="Inter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03  </a:t>
            </a:r>
            <a:r>
              <a:rPr sz="2300" b="1">
                <a:solidFill>
                  <a:srgbClr val="0B1220"/>
                </a:solidFill>
                <a:latin typeface="Sora"/>
              </a:rPr>
              <a:t>Uma turma isolada não forma tarifa de grupo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435"/>
                </a:solidFill>
                <a:latin typeface="Inter"/>
              </a:rPr>
              <a:t>Tarifa de grupo exige cerca de 10 passageiros na mesma rota. As 5 condições da Velt já diziam 5 a 8 origens por turma — faltou fazer a divisão.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2103120"/>
            <a:ext cx="9509760" cy="347472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2194560"/>
            <a:ext cx="15179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2B705"/>
                </a:solidFill>
                <a:latin typeface="Inter SemiBold"/>
              </a:rPr>
              <a:t>Turma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7128" y="2194560"/>
            <a:ext cx="133502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Adesão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21608" y="2194560"/>
            <a:ext cx="17007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5 origens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41848" y="2194560"/>
            <a:ext cx="17007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8 origens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62088" y="2194560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Forma grupo?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450591"/>
            <a:ext cx="95097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29768" y="2551175"/>
            <a:ext cx="15179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40 alunos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67128" y="2551175"/>
            <a:ext cx="1335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30%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21608" y="2551175"/>
            <a:ext cx="17007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2,4 pax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41848" y="2551175"/>
            <a:ext cx="17007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1,5 pax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62088" y="2551175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não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871215"/>
            <a:ext cx="95097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29768" y="2971799"/>
            <a:ext cx="15179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40 alunos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67128" y="2971799"/>
            <a:ext cx="1335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60%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1608" y="2971799"/>
            <a:ext cx="17007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4,8 pax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41848" y="2971799"/>
            <a:ext cx="17007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3,0 pax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62088" y="2971799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não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291839"/>
            <a:ext cx="95097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29768" y="3392423"/>
            <a:ext cx="15179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100 alunos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67128" y="3392423"/>
            <a:ext cx="1335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30%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21608" y="3392423"/>
            <a:ext cx="17007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6,0 pax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41848" y="3392423"/>
            <a:ext cx="17007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3,8 pax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62088" y="3392423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não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3712463"/>
            <a:ext cx="9509760" cy="420624"/>
          </a:xfrm>
          <a:prstGeom prst="rect">
            <a:avLst/>
          </a:prstGeom>
          <a:solidFill>
            <a:srgbClr val="FDF1CB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29768" y="3813048"/>
            <a:ext cx="15179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0B1220"/>
                </a:solidFill>
                <a:latin typeface="Inter"/>
              </a:rPr>
              <a:t>100 alunos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67128" y="3813048"/>
            <a:ext cx="1335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60%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21608" y="3813048"/>
            <a:ext cx="17007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12,0 pax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41848" y="3813048"/>
            <a:ext cx="17007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7,5 pax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62088" y="3813048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só com 5 origens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058400" y="2103120"/>
            <a:ext cx="1783080" cy="2029968"/>
          </a:xfrm>
          <a:prstGeom prst="roundRect">
            <a:avLst>
              <a:gd name="adj" fmla="val 5000"/>
            </a:avLst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0241280" y="2331720"/>
            <a:ext cx="1417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F2B705"/>
                </a:solidFill>
                <a:latin typeface="Sora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0" y="3017520"/>
            <a:ext cx="14173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>
                <a:solidFill>
                  <a:srgbClr val="E6E8F0"/>
                </a:solidFill>
                <a:latin typeface="Inter"/>
              </a:rPr>
              <a:t>passageiros na mesma rota é o mínimo de mercado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0040" y="4343400"/>
            <a:ext cx="11521440" cy="777240"/>
          </a:xfrm>
          <a:prstGeom prst="roundRect">
            <a:avLst>
              <a:gd name="adj" fmla="val 5000"/>
            </a:avLst>
          </a:prstGeom>
          <a:solidFill>
            <a:srgbClr val="FDF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94360" y="4526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B1220"/>
                </a:solidFill>
                <a:latin typeface="Sora"/>
              </a:rPr>
              <a:t>A banca estava na única célula favorável da tabela — e com um número de alunos que ninguém verificou.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0040" y="5074920"/>
            <a:ext cx="3749039" cy="14173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02920" y="5202936"/>
            <a:ext cx="33832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2B705"/>
                </a:solidFill>
                <a:latin typeface="Sora"/>
              </a:rPr>
              <a:t>Campus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5605272"/>
            <a:ext cx="3383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220"/>
                </a:solidFill>
                <a:latin typeface="Inter SemiBold"/>
              </a:rPr>
              <a:t>A nova unidade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5879592"/>
            <a:ext cx="3383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1B2435"/>
                </a:solidFill>
                <a:latin typeface="Inter"/>
              </a:rPr>
              <a:t>A negociação passa a ser por campus numa data, somando turmas — não por turma.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24528" y="5074920"/>
            <a:ext cx="3749039" cy="14173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4407408" y="5202936"/>
            <a:ext cx="33832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2B705"/>
                </a:solidFill>
                <a:latin typeface="Sora"/>
              </a:rPr>
              <a:t>3 a 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07408" y="5605272"/>
            <a:ext cx="3383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220"/>
                </a:solidFill>
                <a:latin typeface="Inter SemiBold"/>
              </a:rPr>
              <a:t>Turmas simultâneas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07408" y="5879592"/>
            <a:ext cx="3383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1B2435"/>
                </a:solidFill>
                <a:latin typeface="Inter"/>
              </a:rPr>
              <a:t>É quanto precisa coincidir no mesmo campus e data para ligar a alavanca.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19872" y="5074920"/>
            <a:ext cx="3749039" cy="14173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8302752" y="5202936"/>
            <a:ext cx="33832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2B705"/>
                </a:solidFill>
                <a:latin typeface="Sora"/>
              </a:rPr>
              <a:t>Nosso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02752" y="5605272"/>
            <a:ext cx="3383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220"/>
                </a:solidFill>
                <a:latin typeface="Inter SemiBold"/>
              </a:rPr>
              <a:t>O bloqueio é da Antévia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02752" y="5879592"/>
            <a:ext cx="3383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1B2435"/>
                </a:solidFill>
                <a:latin typeface="Inter"/>
              </a:rPr>
              <a:t>Se quem agrega o volume é a plataforma, o ativo passa a ser nosso.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 spc="60">
                <a:solidFill>
                  <a:srgbClr val="9AA1AD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9AA1AD"/>
                </a:solidFill>
                <a:latin typeface="Inter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04  </a:t>
            </a:r>
            <a:r>
              <a:rPr sz="2300" b="1">
                <a:solidFill>
                  <a:srgbClr val="0B1220"/>
                </a:solidFill>
                <a:latin typeface="Sora"/>
              </a:rPr>
              <a:t>A economia por módulo, fase a fase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435"/>
                </a:solidFill>
                <a:latin typeface="Inter"/>
              </a:rPr>
              <a:t>Hoje o aluno de fora desembolsa R$ 2.200 por módulo comprando em cima da hora.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2103120"/>
            <a:ext cx="11521440" cy="347472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2194560"/>
            <a:ext cx="26151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2B705"/>
                </a:solidFill>
                <a:latin typeface="Inter SemiBold"/>
              </a:rPr>
              <a:t>Item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64408" y="2194560"/>
            <a:ext cx="16093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Hoje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93208" y="2194560"/>
            <a:ext cx="2066543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Fase 1 (ano 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79208" y="2194560"/>
            <a:ext cx="2066543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Fase 2 (ano 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65207" y="2194560"/>
            <a:ext cx="2066543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Fase 3 (ano 3)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450591"/>
            <a:ext cx="115214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29768" y="2551175"/>
            <a:ext cx="26151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Aéreo (ida e volta)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4408" y="2551175"/>
            <a:ext cx="16093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R$ 1.400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93208" y="2551175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R$ 1.150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79208" y="2551175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R$ 1.080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65207" y="2551175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R$ 1.020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871215"/>
            <a:ext cx="115214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29768" y="2971799"/>
            <a:ext cx="26151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Hotel (2 diárias)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64408" y="2971799"/>
            <a:ext cx="16093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R$ 600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3208" y="2971799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R$ 570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9208" y="2971799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R$ 530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65207" y="2971799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R$ 500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291839"/>
            <a:ext cx="115214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29768" y="3392423"/>
            <a:ext cx="26151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Traslado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4408" y="3392423"/>
            <a:ext cx="16093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R$ 200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93208" y="3392423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9208" y="3392423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R$ 190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65207" y="3392423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R$ 180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3712463"/>
            <a:ext cx="115214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29768" y="3813048"/>
            <a:ext cx="26151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0B1220"/>
                </a:solidFill>
                <a:latin typeface="Inter SemiBold"/>
              </a:rPr>
              <a:t>Subtotal logístico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64408" y="3813048"/>
            <a:ext cx="16093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B1220"/>
                </a:solidFill>
                <a:latin typeface="Inter SemiBold"/>
              </a:rPr>
              <a:t>R$ 2.200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93208" y="381304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B1220"/>
                </a:solidFill>
                <a:latin typeface="Inter SemiBold"/>
              </a:rPr>
              <a:t>R$ 1.920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79208" y="381304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B1220"/>
                </a:solidFill>
                <a:latin typeface="Inter SemiBold"/>
              </a:rPr>
              <a:t>R$ 1.800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5207" y="381304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B1220"/>
                </a:solidFill>
                <a:latin typeface="Inter SemiBold"/>
              </a:rPr>
              <a:t>R$ 1.700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4133087"/>
            <a:ext cx="115214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29768" y="4233672"/>
            <a:ext cx="26151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Taxa de serviço Antévia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64408" y="4233672"/>
            <a:ext cx="16093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93208" y="423367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79208" y="423367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65207" y="423367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4553712"/>
            <a:ext cx="11521440" cy="420624"/>
          </a:xfrm>
          <a:prstGeom prst="rect">
            <a:avLst/>
          </a:prstGeom>
          <a:solidFill>
            <a:srgbClr val="FDF1CB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429768" y="4654296"/>
            <a:ext cx="26151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0B1220"/>
                </a:solidFill>
                <a:latin typeface="Inter"/>
              </a:rPr>
              <a:t>Economia líquida do aluno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64408" y="4654296"/>
            <a:ext cx="16093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93208" y="4654296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R$ 180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79208" y="4654296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R$ 300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65207" y="4654296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R$ 400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" y="4974336"/>
            <a:ext cx="115214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29768" y="5074920"/>
            <a:ext cx="26151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Redução no desembolso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64408" y="5074920"/>
            <a:ext cx="16093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93208" y="5074920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8,2%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79208" y="5074920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13,6%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65207" y="5074920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18,2%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20040" y="5349240"/>
            <a:ext cx="11521440" cy="731520"/>
          </a:xfrm>
          <a:prstGeom prst="roundRect">
            <a:avLst>
              <a:gd name="adj" fmla="val 6000"/>
            </a:avLst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594360" y="5513832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E6E8F0"/>
                </a:solidFill>
                <a:latin typeface="Inter"/>
              </a:rPr>
              <a:t>A meta de −15% a −25% da Sprint 1 só é atingida na fase 3. No ano 1 o aluno economiza 8,2% — e isso precisa ser dito a ele.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 spc="60">
                <a:solidFill>
                  <a:srgbClr val="9AA1AD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9AA1AD"/>
                </a:solidFill>
                <a:latin typeface="Inter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05  </a:t>
            </a:r>
            <a:r>
              <a:rPr sz="2300" b="1">
                <a:solidFill>
                  <a:srgbClr val="0B1220"/>
                </a:solidFill>
                <a:latin typeface="Sora"/>
              </a:rPr>
              <a:t>Como o mercado cobra hoje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435"/>
                </a:solidFill>
                <a:latin typeface="Inter"/>
              </a:rPr>
              <a:t>Nenhuma alternativa cobre a operação inteira de um programa. O aluno paga pouco em taxa e muito em tarifa.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2057400"/>
            <a:ext cx="11521440" cy="347472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2148840"/>
            <a:ext cx="22951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2B705"/>
                </a:solidFill>
                <a:latin typeface="Inter SemiBold"/>
              </a:rPr>
              <a:t>Alternativa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44368" y="2148840"/>
            <a:ext cx="2569463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2B705"/>
                </a:solidFill>
                <a:latin typeface="Inter SemiBold"/>
              </a:rPr>
              <a:t>Modelo de cobrança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33288" y="214884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Faixa de referência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73568" y="2148840"/>
            <a:ext cx="3758183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2B705"/>
                </a:solidFill>
                <a:latin typeface="Inter SemiBold"/>
              </a:rPr>
              <a:t>Por que não resolve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404872"/>
            <a:ext cx="115214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29768" y="2505456"/>
            <a:ext cx="229514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Apps das cias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44368" y="2505456"/>
            <a:ext cx="256946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Sem taxa; margem no tarifário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33288" y="2505456"/>
            <a:ext cx="202082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73568" y="2505456"/>
            <a:ext cx="375818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Resolve um trecho, ignora o calendário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880360"/>
            <a:ext cx="115214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29768" y="2980944"/>
            <a:ext cx="229514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OTAs (Decolar, CVC)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44368" y="2980944"/>
            <a:ext cx="256946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Conveniência + comissão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33288" y="2980944"/>
            <a:ext cx="202082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R$ 0–80 / emissão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3568" y="2980944"/>
            <a:ext cx="375818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Viagem a viagem, sob demanda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355848"/>
            <a:ext cx="115214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29768" y="3456432"/>
            <a:ext cx="229514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Agência tradicional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44368" y="3456432"/>
            <a:ext cx="256946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Fee por emissão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33288" y="3456432"/>
            <a:ext cx="202082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R$ 40–120 / bilhete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73568" y="3456432"/>
            <a:ext cx="375818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Cotação reativa, sem integração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831335"/>
            <a:ext cx="115214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29768" y="3931920"/>
            <a:ext cx="229514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Plataformas B2B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44368" y="3931920"/>
            <a:ext cx="256946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SaaS + fee por transação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33288" y="3931920"/>
            <a:ext cx="202082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R$ 20–60 / usuário/mês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73568" y="3931920"/>
            <a:ext cx="375818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Exige CNPJ — o aluno PF fica fora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4306823"/>
            <a:ext cx="115214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29768" y="4407407"/>
            <a:ext cx="229514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Concierge premium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44368" y="4407407"/>
            <a:ext cx="256946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Mensalidade ou % da viagem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33288" y="4407407"/>
            <a:ext cx="202082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5–15% da viagem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73568" y="4407407"/>
            <a:ext cx="375818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Não existe recorte para aluno-executivo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0040" y="5074920"/>
            <a:ext cx="11521440" cy="868680"/>
          </a:xfrm>
          <a:prstGeom prst="roundRect">
            <a:avLst>
              <a:gd name="adj" fmla="val 5000"/>
            </a:avLst>
          </a:prstGeom>
          <a:solidFill>
            <a:srgbClr val="FDF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594360" y="5285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B1220"/>
                </a:solidFill>
                <a:latin typeface="Sora"/>
              </a:rPr>
              <a:t>O custo real da decisão tardia é invisível para o aluno: não aparece como taxa, aparece como preço da passagem.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 spc="60">
                <a:solidFill>
                  <a:srgbClr val="9AA1AD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9AA1AD"/>
                </a:solidFill>
                <a:latin typeface="Inter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06  </a:t>
            </a:r>
            <a:r>
              <a:rPr sz="2300" b="1">
                <a:solidFill>
                  <a:srgbClr val="0B1220"/>
                </a:solidFill>
                <a:latin typeface="Sora"/>
              </a:rPr>
              <a:t>O preço se paga — mas a folga cresce com o tempo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435"/>
                </a:solidFill>
                <a:latin typeface="Inter"/>
              </a:rPr>
              <a:t>A taxa foi ancorada na economia entregue, não em disposição a pagar declarada. Só que a economia muda por fase.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2103120"/>
            <a:ext cx="2761488" cy="26060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02920" y="2359152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B85042"/>
                </a:solidFill>
                <a:latin typeface="Sora"/>
              </a:rPr>
              <a:t>1,8×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2724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Retorno no ano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584448"/>
            <a:ext cx="2395728" cy="10149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Paga R$ 100, recebe R$ 180. O serviço se paga, com folga apertada.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2103120"/>
            <a:ext cx="2761488" cy="26060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29000" y="2359152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F2B705"/>
                </a:solidFill>
                <a:latin typeface="Sora"/>
              </a:rPr>
              <a:t>3,0×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312724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Retorno no ano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3584448"/>
            <a:ext cx="2395728" cy="10149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Bloqueios pontuais elevam a economia para R$ 300 líquidos.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2103120"/>
            <a:ext cx="2761488" cy="26060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64224" y="2359152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2D6A4F"/>
                </a:solidFill>
                <a:latin typeface="Sora"/>
              </a:rPr>
              <a:t>4,0×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312724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Retorno no ano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3584448"/>
            <a:ext cx="2395728" cy="10149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Convênio próprio: paga R$ 100, recebe R$ 400 de volta.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07424" y="2103120"/>
            <a:ext cx="2761488" cy="26060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290304" y="2359152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2B705"/>
                </a:solidFill>
                <a:latin typeface="Sora"/>
              </a:rPr>
              <a:t>63% → 48%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0304" y="312724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Peso da taxa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0304" y="3584448"/>
            <a:ext cx="2395728" cy="10149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A dependência do bolso do aluno cai conforme a comissão cresce.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5120640"/>
            <a:ext cx="11521440" cy="777240"/>
          </a:xfrm>
          <a:prstGeom prst="roundRect">
            <a:avLst>
              <a:gd name="adj" fmla="val 6000"/>
            </a:avLst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4360" y="530352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E6E8F0"/>
                </a:solidFill>
                <a:latin typeface="Inter"/>
              </a:rPr>
              <a:t>Consequência comercial: no primeiro ano a venda não se sustenta só no desconto. Apoia-se no tempo devolvido e em não orquestrar três plataformas por módulo.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 spc="60">
                <a:solidFill>
                  <a:srgbClr val="9AA1AD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9AA1AD"/>
                </a:solidFill>
                <a:latin typeface="Inter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07  </a:t>
            </a:r>
            <a:r>
              <a:rPr sz="2300" b="1">
                <a:solidFill>
                  <a:srgbClr val="0B1220"/>
                </a:solidFill>
                <a:latin typeface="Sora"/>
              </a:rPr>
              <a:t>Potencial de mercado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435"/>
                </a:solidFill>
                <a:latin typeface="Inter"/>
              </a:rPr>
              <a:t>Construído de baixo para cima a partir da base do IBGE usada na Sprint 1.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965960"/>
            <a:ext cx="11521440" cy="841248"/>
          </a:xfrm>
          <a:prstGeom prst="roundRect">
            <a:avLst>
              <a:gd name="adj" fmla="val 6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94359" y="207568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1220"/>
                </a:solidFill>
                <a:latin typeface="Sora"/>
              </a:rPr>
              <a:t>TAM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65960" y="207568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B1220"/>
                </a:solidFill>
                <a:latin typeface="Inter SemiBold"/>
              </a:rPr>
              <a:t>42.000 alunos-viajantes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2404872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B1220"/>
                </a:solidFill>
                <a:latin typeface="Inter"/>
              </a:rPr>
              <a:t>R$ 63,1 mi/ano — mercado de um operador maduro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57399" y="2926080"/>
            <a:ext cx="8046720" cy="841248"/>
          </a:xfrm>
          <a:prstGeom prst="roundRect">
            <a:avLst>
              <a:gd name="adj" fmla="val 6000"/>
            </a:avLst>
          </a:prstGeom>
          <a:solidFill>
            <a:srgbClr val="D9A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331719" y="303580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1220"/>
                </a:solidFill>
                <a:latin typeface="Sora"/>
              </a:rPr>
              <a:t>SAM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3035808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B1220"/>
                </a:solidFill>
                <a:latin typeface="Inter SemiBold"/>
              </a:rPr>
              <a:t>10.500 alunos · Nova Lima, SP e 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336499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B1220"/>
                </a:solidFill>
                <a:latin typeface="Inter"/>
              </a:rPr>
              <a:t>R$ 15,8 mi/ano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03320" y="3886200"/>
            <a:ext cx="4754880" cy="841248"/>
          </a:xfrm>
          <a:prstGeom prst="roundRect">
            <a:avLst>
              <a:gd name="adj" fmla="val 6000"/>
            </a:avLst>
          </a:prstGeom>
          <a:solidFill>
            <a:srgbClr val="B88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977639" y="399592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1220"/>
                </a:solidFill>
                <a:latin typeface="Sora"/>
              </a:rPr>
              <a:t>SOM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3995928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B1220"/>
                </a:solidFill>
                <a:latin typeface="Inter SemiBold"/>
              </a:rPr>
              <a:t>576 aderentes no T12 · 24 turmas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4325112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B1220"/>
                </a:solidFill>
                <a:latin typeface="Inter"/>
              </a:rPr>
              <a:t>R$ 866 mil/ano · 5,5% do SAM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4983480"/>
            <a:ext cx="11521440" cy="292608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29768" y="5074920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2B705"/>
                </a:solidFill>
                <a:latin typeface="Inter SemiBold"/>
              </a:rPr>
              <a:t>Fim do ano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07208" y="5074920"/>
            <a:ext cx="17007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Turmas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27448" y="5074920"/>
            <a:ext cx="2340863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Aderentes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7768" y="5074920"/>
            <a:ext cx="2340863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Receita anualizada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48088" y="5074920"/>
            <a:ext cx="1883663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% do SAM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276088"/>
            <a:ext cx="1152144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29768" y="5376672"/>
            <a:ext cx="215798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Ano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07208" y="5376672"/>
            <a:ext cx="170078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27448" y="5376672"/>
            <a:ext cx="2340863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48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87768" y="5376672"/>
            <a:ext cx="2340863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R$ 54 mil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48088" y="5376672"/>
            <a:ext cx="1883663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0,5%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5586984"/>
            <a:ext cx="1152144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29768" y="5687568"/>
            <a:ext cx="215798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Ano 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7208" y="5687568"/>
            <a:ext cx="170078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27448" y="5687568"/>
            <a:ext cx="2340863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216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87768" y="5687568"/>
            <a:ext cx="2340863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R$ 295 mil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48088" y="5687568"/>
            <a:ext cx="1883663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2,1%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5897880"/>
            <a:ext cx="11521440" cy="310896"/>
          </a:xfrm>
          <a:prstGeom prst="rect">
            <a:avLst/>
          </a:prstGeom>
          <a:solidFill>
            <a:srgbClr val="FDF1CB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29768" y="5998464"/>
            <a:ext cx="215798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0B1220"/>
                </a:solidFill>
                <a:latin typeface="Inter"/>
              </a:rPr>
              <a:t>Ano 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07208" y="5998464"/>
            <a:ext cx="170078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27448" y="5998464"/>
            <a:ext cx="2340863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576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87768" y="5998464"/>
            <a:ext cx="2340863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R$ 866 mil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48088" y="5998464"/>
            <a:ext cx="1883663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5,5%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" y="6327648"/>
            <a:ext cx="11521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Inter"/>
              </a:rPr>
              <a:t>A versão anterior projetava 24% do SAM, assumindo turma de 100 e adesão de 60% desde o T1. Não se sustentava.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 spc="60">
                <a:solidFill>
                  <a:srgbClr val="9AA1AD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9AA1AD"/>
                </a:solidFill>
                <a:latin typeface="Inter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08  </a:t>
            </a:r>
            <a:r>
              <a:rPr sz="2300" b="1">
                <a:solidFill>
                  <a:srgbClr val="0B1220"/>
                </a:solidFill>
                <a:latin typeface="Sora"/>
              </a:rPr>
              <a:t>Três cenários de receita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435"/>
                </a:solidFill>
                <a:latin typeface="Inter"/>
              </a:rPr>
              <a:t>Cada cenário move adesão, comissão e ritmo de contratação — todos evoluindo por fase.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2057400"/>
            <a:ext cx="3749039" cy="1874519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02920" y="2313432"/>
            <a:ext cx="33832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C9CFDA"/>
                </a:solidFill>
                <a:latin typeface="Sora"/>
              </a:rPr>
              <a:t>R$ 348 mil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081528"/>
            <a:ext cx="3383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Pessimista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538728"/>
            <a:ext cx="3383279" cy="2834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Adesão 20/30/40% · 14 turmas no T12 · ano 1 de R$ 9 mil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24528" y="2057400"/>
            <a:ext cx="3749039" cy="1874519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407408" y="2313432"/>
            <a:ext cx="33832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F2B705"/>
                </a:solidFill>
                <a:latin typeface="Sora"/>
              </a:rPr>
              <a:t>R$ 959 mil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8" y="3081528"/>
            <a:ext cx="3383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Tendencial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3538728"/>
            <a:ext cx="3383279" cy="2834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Adesão 30/45/60% · 24 turmas no T12 · ano 1 de R$ 34 mil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9872" y="2057400"/>
            <a:ext cx="3749039" cy="1874519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302752" y="2313432"/>
            <a:ext cx="33832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2D6A4F"/>
                </a:solidFill>
                <a:latin typeface="Sora"/>
              </a:rPr>
              <a:t>R$ 2,01 mi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3081528"/>
            <a:ext cx="3383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Otimista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3538728"/>
            <a:ext cx="3383279" cy="2834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Adesão 40/55/70% · 42 turmas no T12 · ano 1 de R$ 73 mil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4160520"/>
            <a:ext cx="11521440" cy="347472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29768" y="4251959"/>
            <a:ext cx="1655063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2B705"/>
                </a:solidFill>
                <a:latin typeface="Inter SemiBold"/>
              </a:rPr>
              <a:t>Cenário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04288" y="4251959"/>
            <a:ext cx="12893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Ano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13048" y="4251959"/>
            <a:ext cx="13807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Ano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13248" y="4251959"/>
            <a:ext cx="142646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Ano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9168" y="4251959"/>
            <a:ext cx="156362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Total 3 anos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42247" y="4251959"/>
            <a:ext cx="119786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Viagens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59567" y="4251959"/>
            <a:ext cx="14721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Economia alunos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4507992"/>
            <a:ext cx="115214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29768" y="4608576"/>
            <a:ext cx="1655063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Pessimista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04288" y="4608576"/>
            <a:ext cx="12893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R$ 9 mil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13048" y="4608576"/>
            <a:ext cx="138074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R$ 74 mil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13248" y="4608576"/>
            <a:ext cx="142646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R$ 265 mil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4608576"/>
            <a:ext cx="15636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R$ 348 mil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42247" y="4608576"/>
            <a:ext cx="119786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1.714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59567" y="4608576"/>
            <a:ext cx="147218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R$ 634 mil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4873752"/>
            <a:ext cx="11521440" cy="365760"/>
          </a:xfrm>
          <a:prstGeom prst="rect">
            <a:avLst/>
          </a:prstGeom>
          <a:solidFill>
            <a:srgbClr val="FDF1CB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29768" y="4974336"/>
            <a:ext cx="1655063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0B1220"/>
                </a:solidFill>
                <a:latin typeface="Inter"/>
              </a:rPr>
              <a:t>Tendencial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04288" y="4974336"/>
            <a:ext cx="12893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R$ 34 mil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13048" y="4974336"/>
            <a:ext cx="138074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R$ 222 mil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13248" y="4974336"/>
            <a:ext cx="142646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R$ 704 mil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9168" y="4974336"/>
            <a:ext cx="15636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R$ 959 mil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42247" y="4974336"/>
            <a:ext cx="119786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4.752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59567" y="4974336"/>
            <a:ext cx="147218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R$ 1,74 mi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5239512"/>
            <a:ext cx="115214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429768" y="5340096"/>
            <a:ext cx="1655063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Otimista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04288" y="5340096"/>
            <a:ext cx="12893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R$ 73 mil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13048" y="5340096"/>
            <a:ext cx="138074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R$ 482 mil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5340096"/>
            <a:ext cx="142646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R$ 1,45 mi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9168" y="5340096"/>
            <a:ext cx="15636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R$ 2,01 mi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42247" y="5340096"/>
            <a:ext cx="119786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9.950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59567" y="5340096"/>
            <a:ext cx="147218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R$ 3,63 mi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20040" y="5669280"/>
            <a:ext cx="11521440" cy="411480"/>
          </a:xfrm>
          <a:prstGeom prst="roundRect">
            <a:avLst>
              <a:gd name="adj" fmla="val 8000"/>
            </a:avLst>
          </a:prstGeom>
          <a:solidFill>
            <a:srgbClr val="FDF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594360" y="5769864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0B1220"/>
                </a:solidFill>
                <a:latin typeface="Inter SemiBold"/>
              </a:rPr>
              <a:t>Em todos os cenários a economia devolvida aos alunos é quase o dobro da receita da empresa.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 spc="60">
                <a:solidFill>
                  <a:srgbClr val="9AA1AD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9AA1AD"/>
                </a:solidFill>
                <a:latin typeface="Inter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09  </a:t>
            </a:r>
            <a:r>
              <a:rPr sz="2300" b="1">
                <a:solidFill>
                  <a:srgbClr val="0B1220"/>
                </a:solidFill>
                <a:latin typeface="Sora"/>
              </a:rPr>
              <a:t>Três variáveis decidem o resultado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435"/>
                </a:solidFill>
                <a:latin typeface="Inter"/>
              </a:rPr>
              <a:t>Cada variável movida isoladamente, com as demais no cenário tendencial. Base: R$ 959 mil em 3 anos.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0" y="2057400"/>
            <a:ext cx="10972" cy="3246120"/>
          </a:xfrm>
          <a:prstGeom prst="rect">
            <a:avLst/>
          </a:prstGeom>
          <a:solidFill>
            <a:srgbClr val="E3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4663440" y="2240280"/>
            <a:ext cx="1097280" cy="292608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760720" y="2240280"/>
            <a:ext cx="2194560" cy="292608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20040" y="2276856"/>
            <a:ext cx="5257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0B1220"/>
                </a:solidFill>
                <a:latin typeface="Inter SemiBold"/>
              </a:rPr>
              <a:t>Tamanho da turma (30 / 60 alunos)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276856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220"/>
                </a:solidFill>
                <a:latin typeface="Inter SemiBold"/>
              </a:rPr>
              <a:t>−25,0% / +50,0%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9143" y="2880360"/>
            <a:ext cx="1461576" cy="292608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760720" y="2880360"/>
            <a:ext cx="811987" cy="292608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20040" y="2916936"/>
            <a:ext cx="5257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0B1220"/>
                </a:solidFill>
                <a:latin typeface="Inter SemiBold"/>
              </a:rPr>
              <a:t>Adesão (20/30/40% vs 40/55/70%)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916936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220"/>
                </a:solidFill>
                <a:latin typeface="Inter SemiBold"/>
              </a:rPr>
              <a:t>−33,3% / +18,5%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43983" y="3520440"/>
            <a:ext cx="1316736" cy="292608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760720" y="3520440"/>
            <a:ext cx="1316736" cy="292608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20040" y="3557016"/>
            <a:ext cx="5257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0B1220"/>
                </a:solidFill>
                <a:latin typeface="Inter SemiBold"/>
              </a:rPr>
              <a:t>Ritmo de contratação de turmas (±30%)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3557016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220"/>
                </a:solidFill>
                <a:latin typeface="Inter SemiBold"/>
              </a:rPr>
              <a:t>−30,0% / +30,0%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72218" y="4160520"/>
            <a:ext cx="1088501" cy="292608"/>
          </a:xfrm>
          <a:prstGeom prst="rect">
            <a:avLst/>
          </a:prstGeom>
          <a:solidFill>
            <a:srgbClr val="C9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760720" y="4160520"/>
            <a:ext cx="1088501" cy="292608"/>
          </a:xfrm>
          <a:prstGeom prst="rect">
            <a:avLst/>
          </a:prstGeom>
          <a:solidFill>
            <a:srgbClr val="C9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20040" y="4197096"/>
            <a:ext cx="5257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B2435"/>
                </a:solidFill>
                <a:latin typeface="Inter"/>
              </a:rPr>
              <a:t>Taxa de serviço (R$ 50 / R$ 150)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197096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−24,8% / +24,8%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46243" y="4800600"/>
            <a:ext cx="614476" cy="292608"/>
          </a:xfrm>
          <a:prstGeom prst="rect">
            <a:avLst/>
          </a:prstGeom>
          <a:solidFill>
            <a:srgbClr val="C9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760720" y="4800600"/>
            <a:ext cx="1268455" cy="292608"/>
          </a:xfrm>
          <a:prstGeom prst="rect">
            <a:avLst/>
          </a:prstGeom>
          <a:solidFill>
            <a:srgbClr val="C9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20040" y="4837176"/>
            <a:ext cx="5257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B2435"/>
                </a:solidFill>
                <a:latin typeface="Inter"/>
              </a:rPr>
              <a:t>Comissão (uma faixa abaixo / acima)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4837176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−14,0% / +28,9%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5440680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>
                <a:solidFill>
                  <a:srgbClr val="6B7280"/>
                </a:solidFill>
                <a:latin typeface="Inter"/>
              </a:rPr>
              <a:t>base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0040" y="5715000"/>
            <a:ext cx="11521440" cy="731520"/>
          </a:xfrm>
          <a:prstGeom prst="roundRect">
            <a:avLst>
              <a:gd name="adj" fmla="val 6000"/>
            </a:avLst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94360" y="587044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E6E8F0"/>
                </a:solidFill>
                <a:latin typeface="Inter"/>
              </a:rPr>
              <a:t>A versão anterior dizia que a adesão era a variável menos importante. Era artefato de fixar a turma em 100 e a adesão em 60%. As três primeiras estão na mesma faixa — e a primeira nunca foi validada.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 spc="60">
                <a:solidFill>
                  <a:srgbClr val="9AA1AD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9AA1AD"/>
                </a:solidFill>
                <a:latin typeface="Inter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10  </a:t>
            </a:r>
            <a:r>
              <a:rPr sz="2300" b="1">
                <a:solidFill>
                  <a:srgbClr val="FFFFFF"/>
                </a:solidFill>
                <a:latin typeface="Sora"/>
              </a:rPr>
              <a:t>O primeiro ano é o desafio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234440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6E8F0"/>
                </a:solidFill>
                <a:latin typeface="Inter"/>
              </a:rPr>
              <a:t>Em 3 anos, no cenário tendencial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966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500" b="1">
                <a:solidFill>
                  <a:srgbClr val="F2B705"/>
                </a:solidFill>
                <a:latin typeface="Sora"/>
              </a:rPr>
              <a:t>R$ 959 mil</a:t>
            </a:r>
            <a:r>
              <a:rPr sz="2500" b="1">
                <a:solidFill>
                  <a:srgbClr val="FFFFFF"/>
                </a:solidFill>
                <a:latin typeface="Sora"/>
              </a:rPr>
              <a:t> de receita — e um ano 1 de </a:t>
            </a:r>
            <a:r>
              <a:rPr sz="2500" b="1">
                <a:solidFill>
                  <a:srgbClr val="F2B705"/>
                </a:solidFill>
                <a:latin typeface="Sora"/>
              </a:rPr>
              <a:t>R$ 34 mil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33172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Sora"/>
              </a:rPr>
              <a:t>menos de R$ 3 mil por mês: não paga equipe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3017520"/>
            <a:ext cx="2761488" cy="1143000"/>
          </a:xfrm>
          <a:prstGeom prst="roundRect">
            <a:avLst>
              <a:gd name="adj" fmla="val 6000"/>
            </a:avLst>
          </a:prstGeom>
          <a:solidFill>
            <a:srgbClr val="1B2435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3200400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300" b="1">
                <a:solidFill>
                  <a:srgbClr val="F2B705"/>
                </a:solidFill>
                <a:latin typeface="Sora"/>
              </a:rPr>
              <a:t>4.752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30752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E6E8F0"/>
                </a:solidFill>
                <a:latin typeface="Inter"/>
              </a:rPr>
              <a:t>viagens em 3 anos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3017520"/>
            <a:ext cx="2761488" cy="1143000"/>
          </a:xfrm>
          <a:prstGeom prst="roundRect">
            <a:avLst>
              <a:gd name="adj" fmla="val 6000"/>
            </a:avLst>
          </a:prstGeom>
          <a:solidFill>
            <a:srgbClr val="1B2435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429000" y="3200400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300" b="1">
                <a:solidFill>
                  <a:srgbClr val="F2B705"/>
                </a:solidFill>
                <a:latin typeface="Sora"/>
              </a:rPr>
              <a:t>R$ 1,74 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3730752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E6E8F0"/>
                </a:solidFill>
                <a:latin typeface="Inter"/>
              </a:rPr>
              <a:t>devolvidos aos alunos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3017520"/>
            <a:ext cx="2761488" cy="1143000"/>
          </a:xfrm>
          <a:prstGeom prst="roundRect">
            <a:avLst>
              <a:gd name="adj" fmla="val 6000"/>
            </a:avLst>
          </a:prstGeom>
          <a:solidFill>
            <a:srgbClr val="1B2435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64224" y="3200400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300" b="1">
                <a:solidFill>
                  <a:srgbClr val="F2B705"/>
                </a:solidFill>
                <a:latin typeface="Sora"/>
              </a:rPr>
              <a:t>576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3730752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E6E8F0"/>
                </a:solidFill>
                <a:latin typeface="Inter"/>
              </a:rPr>
              <a:t>aderentes no T12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07424" y="3017520"/>
            <a:ext cx="2761488" cy="1143000"/>
          </a:xfrm>
          <a:prstGeom prst="roundRect">
            <a:avLst>
              <a:gd name="adj" fmla="val 6000"/>
            </a:avLst>
          </a:prstGeom>
          <a:solidFill>
            <a:srgbClr val="1B2435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290304" y="3200400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300" b="1">
                <a:solidFill>
                  <a:srgbClr val="F2B705"/>
                </a:solidFill>
                <a:latin typeface="Sora"/>
              </a:rPr>
              <a:t>5,5%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90304" y="3730752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E6E8F0"/>
                </a:solidFill>
                <a:latin typeface="Inter"/>
              </a:rPr>
              <a:t>do SAM alcançado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4434840"/>
            <a:ext cx="11521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 spc="150">
                <a:solidFill>
                  <a:srgbClr val="F2B705"/>
                </a:solidFill>
                <a:latin typeface="Inter SemiBold"/>
              </a:rPr>
              <a:t>O ANO 1 NÃO É MEDIDO POR RECEITA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754880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E6E8F0"/>
                </a:solidFill>
                <a:latin typeface="Inter"/>
              </a:rPr>
              <a:t>Ele existe para produzir prova de execução, volume acumulado e concentração de campus — os três ativos que destravam a fase 2. A métrica é turmas simultâneas, não faturamento.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5623560"/>
            <a:ext cx="322783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Sora"/>
              </a:rPr>
              <a:t>Ant</a:t>
            </a:r>
            <a:r>
              <a:rPr sz="2200" b="1">
                <a:solidFill>
                  <a:srgbClr val="F2B705"/>
                </a:solidFill>
                <a:latin typeface="Sora"/>
              </a:rPr>
              <a:t>é</a:t>
            </a:r>
            <a:r>
              <a:rPr sz="2200" b="1">
                <a:solidFill>
                  <a:srgbClr val="FFFFFF"/>
                </a:solidFill>
                <a:latin typeface="Sora"/>
              </a:rPr>
              <a:t>via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6108192"/>
            <a:ext cx="50566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 spc="200">
                <a:solidFill>
                  <a:srgbClr val="E6E8F0"/>
                </a:solidFill>
                <a:latin typeface="Inter"/>
              </a:rPr>
              <a:t>A LOGÍSTICA DA SUA FORMAÇÃO, NO TEMPO CERTO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 spc="60">
                <a:solidFill>
                  <a:srgbClr val="8A93A6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8A93A6"/>
                </a:solidFill>
                <a:latin typeface="Inter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