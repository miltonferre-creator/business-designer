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956048" y="1417320"/>
            <a:ext cx="2286000" cy="310896"/>
          </a:xfrm>
          <a:prstGeom prst="roundRect">
            <a:avLst>
              <a:gd name="adj" fmla="val 35000"/>
            </a:avLst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956048" y="1499616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spc="120">
                <a:solidFill>
                  <a:srgbClr val="F2B705"/>
                </a:solidFill>
                <a:latin typeface="Inter SemiBold"/>
              </a:rPr>
              <a:t>SPRINT 04 · VIABILIDADE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103120"/>
            <a:ext cx="944575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Sora"/>
              </a:rPr>
              <a:t>Ant</a:t>
            </a:r>
            <a:r>
              <a:rPr sz="7200" b="1">
                <a:solidFill>
                  <a:srgbClr val="F2B705"/>
                </a:solidFill>
                <a:latin typeface="Sora"/>
              </a:rPr>
              <a:t>é</a:t>
            </a:r>
            <a:r>
              <a:rPr sz="7200" b="1">
                <a:solidFill>
                  <a:srgbClr val="FFFFFF"/>
                </a:solidFill>
                <a:latin typeface="Sora"/>
              </a:rPr>
              <a:t>via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657600"/>
            <a:ext cx="9445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spc="220">
                <a:solidFill>
                  <a:srgbClr val="E6E8F0"/>
                </a:solidFill>
                <a:latin typeface="Inter"/>
              </a:rPr>
              <a:t>A LOGÍSTICA DA SUA FORMAÇÃO, NO TEMPO CERTO</a:t>
            </a:r>
          </a:p>
        </p:txBody>
      </p:sp>
      <p:sp>
        <p:nvSpPr>
          <p:cNvPr id="6" name="Rectangle 5"/>
          <p:cNvSpPr/>
          <p:nvPr/>
        </p:nvSpPr>
        <p:spPr>
          <a:xfrm>
            <a:off x="5641848" y="4224528"/>
            <a:ext cx="914400" cy="18288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371600" y="4526280"/>
            <a:ext cx="94457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Inter"/>
              </a:rPr>
              <a:t>Projeção de receitas · 12 trimestres · 3 cenários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983480"/>
            <a:ext cx="9445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F2B705"/>
                </a:solidFill>
                <a:latin typeface="Inter"/>
              </a:rPr>
              <a:t>R$ 4,58 mi de receita e R$ 8,77 mi devolvidos ao bolso dos alunos em 3 anos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760720"/>
            <a:ext cx="9445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AEB6C6"/>
                </a:solidFill>
                <a:latin typeface="Inter"/>
              </a:rPr>
              <a:t>Grupo Kairós · Business Designer · Fundação Dom Cabral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6638544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 spc="60">
                <a:solidFill>
                  <a:srgbClr val="8A93A6"/>
                </a:solidFill>
                <a:latin typeface="Inter"/>
              </a:rPr>
              <a:t>GRUPO KAIRÓS · BUSINESS DESIGN · SPRINT 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4512" y="663854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650" b="0">
                <a:solidFill>
                  <a:srgbClr val="8A93A6"/>
                </a:solidFill>
                <a:latin typeface="Inter"/>
              </a:rP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11521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F2B705"/>
                </a:solidFill>
                <a:latin typeface="Sora"/>
              </a:rPr>
              <a:t>01  </a:t>
            </a:r>
            <a:r>
              <a:rPr sz="2300" b="1">
                <a:solidFill>
                  <a:srgbClr val="0B1220"/>
                </a:solidFill>
                <a:latin typeface="Sora"/>
              </a:rPr>
              <a:t>O que vendemos, para quem e como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435"/>
                </a:solidFill>
                <a:latin typeface="Inter"/>
              </a:rPr>
              <a:t>A unidade comercial é a turma, não o aluno. Uma negociação com a coordenação abre 20 meses de receita recorrente.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2103120"/>
            <a:ext cx="2761488" cy="26517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02920" y="2377439"/>
            <a:ext cx="239572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2B705"/>
                </a:solidFill>
                <a:latin typeface="Sora"/>
              </a:rPr>
              <a:t>R$ 100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0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B1220"/>
                </a:solidFill>
                <a:latin typeface="Inter SemiBold"/>
              </a:rPr>
              <a:t>Taxa por módulo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749039"/>
            <a:ext cx="2395728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1B2435"/>
                </a:solidFill>
                <a:latin typeface="Inter"/>
              </a:rPr>
              <a:t>Paga pelo aluno, por encontro cursado. Adesão voluntária, módulo a módulo.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6120" y="2103120"/>
            <a:ext cx="2761488" cy="26517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429000" y="2377439"/>
            <a:ext cx="239572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2B705"/>
                </a:solidFill>
                <a:latin typeface="Sora"/>
              </a:rPr>
              <a:t>6,4%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3200400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B1220"/>
                </a:solidFill>
                <a:latin typeface="Inter SemiBold"/>
              </a:rPr>
              <a:t>Comissão do bloqueio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3749039"/>
            <a:ext cx="2395728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1B2435"/>
                </a:solidFill>
                <a:latin typeface="Inter"/>
              </a:rPr>
              <a:t>Paga pelos fornecedores sobre o volume intermediado. Não aparece no bolso do aluno.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2103120"/>
            <a:ext cx="2761488" cy="26517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64224" y="2377439"/>
            <a:ext cx="239572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2B705"/>
                </a:solidFill>
                <a:latin typeface="Sora"/>
              </a:rPr>
              <a:t>1 turma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3200400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B1220"/>
                </a:solidFill>
                <a:latin typeface="Inter SemiBold"/>
              </a:rPr>
              <a:t>A unidade comercial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4224" y="3749039"/>
            <a:ext cx="2395728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1B2435"/>
                </a:solidFill>
                <a:latin typeface="Inter"/>
              </a:rPr>
              <a:t>100 alunos · 12 módulos · ciclo de 20 meses. O contrato é com a escola.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07424" y="2103120"/>
            <a:ext cx="2761488" cy="26517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290304" y="2377439"/>
            <a:ext cx="239572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2B705"/>
                </a:solidFill>
                <a:latin typeface="Sora"/>
              </a:rPr>
              <a:t>R$ 0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90304" y="3200400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B1220"/>
                </a:solidFill>
                <a:latin typeface="Inter SemiBold"/>
              </a:rPr>
              <a:t>Custo para a escola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0304" y="3749039"/>
            <a:ext cx="2395728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1B2435"/>
                </a:solidFill>
                <a:latin typeface="Inter"/>
              </a:rPr>
              <a:t>Ela empresta CNPJ, turma e calendário. Nenhuma verba nova precisa ser aprovada.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" y="5166360"/>
            <a:ext cx="11521440" cy="731520"/>
          </a:xfrm>
          <a:prstGeom prst="roundRect">
            <a:avLst>
              <a:gd name="adj" fmla="val 6000"/>
            </a:avLst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94360" y="5330952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E6E8F0"/>
                </a:solidFill>
                <a:latin typeface="Inter"/>
              </a:rPr>
              <a:t>A escola indica na matrícula e ganha NPS. O aluno decide e paga. Nada é imposto — é a condição de entrada no canal.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" y="6638544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 spc="60">
                <a:solidFill>
                  <a:srgbClr val="9AA1AD"/>
                </a:solidFill>
                <a:latin typeface="Inter"/>
              </a:rPr>
              <a:t>GRUPO KAIRÓS · BUSINESS DESIGN · SPRINT 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4512" y="663854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650" b="0">
                <a:solidFill>
                  <a:srgbClr val="9AA1AD"/>
                </a:solidFill>
                <a:latin typeface="Inter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11521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F2B705"/>
                </a:solidFill>
                <a:latin typeface="Sora"/>
              </a:rPr>
              <a:t>02  </a:t>
            </a:r>
            <a:r>
              <a:rPr sz="2300" b="1">
                <a:solidFill>
                  <a:srgbClr val="0B1220"/>
                </a:solidFill>
                <a:latin typeface="Sora"/>
              </a:rPr>
              <a:t>A economia por módulo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435"/>
                </a:solidFill>
                <a:latin typeface="Inter"/>
              </a:rPr>
              <a:t>O aluno de fora desembolsa R$ 2.200 por módulo comprando em cima da hora. Com o bloqueio antecipado, R$ 1.800.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2103120"/>
            <a:ext cx="9098280" cy="347472"/>
          </a:xfrm>
          <a:prstGeom prst="rect">
            <a:avLst/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29768" y="2194560"/>
            <a:ext cx="27066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2B705"/>
                </a:solidFill>
                <a:latin typeface="Inter SemiBold"/>
              </a:rPr>
              <a:t>Item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55848" y="2194560"/>
            <a:ext cx="20665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Hoje (compra &lt;30 dias)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41848" y="2194560"/>
            <a:ext cx="22951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Com Antévia (bloqueio 90 dias)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56448" y="2194560"/>
            <a:ext cx="11521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Variação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450591"/>
            <a:ext cx="90982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29768" y="2551175"/>
            <a:ext cx="270662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Aéreo (ida e volta)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55848" y="2551175"/>
            <a:ext cx="206654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R$ 1.400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41848" y="2551175"/>
            <a:ext cx="2295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R$ 1.020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6448" y="2551175"/>
            <a:ext cx="1152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−27%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907791"/>
            <a:ext cx="90982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29768" y="3008375"/>
            <a:ext cx="270662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Hotel (2 diárias)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3008375"/>
            <a:ext cx="206654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R$ 600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41848" y="3008375"/>
            <a:ext cx="2295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R$ 500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6448" y="3008375"/>
            <a:ext cx="1152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−17%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364991"/>
            <a:ext cx="90982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29768" y="3465575"/>
            <a:ext cx="270662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Traslado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55848" y="3465575"/>
            <a:ext cx="206654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R$ 200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41848" y="3465575"/>
            <a:ext cx="2295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R$ 180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6448" y="3465575"/>
            <a:ext cx="1152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−10%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3822191"/>
            <a:ext cx="90982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29768" y="3922776"/>
            <a:ext cx="270662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B1220"/>
                </a:solidFill>
                <a:latin typeface="Inter SemiBold"/>
              </a:rPr>
              <a:t>Subtotal logístico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55848" y="3922776"/>
            <a:ext cx="206654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0B1220"/>
                </a:solidFill>
                <a:latin typeface="Inter SemiBold"/>
              </a:rPr>
              <a:t>R$ 2.200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41848" y="3922776"/>
            <a:ext cx="2295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0B1220"/>
                </a:solidFill>
                <a:latin typeface="Inter SemiBold"/>
              </a:rPr>
              <a:t>R$ 1.700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56448" y="3922776"/>
            <a:ext cx="1152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0B1220"/>
                </a:solidFill>
                <a:latin typeface="Inter SemiBold"/>
              </a:rPr>
              <a:t>−R$ 500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4279392"/>
            <a:ext cx="90982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29768" y="4379976"/>
            <a:ext cx="270662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Taxa de serviço Antévia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55848" y="4379976"/>
            <a:ext cx="206654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41848" y="4379976"/>
            <a:ext cx="2295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6448" y="4379976"/>
            <a:ext cx="1152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+R$ 100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4736592"/>
            <a:ext cx="9098280" cy="457200"/>
          </a:xfrm>
          <a:prstGeom prst="rect">
            <a:avLst/>
          </a:prstGeom>
          <a:solidFill>
            <a:srgbClr val="FDF1CB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429768" y="4837176"/>
            <a:ext cx="270662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B1220"/>
                </a:solidFill>
                <a:latin typeface="Inter"/>
              </a:rPr>
              <a:t>Total desembolsado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55848" y="4837176"/>
            <a:ext cx="206654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R$ 2.200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41848" y="4837176"/>
            <a:ext cx="2295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R$ 1.800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56448" y="4837176"/>
            <a:ext cx="1152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−18,2%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01200" y="2103120"/>
            <a:ext cx="2267712" cy="3090672"/>
          </a:xfrm>
          <a:prstGeom prst="roundRect">
            <a:avLst>
              <a:gd name="adj" fmla="val 5000"/>
            </a:avLst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802368" y="2450592"/>
            <a:ext cx="186537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2B705"/>
                </a:solidFill>
                <a:latin typeface="Sora"/>
              </a:rPr>
              <a:t>−18,2%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02368" y="3227832"/>
            <a:ext cx="186537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6E8F0"/>
                </a:solidFill>
                <a:latin typeface="Inter SemiBold"/>
              </a:rPr>
              <a:t>no desembolso do aluno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02368" y="3794760"/>
            <a:ext cx="186537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E6E8F0"/>
                </a:solidFill>
                <a:latin typeface="Inter"/>
              </a:rPr>
              <a:t>Dentro da meta de −15% a −25% fixada no objetivo de longo prazo da Sprint 1.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0040" y="6144768"/>
            <a:ext cx="11521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Inter"/>
              </a:rPr>
              <a:t>Desconto médio do bloqueio: 22,7% — dentro da faixa de 20–30% calibrada com a Velt (Bruno Brant, Sprint 1).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" y="6638544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 spc="60">
                <a:solidFill>
                  <a:srgbClr val="9AA1AD"/>
                </a:solidFill>
                <a:latin typeface="Inter"/>
              </a:rPr>
              <a:t>GRUPO KAIRÓS · BUSINESS DESIGN · SPRINT 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54512" y="663854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650" b="0">
                <a:solidFill>
                  <a:srgbClr val="9AA1AD"/>
                </a:solidFill>
                <a:latin typeface="Inter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11521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F2B705"/>
                </a:solidFill>
                <a:latin typeface="Sora"/>
              </a:rPr>
              <a:t>03  </a:t>
            </a:r>
            <a:r>
              <a:rPr sz="2300" b="1">
                <a:solidFill>
                  <a:srgbClr val="0B1220"/>
                </a:solidFill>
                <a:latin typeface="Sora"/>
              </a:rPr>
              <a:t>Como o mercado cobra hoje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435"/>
                </a:solidFill>
                <a:latin typeface="Inter"/>
              </a:rPr>
              <a:t>Nenhuma alternativa cobre a operação inteira de um programa. O aluno paga pouco em taxa e muito em tarifa.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2057400"/>
            <a:ext cx="11521440" cy="347472"/>
          </a:xfrm>
          <a:prstGeom prst="rect">
            <a:avLst/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29768" y="2148840"/>
            <a:ext cx="22951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2B705"/>
                </a:solidFill>
                <a:latin typeface="Inter SemiBold"/>
              </a:rPr>
              <a:t>Alternativa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44368" y="2148840"/>
            <a:ext cx="256946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2B705"/>
                </a:solidFill>
                <a:latin typeface="Inter SemiBold"/>
              </a:rPr>
              <a:t>Modelo de cobrança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33288" y="214884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Faixa de referência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73568" y="2148840"/>
            <a:ext cx="375818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2B705"/>
                </a:solidFill>
                <a:latin typeface="Inter SemiBold"/>
              </a:rPr>
              <a:t>Por que não resolve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404872"/>
            <a:ext cx="115214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29768" y="2505456"/>
            <a:ext cx="229514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Apps das cias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44368" y="2505456"/>
            <a:ext cx="256946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Sem taxa; margem no tarifário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33288" y="2505456"/>
            <a:ext cx="202082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73568" y="2505456"/>
            <a:ext cx="375818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Resolve um trecho, ignora o calendário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880360"/>
            <a:ext cx="115214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29768" y="2980944"/>
            <a:ext cx="229514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OTAs (Decolar, CVC)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44368" y="2980944"/>
            <a:ext cx="256946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Conveniência + comissão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33288" y="2980944"/>
            <a:ext cx="202082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R$ 0–80 / emissão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73568" y="2980944"/>
            <a:ext cx="375818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Viagem a viagem, sob demanda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355848"/>
            <a:ext cx="115214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29768" y="3456432"/>
            <a:ext cx="229514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Agência tradicional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44368" y="3456432"/>
            <a:ext cx="256946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Fee por emissão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33288" y="3456432"/>
            <a:ext cx="202082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R$ 40–120 / bilhete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73568" y="3456432"/>
            <a:ext cx="375818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Cotação reativa, sem integração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3831335"/>
            <a:ext cx="115214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29768" y="3931920"/>
            <a:ext cx="229514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Plataformas B2B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44368" y="3931920"/>
            <a:ext cx="256946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SaaS + fee por transação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33288" y="3931920"/>
            <a:ext cx="202082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R$ 20–60 / usuário/mês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73568" y="3931920"/>
            <a:ext cx="375818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Exige CNPJ — o aluno PF fica fora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4306823"/>
            <a:ext cx="115214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29768" y="4407407"/>
            <a:ext cx="229514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Concierge premium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44368" y="4407407"/>
            <a:ext cx="256946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Mensalidade ou % da viagem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33288" y="4407407"/>
            <a:ext cx="202082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5–15% da viagem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73568" y="4407407"/>
            <a:ext cx="375818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Não existe recorte para aluno-executivo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0040" y="5074920"/>
            <a:ext cx="11521440" cy="868680"/>
          </a:xfrm>
          <a:prstGeom prst="roundRect">
            <a:avLst>
              <a:gd name="adj" fmla="val 5000"/>
            </a:avLst>
          </a:prstGeom>
          <a:solidFill>
            <a:srgbClr val="FDF1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594360" y="5285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1220"/>
                </a:solidFill>
                <a:latin typeface="Sora"/>
              </a:rPr>
              <a:t>O custo real da decisão tardia é invisível para o aluno: não aparece como taxa, aparece como preço da passagem.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" y="6638544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 spc="60">
                <a:solidFill>
                  <a:srgbClr val="9AA1AD"/>
                </a:solidFill>
                <a:latin typeface="Inter"/>
              </a:rPr>
              <a:t>GRUPO KAIRÓS · BUSINESS DESIGN · SPRINT 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54512" y="663854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650" b="0">
                <a:solidFill>
                  <a:srgbClr val="9AA1AD"/>
                </a:solidFill>
                <a:latin typeface="Inter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11521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F2B705"/>
                </a:solidFill>
                <a:latin typeface="Sora"/>
              </a:rPr>
              <a:t>04  </a:t>
            </a:r>
            <a:r>
              <a:rPr sz="2300" b="1">
                <a:solidFill>
                  <a:srgbClr val="0B1220"/>
                </a:solidFill>
                <a:latin typeface="Sora"/>
              </a:rPr>
              <a:t>O preço se paga sozinho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435"/>
                </a:solidFill>
                <a:latin typeface="Inter"/>
              </a:rPr>
              <a:t>A taxa não foi fixada por disposição a pagar declarada. Foi ancorada na economia que o serviço entrega.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2103120"/>
            <a:ext cx="2761488" cy="26060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02920" y="2377439"/>
            <a:ext cx="239572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2B705"/>
                </a:solidFill>
                <a:latin typeface="Sora"/>
              </a:rPr>
              <a:t>R$ 500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0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B1220"/>
                </a:solidFill>
                <a:latin typeface="Inter SemiBold"/>
              </a:rPr>
              <a:t>Economia entregue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749039"/>
            <a:ext cx="239572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1B2435"/>
                </a:solidFill>
                <a:latin typeface="Inter"/>
              </a:rPr>
              <a:t>Diferença entre comprar na janela certa e comprar em cima da hora.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6120" y="2103120"/>
            <a:ext cx="2761488" cy="26060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429000" y="2377439"/>
            <a:ext cx="239572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2B705"/>
                </a:solidFill>
                <a:latin typeface="Sora"/>
              </a:rPr>
              <a:t>R$ 100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3200400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B1220"/>
                </a:solidFill>
                <a:latin typeface="Inter SemiBold"/>
              </a:rPr>
              <a:t>Taxa de serviço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3749039"/>
            <a:ext cx="239572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1B2435"/>
                </a:solidFill>
                <a:latin typeface="Inter"/>
              </a:rPr>
              <a:t>5,9% do ticket logístico. Piso da faixa de concierge premium.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2103120"/>
            <a:ext cx="2761488" cy="26060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64224" y="2377439"/>
            <a:ext cx="239572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2B705"/>
                </a:solidFill>
                <a:latin typeface="Sora"/>
              </a:rPr>
              <a:t>R$ 400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3200400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B1220"/>
                </a:solidFill>
                <a:latin typeface="Inter SemiBold"/>
              </a:rPr>
              <a:t>Volta para o aluno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4224" y="3749039"/>
            <a:ext cx="239572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1B2435"/>
                </a:solidFill>
                <a:latin typeface="Inter"/>
              </a:rPr>
              <a:t>Economia líquida por módulo, já descontada a taxa que ele paga.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07424" y="2103120"/>
            <a:ext cx="2761488" cy="26060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290304" y="2377439"/>
            <a:ext cx="239572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2B705"/>
                </a:solidFill>
                <a:latin typeface="Sora"/>
              </a:rPr>
              <a:t>4×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90304" y="3200400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B1220"/>
                </a:solidFill>
                <a:latin typeface="Inter SemiBold"/>
              </a:rPr>
              <a:t>Retorno sobre a taxa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0304" y="3749039"/>
            <a:ext cx="239572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1B2435"/>
                </a:solidFill>
                <a:latin typeface="Inter"/>
              </a:rPr>
              <a:t>Paga R$ 100, recebe R$ 400 e não precisa organizar nada.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" y="5120640"/>
            <a:ext cx="11521440" cy="731520"/>
          </a:xfrm>
          <a:prstGeom prst="roundRect">
            <a:avLst>
              <a:gd name="adj" fmla="val 6000"/>
            </a:avLst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94360" y="5330952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E6E8F0"/>
                </a:solidFill>
                <a:latin typeface="Inter"/>
              </a:rPr>
              <a:t>A comissão dos fornecedores responde por 52% da receita por viagem. Se H6 se confirmar em R$ 50, o modelo perde 24% — não deixa de existir.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" y="6638544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 spc="60">
                <a:solidFill>
                  <a:srgbClr val="9AA1AD"/>
                </a:solidFill>
                <a:latin typeface="Inter"/>
              </a:rPr>
              <a:t>GRUPO KAIRÓS · BUSINESS DESIGN · SPRINT 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4512" y="663854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650" b="0">
                <a:solidFill>
                  <a:srgbClr val="9AA1AD"/>
                </a:solidFill>
                <a:latin typeface="Inter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11521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F2B705"/>
                </a:solidFill>
                <a:latin typeface="Sora"/>
              </a:rPr>
              <a:t>05  </a:t>
            </a:r>
            <a:r>
              <a:rPr sz="2300" b="1">
                <a:solidFill>
                  <a:srgbClr val="0B1220"/>
                </a:solidFill>
                <a:latin typeface="Sora"/>
              </a:rPr>
              <a:t>Potencial de mercado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435"/>
                </a:solidFill>
                <a:latin typeface="Inter"/>
              </a:rPr>
              <a:t>Construído de baixo para cima a partir da base do IBGE já usada na Sprint 1. Cada premissa está rastreada.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965960"/>
            <a:ext cx="11521440" cy="841248"/>
          </a:xfrm>
          <a:prstGeom prst="roundRect">
            <a:avLst>
              <a:gd name="adj" fmla="val 6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94359" y="2075688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0B1220"/>
                </a:solidFill>
                <a:latin typeface="Sora"/>
              </a:rPr>
              <a:t>TAM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65960" y="2075688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1220"/>
                </a:solidFill>
                <a:latin typeface="Inter SemiBold"/>
              </a:rPr>
              <a:t>42.000 alunos-viajantes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2404872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B1220"/>
                </a:solidFill>
                <a:latin typeface="Inter"/>
              </a:rPr>
              <a:t>R$ 63,1 mi/ano de receita capturável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57399" y="2926080"/>
            <a:ext cx="8046720" cy="841248"/>
          </a:xfrm>
          <a:prstGeom prst="roundRect">
            <a:avLst>
              <a:gd name="adj" fmla="val 6000"/>
            </a:avLst>
          </a:prstGeom>
          <a:solidFill>
            <a:srgbClr val="D9A3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331719" y="3035808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0B1220"/>
                </a:solidFill>
                <a:latin typeface="Sora"/>
              </a:rPr>
              <a:t>SAM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3035808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1220"/>
                </a:solidFill>
                <a:latin typeface="Inter SemiBold"/>
              </a:rPr>
              <a:t>10.500 alunos · Nova Lima, SP e 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3364992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B1220"/>
                </a:solidFill>
                <a:latin typeface="Inter"/>
              </a:rPr>
              <a:t>R$ 15,8 mi/ano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03320" y="3886200"/>
            <a:ext cx="4754880" cy="841248"/>
          </a:xfrm>
          <a:prstGeom prst="roundRect">
            <a:avLst>
              <a:gd name="adj" fmla="val 6000"/>
            </a:avLst>
          </a:prstGeom>
          <a:solidFill>
            <a:srgbClr val="B88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977639" y="3995928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0B1220"/>
                </a:solidFill>
                <a:latin typeface="Sora"/>
              </a:rPr>
              <a:t>SOM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3995928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1220"/>
                </a:solidFill>
                <a:latin typeface="Inter SemiBold"/>
              </a:rPr>
              <a:t>2.520 alunos no T12 · 42 turmas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4325112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B1220"/>
                </a:solidFill>
                <a:latin typeface="Inter"/>
              </a:rPr>
              <a:t>R$ 3,79 mi/ano · 24% do SAM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4983480"/>
            <a:ext cx="11521440" cy="292608"/>
          </a:xfrm>
          <a:prstGeom prst="rect">
            <a:avLst/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29768" y="5074920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2B705"/>
                </a:solidFill>
                <a:latin typeface="Inter SemiBold"/>
              </a:rPr>
              <a:t>Fim do ano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07208" y="5074920"/>
            <a:ext cx="17007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Turmas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27448" y="5074920"/>
            <a:ext cx="234086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Alunos aderentes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87768" y="5074920"/>
            <a:ext cx="234086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Receita anualizada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48088" y="5074920"/>
            <a:ext cx="188366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% do SAM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276088"/>
            <a:ext cx="1152144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29768" y="5376672"/>
            <a:ext cx="215798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Ano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07208" y="5376672"/>
            <a:ext cx="170078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27448" y="5376672"/>
            <a:ext cx="23408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360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87768" y="5376672"/>
            <a:ext cx="23408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R$ 541 mil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48088" y="5376672"/>
            <a:ext cx="18836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3,4%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5586984"/>
            <a:ext cx="1152144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29768" y="5687568"/>
            <a:ext cx="215798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Ano 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7208" y="5687568"/>
            <a:ext cx="170078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27448" y="5687568"/>
            <a:ext cx="23408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1.200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87768" y="5687568"/>
            <a:ext cx="23408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R$ 1,80 mi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48088" y="5687568"/>
            <a:ext cx="18836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11,4%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5897880"/>
            <a:ext cx="11521440" cy="310896"/>
          </a:xfrm>
          <a:prstGeom prst="rect">
            <a:avLst/>
          </a:prstGeom>
          <a:solidFill>
            <a:srgbClr val="FDF1CB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429768" y="5998464"/>
            <a:ext cx="215798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B1220"/>
                </a:solidFill>
                <a:latin typeface="Inter"/>
              </a:rPr>
              <a:t>Ano 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07208" y="5998464"/>
            <a:ext cx="170078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42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27448" y="5998464"/>
            <a:ext cx="23408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2.520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87768" y="5998464"/>
            <a:ext cx="23408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R$ 3,79 mi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48088" y="5998464"/>
            <a:ext cx="18836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24,0%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" y="6327648"/>
            <a:ext cx="11521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Inter"/>
              </a:rPr>
              <a:t>TAM: IBGE (1,4 mi em pós-graduação) × P2 (12%) × P3 (25%). SAM: 25% do TAM — campi com fluxo de fora. Premissas P2, P3 e P4 a validar.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" y="6638544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 spc="60">
                <a:solidFill>
                  <a:srgbClr val="9AA1AD"/>
                </a:solidFill>
                <a:latin typeface="Inter"/>
              </a:rPr>
              <a:t>GRUPO KAIRÓS · BUSINESS DESIGN · SPRINT 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54512" y="663854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650" b="0">
                <a:solidFill>
                  <a:srgbClr val="9AA1AD"/>
                </a:solidFill>
                <a:latin typeface="Inter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11521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F2B705"/>
                </a:solidFill>
                <a:latin typeface="Sora"/>
              </a:rPr>
              <a:t>06  </a:t>
            </a:r>
            <a:r>
              <a:rPr sz="2300" b="1">
                <a:solidFill>
                  <a:srgbClr val="0B1220"/>
                </a:solidFill>
                <a:latin typeface="Sora"/>
              </a:rPr>
              <a:t>Turmas ativas por trimestre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435"/>
                </a:solidFill>
                <a:latin typeface="Inter"/>
              </a:rPr>
              <a:t>O ritmo de contratação é o motor do modelo. Cada turma contratada gera 108 viagens por trimestre durante 20 meses.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5257800"/>
            <a:ext cx="10972800" cy="10972"/>
          </a:xfrm>
          <a:prstGeom prst="rect">
            <a:avLst/>
          </a:prstGeom>
          <a:solidFill>
            <a:srgbClr val="E3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069848" y="5207508"/>
            <a:ext cx="219456" cy="50291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78407" y="4988052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0B1220"/>
                </a:solidFill>
                <a:latin typeface="Inter SemiBold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1316736" y="5157216"/>
            <a:ext cx="219456" cy="100583"/>
          </a:xfrm>
          <a:prstGeom prst="rect">
            <a:avLst/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77240" y="5330952"/>
            <a:ext cx="868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Inter"/>
              </a:rPr>
              <a:t>T1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2495" y="5207508"/>
            <a:ext cx="219456" cy="50291"/>
          </a:xfrm>
          <a:prstGeom prst="rect">
            <a:avLst/>
          </a:prstGeom>
          <a:solidFill>
            <a:srgbClr val="C9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929384" y="5157216"/>
            <a:ext cx="219456" cy="100583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837943" y="4937759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0B1220"/>
                </a:solidFill>
                <a:latin typeface="Inter SemiBold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76272" y="5056632"/>
            <a:ext cx="219456" cy="201167"/>
          </a:xfrm>
          <a:prstGeom prst="rect">
            <a:avLst/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636775" y="5330952"/>
            <a:ext cx="868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Inter"/>
              </a:rPr>
              <a:t>T2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42032" y="5157216"/>
            <a:ext cx="219456" cy="100583"/>
          </a:xfrm>
          <a:prstGeom prst="rect">
            <a:avLst/>
          </a:prstGeom>
          <a:solidFill>
            <a:srgbClr val="C9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2788920" y="5056632"/>
            <a:ext cx="219456" cy="201167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2697479" y="4837176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0B1220"/>
                </a:solidFill>
                <a:latin typeface="Inter SemiBold"/>
              </a:rPr>
              <a:t>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35808" y="4905756"/>
            <a:ext cx="219456" cy="352044"/>
          </a:xfrm>
          <a:prstGeom prst="rect">
            <a:avLst/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496312" y="5330952"/>
            <a:ext cx="868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Inter"/>
              </a:rPr>
              <a:t>T3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5106924"/>
            <a:ext cx="219456" cy="150876"/>
          </a:xfrm>
          <a:prstGeom prst="rect">
            <a:avLst/>
          </a:prstGeom>
          <a:solidFill>
            <a:srgbClr val="C9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648456" y="4956048"/>
            <a:ext cx="219456" cy="3017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557015" y="4736592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0B1220"/>
                </a:solidFill>
                <a:latin typeface="Inter SemiBold"/>
              </a:rPr>
              <a:t>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95344" y="4754880"/>
            <a:ext cx="219456" cy="502919"/>
          </a:xfrm>
          <a:prstGeom prst="rect">
            <a:avLst/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355848" y="5330952"/>
            <a:ext cx="868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Inter"/>
              </a:rPr>
              <a:t>T4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61104" y="5006340"/>
            <a:ext cx="219456" cy="251459"/>
          </a:xfrm>
          <a:prstGeom prst="rect">
            <a:avLst/>
          </a:prstGeom>
          <a:solidFill>
            <a:srgbClr val="C9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4507992" y="4805172"/>
            <a:ext cx="219456" cy="452627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416552" y="4585716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0B1220"/>
                </a:solidFill>
                <a:latin typeface="Inter SemiBold"/>
              </a:rPr>
              <a:t>9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54880" y="4503420"/>
            <a:ext cx="219456" cy="754380"/>
          </a:xfrm>
          <a:prstGeom prst="rect">
            <a:avLst/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4215384" y="5330952"/>
            <a:ext cx="868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Inter"/>
              </a:rPr>
              <a:t>T5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0" y="4905756"/>
            <a:ext cx="219456" cy="352044"/>
          </a:xfrm>
          <a:prstGeom prst="rect">
            <a:avLst/>
          </a:prstGeom>
          <a:solidFill>
            <a:srgbClr val="C9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367527" y="4654296"/>
            <a:ext cx="219456" cy="60350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276088" y="4434840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0B1220"/>
                </a:solidFill>
                <a:latin typeface="Inter SemiBold"/>
              </a:rPr>
              <a:t>12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14416" y="4201668"/>
            <a:ext cx="219456" cy="1056131"/>
          </a:xfrm>
          <a:prstGeom prst="rect">
            <a:avLst/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074920" y="5330952"/>
            <a:ext cx="868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Inter"/>
              </a:rPr>
              <a:t>T6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80176" y="4805172"/>
            <a:ext cx="219456" cy="452627"/>
          </a:xfrm>
          <a:prstGeom prst="rect">
            <a:avLst/>
          </a:prstGeom>
          <a:solidFill>
            <a:srgbClr val="C9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6227064" y="4453128"/>
            <a:ext cx="219456" cy="804671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135624" y="4233672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0B1220"/>
                </a:solidFill>
                <a:latin typeface="Inter SemiBold"/>
              </a:rPr>
              <a:t>16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73952" y="3849624"/>
            <a:ext cx="219456" cy="1408176"/>
          </a:xfrm>
          <a:prstGeom prst="rect">
            <a:avLst/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934456" y="5330952"/>
            <a:ext cx="868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Inter"/>
              </a:rPr>
              <a:t>T7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9712" y="4654296"/>
            <a:ext cx="219456" cy="603504"/>
          </a:xfrm>
          <a:prstGeom prst="rect">
            <a:avLst/>
          </a:prstGeom>
          <a:solidFill>
            <a:srgbClr val="C9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7086600" y="4251960"/>
            <a:ext cx="219456" cy="1005839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995160" y="4032504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0B1220"/>
                </a:solidFill>
                <a:latin typeface="Inter SemiBold"/>
              </a:rPr>
              <a:t>20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333488" y="3447288"/>
            <a:ext cx="219456" cy="1810511"/>
          </a:xfrm>
          <a:prstGeom prst="rect">
            <a:avLst/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793992" y="5330952"/>
            <a:ext cx="868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Inter"/>
              </a:rPr>
              <a:t>T8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699248" y="4503420"/>
            <a:ext cx="219456" cy="754380"/>
          </a:xfrm>
          <a:prstGeom prst="rect">
            <a:avLst/>
          </a:prstGeom>
          <a:solidFill>
            <a:srgbClr val="C9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7946136" y="4000500"/>
            <a:ext cx="219456" cy="125730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854696" y="3781044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0B1220"/>
                </a:solidFill>
                <a:latin typeface="Inter SemiBold"/>
              </a:rPr>
              <a:t>25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193024" y="3044952"/>
            <a:ext cx="219456" cy="2212847"/>
          </a:xfrm>
          <a:prstGeom prst="rect">
            <a:avLst/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7653527" y="5330952"/>
            <a:ext cx="868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Inter"/>
              </a:rPr>
              <a:t>T9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558784" y="4352544"/>
            <a:ext cx="219456" cy="905255"/>
          </a:xfrm>
          <a:prstGeom prst="rect">
            <a:avLst/>
          </a:prstGeom>
          <a:solidFill>
            <a:srgbClr val="C9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8805672" y="3749039"/>
            <a:ext cx="219456" cy="150876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8714232" y="3529583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0B1220"/>
                </a:solidFill>
                <a:latin typeface="Inter SemiBold"/>
              </a:rPr>
              <a:t>30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052559" y="2743200"/>
            <a:ext cx="219456" cy="2514600"/>
          </a:xfrm>
          <a:prstGeom prst="rect">
            <a:avLst/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8513063" y="5330952"/>
            <a:ext cx="868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Inter"/>
              </a:rPr>
              <a:t>T10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418319" y="4201668"/>
            <a:ext cx="219456" cy="1056131"/>
          </a:xfrm>
          <a:prstGeom prst="rect">
            <a:avLst/>
          </a:prstGeom>
          <a:solidFill>
            <a:srgbClr val="C9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ectangle 54"/>
          <p:cNvSpPr/>
          <p:nvPr/>
        </p:nvSpPr>
        <p:spPr>
          <a:xfrm>
            <a:off x="9665207" y="3447288"/>
            <a:ext cx="219456" cy="1810511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9573767" y="3227832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0B1220"/>
                </a:solidFill>
                <a:latin typeface="Inter SemiBold"/>
              </a:rPr>
              <a:t>36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912096" y="2491740"/>
            <a:ext cx="219456" cy="2766060"/>
          </a:xfrm>
          <a:prstGeom prst="rect">
            <a:avLst/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9372599" y="5330952"/>
            <a:ext cx="868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Inter"/>
              </a:rPr>
              <a:t>T11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277856" y="4050791"/>
            <a:ext cx="219456" cy="1207008"/>
          </a:xfrm>
          <a:prstGeom prst="rect">
            <a:avLst/>
          </a:prstGeom>
          <a:solidFill>
            <a:srgbClr val="C9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ectangle 59"/>
          <p:cNvSpPr/>
          <p:nvPr/>
        </p:nvSpPr>
        <p:spPr>
          <a:xfrm>
            <a:off x="10524744" y="3145536"/>
            <a:ext cx="219456" cy="2112263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10433304" y="2926080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0B1220"/>
                </a:solidFill>
                <a:latin typeface="Inter SemiBold"/>
              </a:rPr>
              <a:t>42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771632" y="2240280"/>
            <a:ext cx="219456" cy="3017520"/>
          </a:xfrm>
          <a:prstGeom prst="rect">
            <a:avLst/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10232136" y="5330952"/>
            <a:ext cx="868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Inter"/>
              </a:rPr>
              <a:t>T12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" y="5806440"/>
            <a:ext cx="146304" cy="146304"/>
          </a:xfrm>
          <a:prstGeom prst="rect">
            <a:avLst/>
          </a:prstGeom>
          <a:solidFill>
            <a:srgbClr val="C9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1060704" y="5797296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Pessimista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743200" y="5806440"/>
            <a:ext cx="146304" cy="14630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2980944" y="5797296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Tendencial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663440" y="5806440"/>
            <a:ext cx="146304" cy="146304"/>
          </a:xfrm>
          <a:prstGeom prst="rect">
            <a:avLst/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4901183" y="5797296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Otimista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0040" y="6144768"/>
            <a:ext cx="11521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Inter"/>
              </a:rPr>
              <a:t>No cenário pessimista o T1 fecha sem turma: o primeiro trimestre é consumido pela negociação com a coordenação.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20040" y="6638544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 spc="60">
                <a:solidFill>
                  <a:srgbClr val="9AA1AD"/>
                </a:solidFill>
                <a:latin typeface="Inter"/>
              </a:rPr>
              <a:t>GRUPO KAIRÓS · BUSINESS DESIGN · SPRINT 04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54512" y="663854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650" b="0">
                <a:solidFill>
                  <a:srgbClr val="9AA1AD"/>
                </a:solidFill>
                <a:latin typeface="Inter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11521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F2B705"/>
                </a:solidFill>
                <a:latin typeface="Sora"/>
              </a:rPr>
              <a:t>07  </a:t>
            </a:r>
            <a:r>
              <a:rPr sz="2300" b="1">
                <a:solidFill>
                  <a:srgbClr val="0B1220"/>
                </a:solidFill>
                <a:latin typeface="Sora"/>
              </a:rPr>
              <a:t>Três cenários de receita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435"/>
                </a:solidFill>
                <a:latin typeface="Inter"/>
              </a:rPr>
              <a:t>Cada cenário move quatro variáveis juntas: adesão, taxa, comissão e ritmo de contratação.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2057400"/>
            <a:ext cx="3749039" cy="19202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338327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8A93A6"/>
                </a:solidFill>
                <a:latin typeface="Sora"/>
              </a:rPr>
              <a:t>R$ 1,42 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33832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B1220"/>
                </a:solidFill>
                <a:latin typeface="Inter SemiBold"/>
              </a:rPr>
              <a:t>Pessimista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703320"/>
            <a:ext cx="3383279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1B2435"/>
                </a:solidFill>
                <a:latin typeface="Inter"/>
              </a:rPr>
              <a:t>Adesão 50% · taxa R$ 50 · comissão 5% · 24 turmas no T12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24528" y="2057400"/>
            <a:ext cx="3749039" cy="19202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407408" y="2331720"/>
            <a:ext cx="338327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2B705"/>
                </a:solidFill>
                <a:latin typeface="Sora"/>
              </a:rPr>
              <a:t>R$ 4,58 mi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07408" y="3154680"/>
            <a:ext cx="33832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B1220"/>
                </a:solidFill>
                <a:latin typeface="Inter SemiBold"/>
              </a:rPr>
              <a:t>Tendencial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3703320"/>
            <a:ext cx="3383279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1B2435"/>
                </a:solidFill>
                <a:latin typeface="Inter"/>
              </a:rPr>
              <a:t>Adesão 60% · taxa R$ 100 · comissão 6,4% · 42 turmas no T12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9872" y="2057400"/>
            <a:ext cx="3749039" cy="19202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302752" y="2331720"/>
            <a:ext cx="338327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2D6A4F"/>
                </a:solidFill>
                <a:latin typeface="Sora"/>
              </a:rPr>
              <a:t>R$ 11,96 mi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2" y="3154680"/>
            <a:ext cx="33832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B1220"/>
                </a:solidFill>
                <a:latin typeface="Inter SemiBold"/>
              </a:rPr>
              <a:t>Otimista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2" y="3703320"/>
            <a:ext cx="3383279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1B2435"/>
                </a:solidFill>
                <a:latin typeface="Inter"/>
              </a:rPr>
              <a:t>Adesão 70% · taxa R$ 150 · comissão 8% · 60 turmas no T12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4206240"/>
            <a:ext cx="11521440" cy="347472"/>
          </a:xfrm>
          <a:prstGeom prst="rect">
            <a:avLst/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29768" y="4297679"/>
            <a:ext cx="165506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2B705"/>
                </a:solidFill>
                <a:latin typeface="Inter SemiBold"/>
              </a:rPr>
              <a:t>Cenário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04288" y="4297679"/>
            <a:ext cx="12435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Ano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67328" y="4297679"/>
            <a:ext cx="13807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Ano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7528" y="4297679"/>
            <a:ext cx="13807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Ano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67728" y="4297679"/>
            <a:ext cx="15636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Total 3 anos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50807" y="4297679"/>
            <a:ext cx="12435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Viagens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13847" y="4297679"/>
            <a:ext cx="15179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GMV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4553712"/>
            <a:ext cx="115214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29768" y="4654296"/>
            <a:ext cx="16550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Pessimista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04288" y="4654296"/>
            <a:ext cx="12435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R$ 73 mil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67328" y="4654296"/>
            <a:ext cx="13807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R$ 401 mil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67528" y="4654296"/>
            <a:ext cx="13807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R$ 948 mil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67728" y="4654296"/>
            <a:ext cx="15636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R$ 1,42 mi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50807" y="4654296"/>
            <a:ext cx="12435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9.360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13847" y="4654296"/>
            <a:ext cx="15179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R$ 15,9 mi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4919472"/>
            <a:ext cx="11521440" cy="365760"/>
          </a:xfrm>
          <a:prstGeom prst="rect">
            <a:avLst/>
          </a:prstGeom>
          <a:solidFill>
            <a:srgbClr val="FDF1CB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429768" y="5020056"/>
            <a:ext cx="16550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B1220"/>
                </a:solidFill>
                <a:latin typeface="Inter"/>
              </a:rPr>
              <a:t>Tendencial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04288" y="5020056"/>
            <a:ext cx="12435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R$ 293 mil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67328" y="5020056"/>
            <a:ext cx="13807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R$ 1,29 mi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67528" y="5020056"/>
            <a:ext cx="13807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R$ 3,00 mi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67728" y="5020056"/>
            <a:ext cx="15636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R$ 4,58 mi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50807" y="5020056"/>
            <a:ext cx="12435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21.924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13847" y="5020056"/>
            <a:ext cx="15179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R$ 37,3 mi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5285232"/>
            <a:ext cx="115214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429768" y="5385816"/>
            <a:ext cx="16550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Otimista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04288" y="5385816"/>
            <a:ext cx="12435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R$ 829 mil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767328" y="5385816"/>
            <a:ext cx="13807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R$ 3,60 mi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67528" y="5385816"/>
            <a:ext cx="13807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R$ 7,53 mi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67728" y="5385816"/>
            <a:ext cx="15636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R$ 11,96 mi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50807" y="5385816"/>
            <a:ext cx="12435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41.832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13847" y="5385816"/>
            <a:ext cx="15179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R$ 71,1 mi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20040" y="5669280"/>
            <a:ext cx="11521440" cy="384048"/>
          </a:xfrm>
          <a:prstGeom prst="roundRect">
            <a:avLst>
              <a:gd name="adj" fmla="val 8000"/>
            </a:avLst>
          </a:prstGeom>
          <a:solidFill>
            <a:srgbClr val="FDF1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594360" y="5760720"/>
            <a:ext cx="10972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B1220"/>
                </a:solidFill>
                <a:latin typeface="Inter SemiBold"/>
              </a:rPr>
              <a:t>No cenário tendencial, a economia devolvida aos alunos (R$ 8,77 mi) é quase o dobro da receita da empresa.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0040" y="6638544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 spc="60">
                <a:solidFill>
                  <a:srgbClr val="9AA1AD"/>
                </a:solidFill>
                <a:latin typeface="Inter"/>
              </a:rPr>
              <a:t>GRUPO KAIRÓS · BUSINESS DESIGN · SPRINT 04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54512" y="663854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650" b="0">
                <a:solidFill>
                  <a:srgbClr val="9AA1AD"/>
                </a:solidFill>
                <a:latin typeface="Inter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11521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F2B705"/>
                </a:solidFill>
                <a:latin typeface="Sora"/>
              </a:rPr>
              <a:t>08  </a:t>
            </a:r>
            <a:r>
              <a:rPr sz="2300" b="1">
                <a:solidFill>
                  <a:srgbClr val="0B1220"/>
                </a:solidFill>
                <a:latin typeface="Sora"/>
              </a:rPr>
              <a:t>A variável crítica não é a adesão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435"/>
                </a:solidFill>
                <a:latin typeface="Inter"/>
              </a:rPr>
              <a:t>Cada variável movida isoladamente, com as demais no cenário tendencial. Base: R$ 4,58 mi em 3 anos.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0" y="2103120"/>
            <a:ext cx="10972" cy="3017520"/>
          </a:xfrm>
          <a:prstGeom prst="rect">
            <a:avLst/>
          </a:prstGeom>
          <a:solidFill>
            <a:srgbClr val="E3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657599" y="2286000"/>
            <a:ext cx="2377440" cy="31089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035040" y="2286000"/>
            <a:ext cx="2377440" cy="31089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20040" y="2322576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B1220"/>
                </a:solidFill>
                <a:latin typeface="Inter SemiBold"/>
              </a:rPr>
              <a:t>Ritmo de contratação de turmas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41080" y="2322576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B1220"/>
                </a:solidFill>
                <a:latin typeface="Inter SemiBold"/>
              </a:rPr>
              <a:t>−30% / +30%</a:t>
            </a:r>
          </a:p>
        </p:txBody>
      </p:sp>
      <p:sp>
        <p:nvSpPr>
          <p:cNvPr id="9" name="Rectangle 8"/>
          <p:cNvSpPr/>
          <p:nvPr/>
        </p:nvSpPr>
        <p:spPr>
          <a:xfrm>
            <a:off x="4141012" y="3035808"/>
            <a:ext cx="1894027" cy="310896"/>
          </a:xfrm>
          <a:prstGeom prst="rect">
            <a:avLst/>
          </a:prstGeom>
          <a:solidFill>
            <a:srgbClr val="C9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035040" y="3035808"/>
            <a:ext cx="1894027" cy="310896"/>
          </a:xfrm>
          <a:prstGeom prst="rect">
            <a:avLst/>
          </a:prstGeom>
          <a:solidFill>
            <a:srgbClr val="C9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20040" y="3072384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B2435"/>
                </a:solidFill>
                <a:latin typeface="Inter"/>
              </a:rPr>
              <a:t>Taxa de serviço (R$ 50 / R$ 150)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41080" y="3072384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−23,9% / +23,9%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18380" y="3785615"/>
            <a:ext cx="1616659" cy="310896"/>
          </a:xfrm>
          <a:prstGeom prst="rect">
            <a:avLst/>
          </a:prstGeom>
          <a:solidFill>
            <a:srgbClr val="C9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035040" y="3785615"/>
            <a:ext cx="1616659" cy="310896"/>
          </a:xfrm>
          <a:prstGeom prst="rect">
            <a:avLst/>
          </a:prstGeom>
          <a:solidFill>
            <a:srgbClr val="C9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20040" y="3822191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B2435"/>
                </a:solidFill>
                <a:latin typeface="Inter"/>
              </a:rPr>
              <a:t>Comissão sobre bloqueio (4% / 9%)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3822191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−19,5% / +21,2%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11598" y="4535424"/>
            <a:ext cx="1323441" cy="310896"/>
          </a:xfrm>
          <a:prstGeom prst="rect">
            <a:avLst/>
          </a:prstGeom>
          <a:solidFill>
            <a:srgbClr val="C9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035040" y="4535424"/>
            <a:ext cx="1323441" cy="310896"/>
          </a:xfrm>
          <a:prstGeom prst="rect">
            <a:avLst/>
          </a:prstGeom>
          <a:solidFill>
            <a:srgbClr val="C9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20040" y="4572000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B2435"/>
                </a:solidFill>
                <a:latin typeface="Inter"/>
              </a:rPr>
              <a:t>Adesão da turma (50% / 70%)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1080" y="4572000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−16,7% / +16,7%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5120640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6B7280"/>
                </a:solidFill>
                <a:latin typeface="Inter"/>
              </a:rPr>
              <a:t>base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040" y="5486400"/>
            <a:ext cx="11521440" cy="731520"/>
          </a:xfrm>
          <a:prstGeom prst="roundRect">
            <a:avLst>
              <a:gd name="adj" fmla="val 6000"/>
            </a:avLst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94360" y="5596128"/>
            <a:ext cx="109728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E6E8F0"/>
                </a:solidFill>
                <a:latin typeface="Inter"/>
              </a:rPr>
              <a:t>Desde a Sprint 1 tratamos a adesão como o risco principal. Ela é a menos determinante das quatro. O que decide o resultado é assinar turmas — uma turma a mais vale mais do que dez pontos de adesão.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" y="6638544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 spc="60">
                <a:solidFill>
                  <a:srgbClr val="9AA1AD"/>
                </a:solidFill>
                <a:latin typeface="Inter"/>
              </a:rPr>
              <a:t>GRUPO KAIRÓS · BUSINESS DESIGN · SPRINT 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4512" y="663854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650" b="0">
                <a:solidFill>
                  <a:srgbClr val="9AA1AD"/>
                </a:solidFill>
                <a:latin typeface="Inter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11521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F2B705"/>
                </a:solidFill>
                <a:latin typeface="Sora"/>
              </a:rPr>
              <a:t>09  </a:t>
            </a:r>
            <a:r>
              <a:rPr sz="2300" b="1">
                <a:solidFill>
                  <a:srgbClr val="FFFFFF"/>
                </a:solidFill>
                <a:latin typeface="Sora"/>
              </a:rPr>
              <a:t>O que a Sprint 4 entrega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188720"/>
            <a:ext cx="99669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E6E8F0"/>
                </a:solidFill>
                <a:latin typeface="Inter"/>
              </a:rPr>
              <a:t>Em 3 anos, no cenário tendencial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508760"/>
            <a:ext cx="9966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700" b="1">
                <a:solidFill>
                  <a:srgbClr val="F2B705"/>
                </a:solidFill>
                <a:latin typeface="Sora"/>
              </a:rPr>
              <a:t>R$ 4,58 mi</a:t>
            </a:r>
            <a:r>
              <a:rPr sz="2700" b="1">
                <a:solidFill>
                  <a:srgbClr val="FFFFFF"/>
                </a:solidFill>
                <a:latin typeface="Sora"/>
              </a:rPr>
              <a:t> de receita e </a:t>
            </a:r>
            <a:r>
              <a:rPr sz="2700" b="1">
                <a:solidFill>
                  <a:srgbClr val="F2B705"/>
                </a:solidFill>
                <a:latin typeface="Sora"/>
              </a:rPr>
              <a:t>R$ 8,77 mi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700" b="1">
                <a:solidFill>
                  <a:srgbClr val="FFFFFF"/>
                </a:solidFill>
                <a:latin typeface="Sora"/>
              </a:rPr>
              <a:t>devolvidos ao bolso dos alunos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2926080"/>
            <a:ext cx="2761488" cy="1188720"/>
          </a:xfrm>
          <a:prstGeom prst="roundRect">
            <a:avLst>
              <a:gd name="adj" fmla="val 6000"/>
            </a:avLst>
          </a:prstGeom>
          <a:solidFill>
            <a:srgbClr val="1B2435"/>
          </a:solidFill>
          <a:ln w="9525">
            <a:solidFill>
              <a:srgbClr val="2A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2920" y="312724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>
                <a:solidFill>
                  <a:srgbClr val="F2B705"/>
                </a:solidFill>
                <a:latin typeface="Sora"/>
              </a:rPr>
              <a:t>21.924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675887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E6E8F0"/>
                </a:solidFill>
                <a:latin typeface="Inter"/>
              </a:rPr>
              <a:t>viagens organizadas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6120" y="2926080"/>
            <a:ext cx="2761488" cy="1188720"/>
          </a:xfrm>
          <a:prstGeom prst="roundRect">
            <a:avLst>
              <a:gd name="adj" fmla="val 6000"/>
            </a:avLst>
          </a:prstGeom>
          <a:solidFill>
            <a:srgbClr val="1B2435"/>
          </a:solidFill>
          <a:ln w="9525">
            <a:solidFill>
              <a:srgbClr val="2A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429000" y="312724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>
                <a:solidFill>
                  <a:srgbClr val="F2B705"/>
                </a:solidFill>
                <a:latin typeface="Sora"/>
              </a:rPr>
              <a:t>R$ 37,3 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3675887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E6E8F0"/>
                </a:solidFill>
                <a:latin typeface="Inter"/>
              </a:rPr>
              <a:t>volume transacionado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2926080"/>
            <a:ext cx="2761488" cy="1188720"/>
          </a:xfrm>
          <a:prstGeom prst="roundRect">
            <a:avLst>
              <a:gd name="adj" fmla="val 6000"/>
            </a:avLst>
          </a:prstGeom>
          <a:solidFill>
            <a:srgbClr val="1B2435"/>
          </a:solidFill>
          <a:ln w="9525">
            <a:solidFill>
              <a:srgbClr val="2A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64224" y="312724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>
                <a:solidFill>
                  <a:srgbClr val="F2B705"/>
                </a:solidFill>
                <a:latin typeface="Sora"/>
              </a:rPr>
              <a:t>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3675887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E6E8F0"/>
                </a:solidFill>
                <a:latin typeface="Inter"/>
              </a:rPr>
              <a:t>turmas ativas no T12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07424" y="2926080"/>
            <a:ext cx="2761488" cy="1188720"/>
          </a:xfrm>
          <a:prstGeom prst="roundRect">
            <a:avLst>
              <a:gd name="adj" fmla="val 6000"/>
            </a:avLst>
          </a:prstGeom>
          <a:solidFill>
            <a:srgbClr val="1B2435"/>
          </a:solidFill>
          <a:ln w="9525">
            <a:solidFill>
              <a:srgbClr val="2A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290304" y="312724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>
                <a:solidFill>
                  <a:srgbClr val="F2B705"/>
                </a:solidFill>
                <a:latin typeface="Sora"/>
              </a:rPr>
              <a:t>24%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90304" y="3675887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E6E8F0"/>
                </a:solidFill>
                <a:latin typeface="Inter"/>
              </a:rPr>
              <a:t>do SAM alcançado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4389120"/>
            <a:ext cx="11521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spc="150">
                <a:solidFill>
                  <a:srgbClr val="F2B705"/>
                </a:solidFill>
                <a:latin typeface="Inter SemiBold"/>
              </a:rPr>
              <a:t>PRÓXIMO PASSO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709160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50" b="0">
                <a:solidFill>
                  <a:srgbClr val="E6E8F0"/>
                </a:solidFill>
                <a:latin typeface="Inter"/>
              </a:rPr>
              <a:t>Validar o ritmo de contratação de turmas — a variável de maior impacto e a única sem referência externa.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5532120"/>
            <a:ext cx="32278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Sora"/>
              </a:rPr>
              <a:t>Ant</a:t>
            </a:r>
            <a:r>
              <a:rPr sz="2200" b="1">
                <a:solidFill>
                  <a:srgbClr val="F2B705"/>
                </a:solidFill>
                <a:latin typeface="Sora"/>
              </a:rPr>
              <a:t>é</a:t>
            </a:r>
            <a:r>
              <a:rPr sz="2200" b="1">
                <a:solidFill>
                  <a:srgbClr val="FFFFFF"/>
                </a:solidFill>
                <a:latin typeface="Sora"/>
              </a:rPr>
              <a:t>via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6035040"/>
            <a:ext cx="50566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spc="200">
                <a:solidFill>
                  <a:srgbClr val="E6E8F0"/>
                </a:solidFill>
                <a:latin typeface="Inter"/>
              </a:rPr>
              <a:t>A LOGÍSTICA DA SUA FORMAÇÃO, NO TEMPO CERTO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" y="6638544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 spc="60">
                <a:solidFill>
                  <a:srgbClr val="8A93A6"/>
                </a:solidFill>
                <a:latin typeface="Inter"/>
              </a:rPr>
              <a:t>GRUPO KAIRÓS · BUSINESS DESIGN · SPRINT 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4512" y="663854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650" b="0">
                <a:solidFill>
                  <a:srgbClr val="8A93A6"/>
                </a:solidFill>
                <a:latin typeface="Inter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