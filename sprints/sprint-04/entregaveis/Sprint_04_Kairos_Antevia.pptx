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56048" y="1417320"/>
            <a:ext cx="2286000" cy="310896"/>
          </a:xfrm>
          <a:prstGeom prst="roundRect">
            <a:avLst>
              <a:gd name="adj" fmla="val 3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956048" y="149961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20">
                <a:solidFill>
                  <a:srgbClr val="F2B705"/>
                </a:solidFill>
                <a:latin typeface="Inter SemiBold"/>
              </a:rPr>
              <a:t>SPRINT 04 · VIABILIDADE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457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Sora"/>
              </a:rPr>
              <a:t>Ant</a:t>
            </a:r>
            <a:r>
              <a:rPr sz="7200" b="1">
                <a:solidFill>
                  <a:srgbClr val="F2B705"/>
                </a:solidFill>
                <a:latin typeface="Sora"/>
              </a:rPr>
              <a:t>é</a:t>
            </a:r>
            <a:r>
              <a:rPr sz="7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spc="22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224528"/>
            <a:ext cx="914400" cy="1828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4526280"/>
            <a:ext cx="9445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Inter"/>
              </a:rPr>
              <a:t>Projeção de receitas · 12 trimestres · 3 cenários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8348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2B705"/>
                </a:solidFill>
                <a:latin typeface="Inter"/>
              </a:rPr>
              <a:t>R$ 1,10 mi em 3 anos — e um primeiro ano de R$ 71 mil que é o verdadeiro desafio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AEB6C6"/>
                </a:solidFill>
                <a:latin typeface="Inter"/>
              </a:rPr>
              <a:t>Grupo Kairós · Business Designer · Fundação Dom Cabral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01  </a:t>
            </a:r>
            <a:r>
              <a:rPr sz="2300" b="1">
                <a:solidFill>
                  <a:srgbClr val="0B1220"/>
                </a:solidFill>
                <a:latin typeface="Sora"/>
              </a:rPr>
              <a:t>O que vendemos, para quem e como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meta do ano 1 é captar 100 alunos, somando todas as turmas e instituições. Cada aluno rende 12 módulos ao longo de 20 meses.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Taxa por 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 aluno, por encontro cursado. Adesão voluntária, módulo a módulo.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2B705"/>
                </a:solidFill>
                <a:latin typeface="Sora"/>
              </a:rPr>
              <a:t>3% → 6,4%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pelos fornecedores. Cresce com o volume — começa em 3%, não em 6,4%.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Alunos no ano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 meta de captação, somando turmas e instituições. É a variável dominante do modelo.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Custo para a escola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Empresta CNPJ, turma e calendário, sem desembolso.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6636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3095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unidade é o aluno captado, não a turma. Isso tira do modelo as duas premissas mais frágeis que ele tinha: tamanho da turma e adesão dentro dela.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02  </a:t>
            </a:r>
            <a:r>
              <a:rPr sz="2300" b="1">
                <a:solidFill>
                  <a:srgbClr val="0B1220"/>
                </a:solidFill>
                <a:latin typeface="Sora"/>
              </a:rPr>
              <a:t>O poder de negociação é conquistado, não assumido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Por que uma companhia aérea venderia mais barato para nós do que vende direto para o aluno? No ano 1, não venderia.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671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8488" y="2148840"/>
            <a:ext cx="34838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Como compramos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1807" y="2148840"/>
            <a:ext cx="1106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Ticket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2148840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líquida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504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Retorno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2488" y="214884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R$/viagem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04872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Ano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2505456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Apoio da consolidadora — só antecipação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2505456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505456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1,8×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7376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2488" y="2505456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R$ 157,60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80360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768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2980944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Bloqueios pontuais onde a rota concentra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7" y="2980944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980944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3,0×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7376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62488" y="2980944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R$ 190,00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355848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3456432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Convênio próprio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3456432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R$ 1.700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345643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4,0×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7376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62488" y="3456432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R$ 208,80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A ÚNICA ALAVANCA DO ANO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B2435"/>
                </a:solidFill>
                <a:latin typeface="Inter"/>
              </a:rPr>
              <a:t>Antecipação. Comprar aos 90 dias em vez de menos de 30 é a curva tarifária pública — não exige negociar com fornecedor nenhum. É gratuita e está disponível no primeiro dia.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4652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O TESTE CONTRA O VOLUME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Faixas da Velt: R$ 250–500 mil/ano rende 3–5%; acima de R$ 1 mi/ano, 8–12%. Com 100 alunos, o volume aéreo do ano 1 é R$ 518 mil — na entrada da faixa.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263640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Faixas apuradas na entrevista com Bruno Brant (Velt), Sprint 1. As comissões usadas nos anos 2 e 3 ficam abaixo do que o volume permitiria.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03  </a:t>
            </a:r>
            <a:r>
              <a:rPr sz="2300" b="1">
                <a:solidFill>
                  <a:srgbClr val="0B1220"/>
                </a:solidFill>
                <a:latin typeface="Sora"/>
              </a:rPr>
              <a:t>A concentração é o que liga a tarifa de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Tarifa de grupo exige cerca de 10 passageiros na mesma rota. A pergunta certa é quantos alunos a operação reúne no mesmo campus e na mesma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95097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523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Alunos no mesmo campus/data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29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5 origens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31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6 origens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8 origens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7" y="2194560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Forma grupo?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950976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100 alunos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20,0 pax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16,7 pax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12,5 pax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7" y="2551175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sim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50 alunos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10,0 pax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8,3 pax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6,2 pax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7" y="2971799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só com 5 origens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25 alunos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5,0 pax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4,2 pax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3,1 pax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7" y="3392423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1 turma de 40, metade viajando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29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4,0 pax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3,3 pax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2,5 pax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7" y="3813048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2103120"/>
            <a:ext cx="1783080" cy="2029968"/>
          </a:xfrm>
          <a:prstGeom prst="roundRect">
            <a:avLst>
              <a:gd name="adj" fmla="val 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241280" y="2331720"/>
            <a:ext cx="1417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2B705"/>
                </a:solidFill>
                <a:latin typeface="Sora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E6E8F0"/>
                </a:solidFill>
                <a:latin typeface="Inter"/>
              </a:rPr>
              <a:t>passageiros na mesma rota é o mínimo de mercado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" y="4343400"/>
            <a:ext cx="11521440" cy="77724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436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Nenhuma turma isolada forma grupo. A concentração tem que vir de somar turmas no mesmo campus e data.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2920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Campus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A nova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A negociação passa a ser por campus numa data, somando alunos de várias turmas.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528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407408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50 a 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Alunos por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É o limiar de concentração que liga a tarifa de grupo.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19872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302752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Nosso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O bloqueio é da Antévia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Se quem agrega o volume é a plataforma, o ativo passa a ser nosso.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04  </a:t>
            </a:r>
            <a:r>
              <a:rPr sz="2300" b="1">
                <a:solidFill>
                  <a:srgbClr val="0B1220"/>
                </a:solidFill>
                <a:latin typeface="Sora"/>
              </a:rPr>
              <a:t>A economia por módulo, fase a fase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Hoje o aluno de fora desembolsa R$ 2.200 por módulo comprando em cima da hora.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615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4408" y="219456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1 (ano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2 (ano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5207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3 (ano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Aéreo (ida e volta)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551175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65207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Hotel (2 diárias)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2971799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7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Traslado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392423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7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Subtotal logístico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408" y="3813048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R$ 2.200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R$ 1.800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5207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R$ 1.700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133087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29768" y="4233672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Taxa de serviço Antévia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64408" y="4233672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3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5207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553712"/>
            <a:ext cx="1152144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4654296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Economia líquida do aluno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4408" y="4654296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9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5207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R$ 400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974336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29768" y="5074920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Redução no desembolso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64408" y="5074920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93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8,2%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79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13,6%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5207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18,2%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0040" y="534924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94360" y="551383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meta de −15% a −25% da Sprint 1 só é atingida na fase 3. No ano 1 o aluno economiza 8,2% — e isso precisa ser dito a ele.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05  </a:t>
            </a:r>
            <a:r>
              <a:rPr sz="2300" b="1">
                <a:solidFill>
                  <a:srgbClr val="0B1220"/>
                </a:solidFill>
                <a:latin typeface="Sora"/>
              </a:rPr>
              <a:t>Como o mercado cobra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Nenhuma alternativa cobre a operação inteira de um programa. O aluno paga pouco em taxa e muito em tarifa.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2295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Alternativa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4368" y="2148840"/>
            <a:ext cx="2569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Modelo de cobrança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214884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Faixa de referência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73568" y="2148840"/>
            <a:ext cx="375818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Por que não resolve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04872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" y="2505456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Apps das 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505456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Sem taxa; margem no tarifário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288" y="2505456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505456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Resolve um trecho, ignora o calendário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80360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8" y="2980944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OTAs (Decolar, CVC)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980944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Conveniência + comissão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2980944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R$ 0–80 / emissão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980944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Viagem a viagem, sob demanda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55848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3456432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Agência tradicional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456432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Fee por emissão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3288" y="3456432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R$ 40–120 / bilhete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456432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Cotação reativa, sem integração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31335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3931920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Plataformas B2B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931920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SaaS + fee por transação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931920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R$ 20–60 / usuário/mês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3931920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Exige CNPJ — o aluno PF fica fora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306823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4407407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Concierge premium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4407407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Mensalidade ou % da viagem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33288" y="4407407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5–15% da viagem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8" y="4407407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Não existe recorte para aluno-executivo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074920"/>
            <a:ext cx="11521440" cy="86868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94360" y="5285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O custo real da decisão tardia é invisível para o aluno: não aparece como taxa, aparece como preço da passagem.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06  </a:t>
            </a:r>
            <a:r>
              <a:rPr sz="2300" b="1">
                <a:solidFill>
                  <a:srgbClr val="0B1220"/>
                </a:solidFill>
                <a:latin typeface="Sora"/>
              </a:rPr>
              <a:t>O preço se paga — mas a folga cresce com o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taxa foi ancorada na economia entregue, não em disposição a pagar declarada. Só que a economia muda por fase.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B85042"/>
                </a:solidFill>
                <a:latin typeface="Sora"/>
              </a:rPr>
              <a:t>1,8×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R$ 100, recebe R$ 180. O serviço se paga, com folga apertada.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3,0×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Bloqueios pontuais elevam a economia para R$ 300 líquidos.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Sora"/>
              </a:rPr>
              <a:t>4,0×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Convênio próprio: paga R$ 100, recebe R$ 400 de volta.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2B705"/>
                </a:solidFill>
                <a:latin typeface="Sora"/>
              </a:rPr>
              <a:t>63% → 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Peso da taxa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 dependência do bolso do aluno cai conforme a comissão cresce.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20640"/>
            <a:ext cx="11521440" cy="77724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Consequência comercial: no primeiro ano a venda não se sustenta só no desconto. Apoia-se no tempo devolvido e em não orquestrar três plataformas por módulo.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07  </a:t>
            </a:r>
            <a:r>
              <a:rPr sz="2300" b="1">
                <a:solidFill>
                  <a:srgbClr val="0B1220"/>
                </a:solidFill>
                <a:latin typeface="Sora"/>
              </a:rPr>
              <a:t>Potencial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Construído de baixo para cima a partir da base do IBGE usada na Sprint 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1521440" cy="841248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59" y="207568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20756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42.000 alunos-viajantes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40487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R$ 63,1 mi/ano — mercado de um operador maduro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399" y="2926080"/>
            <a:ext cx="8046720" cy="841248"/>
          </a:xfrm>
          <a:prstGeom prst="roundRect">
            <a:avLst>
              <a:gd name="adj" fmla="val 6000"/>
            </a:avLst>
          </a:prstGeom>
          <a:solidFill>
            <a:srgbClr val="D9A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331719" y="30358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03580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10.500 alunos · Nova Lima, SP e 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36499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R$ 15,8 mi/ano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886200"/>
            <a:ext cx="4754880" cy="841248"/>
          </a:xfrm>
          <a:prstGeom prst="roundRect">
            <a:avLst>
              <a:gd name="adj" fmla="val 6000"/>
            </a:avLst>
          </a:prstGeom>
          <a:solidFill>
            <a:srgbClr val="B88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77639" y="39959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99592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650 alunos ativos no T12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3251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R$ 977 mil/ano · 6,2% do SAM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983480"/>
            <a:ext cx="11521440" cy="2926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Alunos ativos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Receita anualizada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% do SAM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76088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976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012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R$ 113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1,0%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586984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76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R$ 383 mil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084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897880"/>
            <a:ext cx="11521440" cy="310896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2976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Ano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650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R$ 977 mil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6,2%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327648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A primeira versão projetava 24% do SAM, assumindo turma de 100 alunos e adesão de 60% desde o T1. Não se sustentava.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08  </a:t>
            </a:r>
            <a:r>
              <a:rPr sz="2300" b="1">
                <a:solidFill>
                  <a:srgbClr val="0B1220"/>
                </a:solidFill>
                <a:latin typeface="Sora"/>
              </a:rPr>
              <a:t>Três cenários de receita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O que separa os cenários é quantos alunos a operação capta. As fases de negociação são as mesmas nos três.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C9CFDA"/>
                </a:solidFill>
                <a:latin typeface="Sora"/>
              </a:rPr>
              <a:t>R$ 551 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Pessimista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50 alunos no ano 1 · 320 no T12 · ano 1 de R$ 38 mil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F2B705"/>
                </a:solidFill>
                <a:latin typeface="Sora"/>
              </a:rPr>
              <a:t>R$ 1,10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Tendencial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100 alunos no ano 1 · 650 no T12 · ano 1 de R$ 71 mil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02752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D6A4F"/>
                </a:solidFill>
                <a:latin typeface="Sora"/>
              </a:rPr>
              <a:t>R$ 1,83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Otimista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160 alunos no ano 1 · 1.100 no T12 · ano 1 de R$ 113 mil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1605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4251959"/>
            <a:ext cx="16550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Cenário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4251959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4251959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4251959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4251959"/>
            <a:ext cx="15636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Total 3 anos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7" y="4251959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Viagens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59567" y="4251959"/>
            <a:ext cx="1472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alunos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50799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460857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Pessimista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60857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R$ 38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460857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R$ 140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60857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R$ 372 mil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60857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R$ 551 mil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42247" y="460857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2.763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460857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R$ 978 mil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73752"/>
            <a:ext cx="11521440" cy="365760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9768" y="497433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Tendencial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4288" y="497433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R$ 71 mil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3048" y="497433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R$ 284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497433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R$ 744 mil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97433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R$ 1,10 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7" y="497433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5.508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59567" y="497433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R$ 1,95 mi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23951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534009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Otimista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534009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R$ 113 mil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3048" y="534009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R$ 455 mil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534009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R$ 1,27 mi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9168" y="534009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R$ 1,83 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2247" y="534009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9.180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59567" y="534009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R$ 3,27 mi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5669280"/>
            <a:ext cx="11521440" cy="411480"/>
          </a:xfrm>
          <a:prstGeom prst="roundRect">
            <a:avLst>
              <a:gd name="adj" fmla="val 8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7698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Em todos os cenários a economia devolvida aos alunos é quase o dobro da receita da empresa.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09  </a:t>
            </a:r>
            <a:r>
              <a:rPr sz="2300" b="1">
                <a:solidFill>
                  <a:srgbClr val="0B1220"/>
                </a:solidFill>
                <a:latin typeface="Sora"/>
              </a:rPr>
              <a:t>Sobraram três variáveis — e a dominante é nossa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Cada variável movida isoladamente, com as demais no cenário tendencial. Base: R$ 1,10 mi em 3 anos.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2240279"/>
            <a:ext cx="10972" cy="301752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566160" y="2459736"/>
            <a:ext cx="2194560" cy="38404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760720" y="2459736"/>
            <a:ext cx="2194560" cy="38404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20040" y="2532888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Alunos captados por ano (±30%)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5328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−30,0% / +30,0%</a:t>
            </a:r>
          </a:p>
        </p:txBody>
      </p:sp>
      <p:sp>
        <p:nvSpPr>
          <p:cNvPr id="9" name="Rectangle 8"/>
          <p:cNvSpPr/>
          <p:nvPr/>
        </p:nvSpPr>
        <p:spPr>
          <a:xfrm>
            <a:off x="3924604" y="3419856"/>
            <a:ext cx="1836115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760720" y="3419856"/>
            <a:ext cx="1836115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0040" y="3493008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Taxa de serviço (R$ 50 / R$ 150)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49300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−25,1% / +25,1%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379975"/>
            <a:ext cx="1097280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60720" y="4379975"/>
            <a:ext cx="2106777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0040" y="4453127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Comissão (uma faixa abaixo / acima)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453127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−15,0% / +28,8%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34924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  <a:latin typeface="Inter"/>
              </a:rPr>
              <a:t>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71500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587044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As versões anteriores tinham cinco variáveis, duas delas frágeis: tamanho da turma e adesão dentro dela. As duas saíram ao adotar o aluno captado como unidade. O que sobrou é direto de defender — e a variável dominante é a que o grupo controla.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10  </a:t>
            </a:r>
            <a:r>
              <a:rPr sz="2300" b="1">
                <a:solidFill>
                  <a:srgbClr val="FFFFFF"/>
                </a:solidFill>
                <a:latin typeface="Sora"/>
              </a:rPr>
              <a:t>O primeiro ano é o desafio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3444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6E8F0"/>
                </a:solidFill>
                <a:latin typeface="Inter"/>
              </a:rPr>
              <a:t>Em 3 anos, no cenário tendencial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2B705"/>
                </a:solidFill>
                <a:latin typeface="Sora"/>
              </a:rPr>
              <a:t>R$ 1,10 mi</a:t>
            </a:r>
            <a:r>
              <a:rPr sz="2500" b="1">
                <a:solidFill>
                  <a:srgbClr val="FFFFFF"/>
                </a:solidFill>
                <a:latin typeface="Sora"/>
              </a:rPr>
              <a:t> de receita — e um ano 1 de </a:t>
            </a:r>
            <a:r>
              <a:rPr sz="2500" b="1">
                <a:solidFill>
                  <a:srgbClr val="F2B705"/>
                </a:solidFill>
                <a:latin typeface="Sora"/>
              </a:rPr>
              <a:t>R$ 71 mil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ra"/>
              </a:rPr>
              <a:t>menos de R$ 6 mil por mês: não paga equipe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5.508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viagens em 3 anos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2900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R$ 1,95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devolvidos aos alunos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650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alunos ativos no T12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742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9030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6,2%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030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do SAM alcançado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11521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50">
                <a:solidFill>
                  <a:srgbClr val="F2B705"/>
                </a:solidFill>
                <a:latin typeface="Inter SemiBold"/>
              </a:rPr>
              <a:t>O ANO 1 NÃO É MEDIDO POR RECEITA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E6E8F0"/>
                </a:solidFill>
                <a:latin typeface="Inter"/>
              </a:rPr>
              <a:t>Ele existe para produzir prova de execução, volume acumulado e concentração de campus — os três ativos que destravam a fase 2. A métrica é alunos captados, não faturamento.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623560"/>
            <a:ext cx="3227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ora"/>
              </a:rPr>
              <a:t>Ant</a:t>
            </a:r>
            <a:r>
              <a:rPr sz="2200" b="1">
                <a:solidFill>
                  <a:srgbClr val="F2B705"/>
                </a:solidFill>
                <a:latin typeface="Sora"/>
              </a:rPr>
              <a:t>é</a:t>
            </a:r>
            <a:r>
              <a:rPr sz="2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6108192"/>
            <a:ext cx="50566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spc="20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