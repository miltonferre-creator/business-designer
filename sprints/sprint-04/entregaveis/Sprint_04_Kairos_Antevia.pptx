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[ 20 segundos ]</a:t>
            </a:r>
          </a:p>
          <a:p/>
          <a:p>
            <a:r>
              <a:t>ABERTURA</a:t>
            </a:r>
          </a:p>
          <a:p>
            <a:r>
              <a:t>"Sprint 4: a hora de transformar a Antévia em números. Vamos mostrar quanto o</a:t>
            </a:r>
          </a:p>
          <a:p>
            <a:r>
              <a:t>negócio fatura em três anos, de onde vem cada real, e por que o primeiro ano é</a:t>
            </a:r>
          </a:p>
          <a:p>
            <a:r>
              <a:t>a parte difícil."</a:t>
            </a:r>
          </a:p>
          <a:p/>
          <a:p>
            <a:r>
              <a:t>Não leia os números da capa em detalhe — eles voltam no fechamento.</a:t>
            </a:r>
          </a:p>
          <a:p/>
          <a:p>
            <a:r>
              <a:t>DEIXE CLARO DE SAÍDA</a:t>
            </a:r>
          </a:p>
          <a:p>
            <a:r>
              <a:t>Esta sprint trata só de RECEITA. Custos, despesas e investimentos são a Sprint 5.</a:t>
            </a:r>
          </a:p>
          <a:p>
            <a:r>
              <a:t>Se alguém perguntar por margem ou lucro, a resposta é: "está na próxima sprint".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[ 60 segundos ]</a:t>
            </a:r>
          </a:p>
          <a:p/>
          <a:p>
            <a:r>
              <a:t>O QUE FALAR</a:t>
            </a:r>
          </a:p>
          <a:p>
            <a:r>
              <a:t>"Vendemos um serviço de concierge cobrado por módulo. Duas fontes de receita:</a:t>
            </a:r>
          </a:p>
          <a:p>
            <a:r>
              <a:t>uma taxa de R$ 100 que o aluno paga, e uma comissão que os fornecedores nos</a:t>
            </a:r>
          </a:p>
          <a:p>
            <a:r>
              <a:t>pagam sobre o volume."</a:t>
            </a:r>
          </a:p>
          <a:p/>
          <a:p>
            <a:r>
              <a:t>"A meta do ano 1 é captar 100 alunos — somando todas as turmas e todas as</a:t>
            </a:r>
          </a:p>
          <a:p>
            <a:r>
              <a:t>instituições. Essa é a unidade do nosso modelo."</a:t>
            </a:r>
          </a:p>
          <a:p/>
          <a:p>
            <a:r>
              <a:t>PONTO IMPORTANTE (o card do meio)</a:t>
            </a:r>
          </a:p>
          <a:p>
            <a:r>
              <a:t>"Reparem que a comissão começa em 3% e só chega a 6,4% no ano 3. Ela cresce com</a:t>
            </a:r>
          </a:p>
          <a:p>
            <a:r>
              <a:t>o volume. Não assumimos poder de negociação que não temos — e é disso que trata</a:t>
            </a:r>
          </a:p>
          <a:p>
            <a:r>
              <a:t>o próximo slide."</a:t>
            </a:r>
          </a:p>
          <a:p/>
          <a:p>
            <a:r>
              <a:t>SE PERGUNTAREM: "POR QUE O CUSTO PARA A ESCOLA É ZERO?"</a:t>
            </a:r>
          </a:p>
          <a:p>
            <a:r>
              <a:t>Essa é a pergunta mais provável deste slide. Resposta:</a:t>
            </a:r>
          </a:p>
          <a:p/>
          <a:p>
            <a:r>
              <a:t>"A escola não desembolsa nada. Ela entra com três coisas que já tem: o CNPJ, que</a:t>
            </a:r>
          </a:p>
          <a:p>
            <a:r>
              <a:t>é o que viabiliza a tarifa de grupo; o acesso à turma no momento da matrícula; e</a:t>
            </a:r>
          </a:p>
          <a:p>
            <a:r>
              <a:t>o calendário com as datas dos módulos."</a:t>
            </a:r>
          </a:p>
          <a:p/>
          <a:p>
            <a:r>
              <a:t>"Isso é uma decisão de desenho, não um esquecimento. Se a escola precisasse</a:t>
            </a:r>
          </a:p>
          <a:p>
            <a:r>
              <a:t>aprovar verba, a venda entraria numa fila orçamentária e levaria um ano. Sem</a:t>
            </a:r>
          </a:p>
          <a:p>
            <a:r>
              <a:t>desembolso, a decisão é da coordenação e sai rápido."</a:t>
            </a:r>
          </a:p>
          <a:p/>
          <a:p>
            <a:r>
              <a:t>"E ela ganha: NPS, aluno chegando menos estressado, zero atrito operacional.</a:t>
            </a:r>
          </a:p>
          <a:p>
            <a:r>
              <a:t>Existe ainda um fee de escola como receita futura, mas deixamos fora da projeção</a:t>
            </a:r>
          </a:p>
          <a:p>
            <a:r>
              <a:t>de propósito — cobrar da escola destruiria justamente o que torna a venda fácil."</a:t>
            </a:r>
          </a:p>
          <a:p/>
          <a:p>
            <a:r>
              <a:t>SE PERGUNTAREM: "E A ADESÃO DA TURMA?"</a:t>
            </a:r>
          </a:p>
          <a:p>
            <a:r>
              <a:t>"Ela saiu do modelo. Antes a gente calculava turma vezes taxa de adesão, o que</a:t>
            </a:r>
          </a:p>
          <a:p>
            <a:r>
              <a:t>exigia saber o tamanho da turma. Agora contamos aluno captado direto. Menos</a:t>
            </a:r>
          </a:p>
          <a:p>
            <a:r>
              <a:t>premissa, menos coisa para errar."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[ 90 segundos — este é o slide mais importante da apresentação ]</a:t>
            </a:r>
          </a:p>
          <a:p/>
          <a:p>
            <a:r>
              <a:t>O GANCHO — comece pela pergunta do título</a:t>
            </a:r>
          </a:p>
          <a:p>
            <a:r>
              <a:t>"Por que uma companhia aérea venderia mais barato para a Antévia do que vende</a:t>
            </a:r>
          </a:p>
          <a:p>
            <a:r>
              <a:t>direto para o aluno? No primeiro ano, com uma ou duas instituições, ela não</a:t>
            </a:r>
          </a:p>
          <a:p>
            <a:r>
              <a:t>venderia. E a nossa primeira versão deste modelo assumia que sim."</a:t>
            </a:r>
          </a:p>
          <a:p/>
          <a:p>
            <a:r>
              <a:t>AS TRÊS FASES — percorra a tabela</a:t>
            </a:r>
          </a:p>
          <a:p>
            <a:r>
              <a:t>"Ano 1: compramos apoiados numa consolidadora parceira, uma agência B2B que já</a:t>
            </a:r>
          </a:p>
          <a:p>
            <a:r>
              <a:t>tem convênio e volume. Recebemos repasse de parte da comissão dela. 3%."</a:t>
            </a:r>
          </a:p>
          <a:p>
            <a:r>
              <a:t>"Ano 2: com volume, negociamos bloqueios pontuais nas rotas que concentram. 5%."</a:t>
            </a:r>
          </a:p>
          <a:p>
            <a:r>
              <a:t>"Ano 3: convênio próprio. 6,4%."</a:t>
            </a:r>
          </a:p>
          <a:p/>
          <a:p>
            <a:r>
              <a:t>O CARD DA ESQUERDA — a mensagem central</a:t>
            </a:r>
          </a:p>
          <a:p>
            <a:r>
              <a:t>"O que sustenta o ano 1 é uma alavanca que não custa nada: antecipação. Comprar</a:t>
            </a:r>
          </a:p>
          <a:p>
            <a:r>
              <a:t>aos 90 dias em vez de em cima da hora já é mais barato na curva tarifária</a:t>
            </a:r>
          </a:p>
          <a:p>
            <a:r>
              <a:t>pública. Não precisamos negociar com ninguém para ter isso."</a:t>
            </a:r>
          </a:p>
          <a:p/>
          <a:p>
            <a:r>
              <a:t>SE PERGUNTAREM: "DE ONDE VÊM ESSES PERCENTUAIS DE COMISSÃO?"</a:t>
            </a:r>
          </a:p>
          <a:p>
            <a:r>
              <a:t>Pergunta muito provável. Resposta em duas camadas:</a:t>
            </a:r>
          </a:p>
          <a:p/>
          <a:p>
            <a:r>
              <a:t>1) A FONTE: "Da entrevista com o Bruno Brant, sócio da Velt, na Sprint 1. Ele</a:t>
            </a:r>
          </a:p>
          <a:p>
            <a:r>
              <a:t>   deu as faixas praticadas: um convênio de R$ 250 a 500 mil por ano rende de 3</a:t>
            </a:r>
          </a:p>
          <a:p>
            <a:r>
              <a:t>   a 5%; acima de R$ 1 milhão por ano, de 8 a 12%."</a:t>
            </a:r>
          </a:p>
          <a:p/>
          <a:p>
            <a:r>
              <a:t>2) O TESTE: "Nós conferimos o nosso próprio volume contra essas faixas. No ano 1</a:t>
            </a:r>
          </a:p>
          <a:p>
            <a:r>
              <a:t>   movimentamos R$ 518 mil em aéreo — exatamente na entrada da primeira faixa,</a:t>
            </a:r>
          </a:p>
          <a:p>
            <a:r>
              <a:t>   o que sustenta os 3%. Nos anos 2 e 3 passamos de R$ 1 milhão, o que abriria</a:t>
            </a:r>
          </a:p>
          <a:p>
            <a:r>
              <a:t>   8 a 12% — e mesmo assim usamos 5% e 6,4%. Fomos deliberadamente conservadores."</a:t>
            </a:r>
          </a:p>
          <a:p/>
          <a:p>
            <a:r>
              <a:t>3) A COMPOSIÇÃO DOS 6,4%: "É uma média ponderada. Aéreo remunera pouco, cerca de</a:t>
            </a:r>
          </a:p>
          <a:p>
            <a:r>
              <a:t>   4%; hotelaria remunera bem, uns 10%; traslado 10%. Aplicado ao nosso ticket,</a:t>
            </a:r>
          </a:p>
          <a:p>
            <a:r>
              <a:t>   dá R$ 108,80 por viagem, que são 6,4% do valor transacionado."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[ 75 segundos ]</a:t>
            </a:r>
          </a:p>
          <a:p/>
          <a:p>
            <a:r>
              <a:t>CONTEXTO — explique o problema antes de mostrar a tabela</a:t>
            </a:r>
          </a:p>
          <a:p>
            <a:r>
              <a:t>"Tarifa de grupo não é um desconto que se pede. É um produto que só existe quando</a:t>
            </a:r>
          </a:p>
          <a:p>
            <a:r>
              <a:t>há passageiros suficientes no mesmo voo — o mercado trabalha com cerca de 10</a:t>
            </a:r>
          </a:p>
          <a:p>
            <a:r>
              <a:t>pessoas na mesma rota."</a:t>
            </a:r>
          </a:p>
          <a:p/>
          <a:p>
            <a:r>
              <a:t>"A pergunta então é: quantos alunos nós conseguimos juntar no mesmo campus, na</a:t>
            </a:r>
          </a:p>
          <a:p>
            <a:r>
              <a:t>mesma data de módulo?"</a:t>
            </a:r>
          </a:p>
          <a:p/>
          <a:p>
            <a:r>
              <a:t>COMO LER A TABELA — vá linha a linha, devagar</a:t>
            </a:r>
          </a:p>
          <a:p>
            <a:r>
              <a:t>"Cada linha é uma quantidade de alunos concentrados. As colunas são o número de</a:t>
            </a:r>
          </a:p>
          <a:p>
            <a:r>
              <a:t>cidades de origem deles — quanto mais espalhados, menos gente por rota."</a:t>
            </a:r>
          </a:p>
          <a:p/>
          <a:p>
            <a:r>
              <a:t>"Com 100 alunos e 6 origens: 100 dividido por 6 dá quase 17 passageiros por rota.</a:t>
            </a:r>
          </a:p>
          <a:p>
            <a:r>
              <a:t>Forma grupo."</a:t>
            </a:r>
          </a:p>
          <a:p>
            <a:r>
              <a:t>"Com 50 alunos: 8 por rota. Não forma, a não ser que sejam só 5 origens."</a:t>
            </a:r>
          </a:p>
          <a:p>
            <a:r>
              <a:t>"E a última linha é a que importa: uma turma de 40 alunos, com metade viajando,</a:t>
            </a:r>
          </a:p>
          <a:p>
            <a:r>
              <a:t>dá 3 passageiros por rota. Nenhuma turma sozinha forma grupo."</a:t>
            </a:r>
          </a:p>
          <a:p/>
          <a:p>
            <a:r>
              <a:t>A CONCLUSÃO — é o ponto do slide</a:t>
            </a:r>
          </a:p>
          <a:p>
            <a:r>
              <a:t>"Por isso a unidade de negociação não pode ser a turma. Tem que ser o campus numa</a:t>
            </a:r>
          </a:p>
          <a:p>
            <a:r>
              <a:t>data, somando alunos de turmas diferentes que chegam no mesmo dia."</a:t>
            </a:r>
          </a:p>
          <a:p/>
          <a:p>
            <a:r>
              <a:t>"E isso é bom para nós: se quem junta o volume é a plataforma, o bloqueio é nosso</a:t>
            </a:r>
          </a:p>
          <a:p>
            <a:r>
              <a:t>ativo, não da escola."</a:t>
            </a:r>
          </a:p>
          <a:p/>
          <a:p>
            <a:r>
              <a:t>SE PERGUNTAREM: "ENTÃO VOCÊS NÃO TÊM TARIFA DE GRUPO NO ANO 1?"</a:t>
            </a:r>
          </a:p>
          <a:p>
            <a:r>
              <a:t>"Temos, se concentrarmos. O limiar é 50 a 60 alunos numa mesma data. A meta de</a:t>
            </a:r>
          </a:p>
          <a:p>
            <a:r>
              <a:t>100 alunos passa disso — desde que a captação seja concentrada e não pulverizada</a:t>
            </a:r>
          </a:p>
          <a:p>
            <a:r>
              <a:t>entre vários campi. É por isso que a métrica do ano 1 não é só quantos alunos,</a:t>
            </a:r>
          </a:p>
          <a:p>
            <a:r>
              <a:t>é onde eles estão."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[ 55 segundos ]</a:t>
            </a:r>
          </a:p>
          <a:p/>
          <a:p>
            <a:r>
              <a:t>O QUE FALAR</a:t>
            </a:r>
          </a:p>
          <a:p>
            <a:r>
              <a:t>"Hoje o aluno de fora gasta R$ 2.200 por módulo comprando em cima da hora. Aqui</a:t>
            </a:r>
          </a:p>
          <a:p>
            <a:r>
              <a:t>está o que ele passa a gastar com a Antévia, em cada fase."</a:t>
            </a:r>
          </a:p>
          <a:p/>
          <a:p>
            <a:r>
              <a:t>"No ano 1: R$ 1.920 de logística, mais R$ 100 da nossa taxa. Ele economiza R$ 180</a:t>
            </a:r>
          </a:p>
          <a:p>
            <a:r>
              <a:t>líquidos."</a:t>
            </a:r>
          </a:p>
          <a:p>
            <a:r>
              <a:t>"No ano 3, com convênio próprio: economiza R$ 400."</a:t>
            </a:r>
          </a:p>
          <a:p/>
          <a:p>
            <a:r>
              <a:t>SEJA HONESTO COM A LINHA DE BAIXO — é o que dá credibilidade</a:t>
            </a:r>
          </a:p>
          <a:p>
            <a:r>
              <a:t>"Reparem na última linha. A redução no desembolso é de 8,2% no primeiro ano e</a:t>
            </a:r>
          </a:p>
          <a:p>
            <a:r>
              <a:t>chega a 18,2% no terceiro."</a:t>
            </a:r>
          </a:p>
          <a:p/>
          <a:p>
            <a:r>
              <a:t>"A meta que fixamos na Sprint 1 era de 15 a 25% de redução. Nós só entregamos</a:t>
            </a:r>
          </a:p>
          <a:p>
            <a:r>
              <a:t>isso na fase 3. Preferimos mostrar assim do que prometer o número cheio desde o</a:t>
            </a:r>
          </a:p>
          <a:p>
            <a:r>
              <a:t>começo."</a:t>
            </a:r>
          </a:p>
          <a:p/>
          <a:p>
            <a:r>
              <a:t>SE PERGUNTAREM: "MAS VOCÊS NÃO DIZIAM 20 A 30% NA BANCA?"</a:t>
            </a:r>
          </a:p>
          <a:p>
            <a:r>
              <a:t>"Dizíamos, e continua verdade — mas é o desconto do bloqueio de grupo sobre a</a:t>
            </a:r>
          </a:p>
          <a:p>
            <a:r>
              <a:t>logística, na operação madura. Quando a gente desconta a nossa taxa e olha o que</a:t>
            </a:r>
          </a:p>
          <a:p>
            <a:r>
              <a:t>sai do bolso do aluno no primeiro ano, é 8,2%. São medidas diferentes e agora</a:t>
            </a:r>
          </a:p>
          <a:p>
            <a:r>
              <a:t>estão separadas."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[ 50 segundos ]</a:t>
            </a:r>
          </a:p>
          <a:p/>
          <a:p>
            <a:r>
              <a:t>O QUE FALAR</a:t>
            </a:r>
          </a:p>
          <a:p>
            <a:r>
              <a:t>"Antes de definir preço, olhamos como o mercado cobra hoje. Cinco alternativas,</a:t>
            </a:r>
          </a:p>
          <a:p>
            <a:r>
              <a:t>nenhuma resolve a operação inteira de um programa."</a:t>
            </a:r>
          </a:p>
          <a:p/>
          <a:p>
            <a:r>
              <a:t>"Apps de companhia: taxa zero, mas resolvem um trecho e não conhecem o calendário."</a:t>
            </a:r>
          </a:p>
          <a:p>
            <a:r>
              <a:t>"OTAs: cobram de zero a R$ 80 por emissão, mas é viagem a viagem."</a:t>
            </a:r>
          </a:p>
          <a:p>
            <a:r>
              <a:t>"Agência tradicional: R$ 40 a 120 por bilhete, cotação reativa."</a:t>
            </a:r>
          </a:p>
          <a:p>
            <a:r>
              <a:t>"Plataformas B2B como Onfly e Argo: exigem CNPJ. O aluno pessoa física fica de</a:t>
            </a:r>
          </a:p>
          <a:p>
            <a:r>
              <a:t>fora — é o nosso 'órfão estrutural' da Sprint 1."</a:t>
            </a:r>
          </a:p>
          <a:p>
            <a:r>
              <a:t>"Concierge premium: 5 a 15% da viagem, mas não existe recorte para aluno-executivo."</a:t>
            </a:r>
          </a:p>
          <a:p/>
          <a:p>
            <a:r>
              <a:t>A FRASE DE FECHO — leia a faixa dourada, é o achado</a:t>
            </a:r>
          </a:p>
          <a:p>
            <a:r>
              <a:t>"O custo real da decisão tardia é invisível para o aluno. Ele não paga uma taxa</a:t>
            </a:r>
          </a:p>
          <a:p>
            <a:r>
              <a:t>alta: ele paga uma passagem cara. E por isso não percebe que está perdendo."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[ 55 segundos ]</a:t>
            </a:r>
          </a:p>
          <a:p/>
          <a:p>
            <a:r>
              <a:t>O QUE FALAR</a:t>
            </a:r>
          </a:p>
          <a:p>
            <a:r>
              <a:t>"Nós não perguntamos ao aluno quanto ele pagaria. Ancoramos o preço no que o</a:t>
            </a:r>
          </a:p>
          <a:p>
            <a:r>
              <a:t>serviço devolve para ele."</a:t>
            </a:r>
          </a:p>
          <a:p/>
          <a:p>
            <a:r>
              <a:t>"No ano 1 ele paga R$ 100 e recebe R$ 180 — retorno de 1,8 vez."</a:t>
            </a:r>
          </a:p>
          <a:p>
            <a:r>
              <a:t>"No ano 3, R$ 100 viram R$ 400 — retorno de 4 vezes."</a:t>
            </a:r>
          </a:p>
          <a:p/>
          <a:p>
            <a:r>
              <a:t>O CARD DA DIREITA — explique o que ele significa</a:t>
            </a:r>
          </a:p>
          <a:p>
            <a:r>
              <a:t>"E a dependência do bolso do aluno cai: no ano 1, 63% da nossa receita vem da</a:t>
            </a:r>
          </a:p>
          <a:p>
            <a:r>
              <a:t>taxa; no ano 3, 48%. Conforme a comissão cresce, ficamos menos expostos à</a:t>
            </a:r>
          </a:p>
          <a:p>
            <a:r>
              <a:t>disposição a pagar dele."</a:t>
            </a:r>
          </a:p>
          <a:p/>
          <a:p>
            <a:r>
              <a:t>A CONSEQUÊNCIA COMERCIAL — leia a faixa escura</a:t>
            </a:r>
          </a:p>
          <a:p>
            <a:r>
              <a:t>"O que isso quer dizer na prática: no primeiro ano a venda não se sustenta só no</a:t>
            </a:r>
          </a:p>
          <a:p>
            <a:r>
              <a:t>desconto, porque a folga é apertada. Ela se sustenta no tempo devolvido e em não</a:t>
            </a:r>
          </a:p>
          <a:p>
            <a:r>
              <a:t>ter que orquestrar três plataformas por módulo."</a:t>
            </a:r>
          </a:p>
          <a:p/>
          <a:p>
            <a:r>
              <a:t>SE PERGUNTAREM SOBRE A H6</a:t>
            </a:r>
          </a:p>
          <a:p>
            <a:r>
              <a:t>"A hipótese de que o aluno pagaria de R$ 50 a 150 continua a validar. Os R$ 100</a:t>
            </a:r>
          </a:p>
          <a:p>
            <a:r>
              <a:t>são o meio da faixa. Se cair para R$ 50, o modelo perde um quarto da receita —</a:t>
            </a:r>
          </a:p>
          <a:p>
            <a:r>
              <a:t>fica menor, não deixa de existir."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[ 75 segundos — vá devagar, é o slide que mais gera dúvida ]</a:t>
            </a:r>
          </a:p>
          <a:p/>
          <a:p>
            <a:r>
              <a:t>EXPLIQUE A LÓGICA DO FUNIL ANTES DOS NÚMEROS</a:t>
            </a:r>
          </a:p>
          <a:p>
            <a:r>
              <a:t>"Três recortes de mercado, do maior para o menor."</a:t>
            </a:r>
          </a:p>
          <a:p/>
          <a:p>
            <a:r>
              <a:t>TAM — a faixa de cima</a:t>
            </a:r>
          </a:p>
          <a:p>
            <a:r>
              <a:t>"TAM é o mercado total: todo aluno de programa executivo no Brasil que precisa</a:t>
            </a:r>
          </a:p>
          <a:p>
            <a:r>
              <a:t>viajar para estudar. Chegamos a 42 mil pessoas, partindo do dado do IBGE de 1,4</a:t>
            </a:r>
          </a:p>
          <a:p>
            <a:r>
              <a:t>milhão de matriculados em pós-graduação, filtrando os que estão em programas</a:t>
            </a:r>
          </a:p>
          <a:p>
            <a:r>
              <a:t>executivos presenciais e os que viajam de outra cidade."</a:t>
            </a:r>
          </a:p>
          <a:p>
            <a:r>
              <a:t>"Se atendêssemos todos, seriam R$ 63 milhões por ano."</a:t>
            </a:r>
          </a:p>
          <a:p/>
          <a:p>
            <a:r>
              <a:t>SAM — a faixa do meio</a:t>
            </a:r>
          </a:p>
          <a:p>
            <a:r>
              <a:t>"SAM é o mercado que dá para atender de fato. A Sprint 1 mostrou que a dor se</a:t>
            </a:r>
          </a:p>
          <a:p>
            <a:r>
              <a:t>concentra nos campi que recebem aluno de fora — Nova Lima, São Paulo e Rio.</a:t>
            </a:r>
          </a:p>
          <a:p>
            <a:r>
              <a:t>Restringindo a isso, são 10.500 alunos e R$ 15,8 milhões por ano."</a:t>
            </a:r>
          </a:p>
          <a:p/>
          <a:p>
            <a:r>
              <a:t>SOM — a faixa de baixo</a:t>
            </a:r>
          </a:p>
          <a:p>
            <a:r>
              <a:t>"SOM é o que pretendemos capturar em três anos: 650 alunos ativos, R$ 977 mil de</a:t>
            </a:r>
          </a:p>
          <a:p>
            <a:r>
              <a:t>receita anualizada, 6,2% do SAM."</a:t>
            </a:r>
          </a:p>
          <a:p/>
          <a:p>
            <a:r>
              <a:t>CUIDADO COM UM MAL-ENTENDIDO</a:t>
            </a:r>
          </a:p>
          <a:p>
            <a:r>
              <a:t>Deixe explícito: "Os 650 são alunos ATIVOS no último trimestre — não é a soma dos</a:t>
            </a:r>
          </a:p>
          <a:p>
            <a:r>
              <a:t>três anos. É a base de clientes que a operação tem funcionando ao fim do ano 3."</a:t>
            </a:r>
          </a:p>
          <a:p/>
          <a:p>
            <a:r>
              <a:t>A TABELA DE BAIXO</a:t>
            </a:r>
          </a:p>
          <a:p>
            <a:r>
              <a:t>"E aqui a progressão: 100 alunos no ano 1, que é 1% do SAM. 280 no ano 2. 650 no</a:t>
            </a:r>
          </a:p>
          <a:p>
            <a:r>
              <a:t>ano 3."</a:t>
            </a:r>
          </a:p>
          <a:p/>
          <a:p>
            <a:r>
              <a:t>SE PERGUNTAREM: "6,2% NÃO É POUCO?"</a:t>
            </a:r>
          </a:p>
          <a:p>
            <a:r>
              <a:t>"É pouco e é proposital. A primeira versão da nossa projeção dizia 24% do SAM em</a:t>
            </a:r>
          </a:p>
          <a:p>
            <a:r>
              <a:t>três anos, o que não se defende para um negócio que capta aluno por aluno, pelo</a:t>
            </a:r>
          </a:p>
          <a:p>
            <a:r>
              <a:t>canal da escola. Preferimos um número que a gente consiga sustentar."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[ 70 segundos ]</a:t>
            </a:r>
          </a:p>
          <a:p/>
          <a:p>
            <a:r>
              <a:t>O QUE FALAR</a:t>
            </a:r>
          </a:p>
          <a:p>
            <a:r>
              <a:t>"Três cenários. O que separa um do outro é uma coisa só: quantos alunos a</a:t>
            </a:r>
          </a:p>
          <a:p>
            <a:r>
              <a:t>operação capta. As fases de negociação são as mesmas nos três."</a:t>
            </a:r>
          </a:p>
          <a:p/>
          <a:p>
            <a:r>
              <a:t>"Pessimista: 50 alunos no ano 1, R$ 551 mil em três anos."</a:t>
            </a:r>
          </a:p>
          <a:p>
            <a:r>
              <a:t>"Tendencial: 100 alunos no ano 1, R$ 1,10 milhão."</a:t>
            </a:r>
          </a:p>
          <a:p>
            <a:r>
              <a:t>"Otimista: 160 alunos no ano 1, R$ 1,83 milhão."</a:t>
            </a:r>
          </a:p>
          <a:p/>
          <a:p>
            <a:r>
              <a:t>A TABELA — aponte a linha do meio</a:t>
            </a:r>
          </a:p>
          <a:p>
            <a:r>
              <a:t>"Na linha do tendencial: R$ 71 mil no ano 1, R$ 284 mil no ano 2, R$ 744 mil no</a:t>
            </a:r>
          </a:p>
          <a:p>
            <a:r>
              <a:t>ano 3. A curva é bem inclinada porque tanto o número de alunos quanto a comissão</a:t>
            </a:r>
          </a:p>
          <a:p>
            <a:r>
              <a:t>crescem juntos."</a:t>
            </a:r>
          </a:p>
          <a:p/>
          <a:p>
            <a:r>
              <a:t>A FAIXA DOURADA — não pule, é o melhor argumento de venda</a:t>
            </a:r>
          </a:p>
          <a:p>
            <a:r>
              <a:t>"E reparem na última coluna: R$ 1,95 milhão de economia devolvida aos alunos,</a:t>
            </a:r>
          </a:p>
          <a:p>
            <a:r>
              <a:t>quase o dobro da nossa receita. Esse é o número que faz a escola querer indicar</a:t>
            </a:r>
          </a:p>
          <a:p>
            <a:r>
              <a:t>o serviço — é dinheiro que deixa de sair do bolso dos alunos dela."</a:t>
            </a:r>
          </a:p>
          <a:p/>
          <a:p>
            <a:r>
              <a:t>SE PERGUNTAREM POR MARGEM OU LUCRO</a:t>
            </a:r>
          </a:p>
          <a:p>
            <a:r>
              <a:t>"Esta sprint é de receita. E vale registrar: nós não compramos e revendemos</a:t>
            </a:r>
          </a:p>
          <a:p>
            <a:r>
              <a:t>passagem. O aluno paga o fornecedor direto, nós intermediamos. Então não há custo</a:t>
            </a:r>
          </a:p>
          <a:p>
            <a:r>
              <a:t>de mercadoria vendida aqui — todos os nossos custos são operacionais, e eles</a:t>
            </a:r>
          </a:p>
          <a:p>
            <a:r>
              <a:t>entram na Sprint 5."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[ 45 segundos ]</a:t>
            </a:r>
          </a:p>
          <a:p/>
          <a:p>
            <a:r>
              <a:t>O QUE FALAR</a:t>
            </a:r>
          </a:p>
          <a:p>
            <a:r>
              <a:t>"Movemos uma variável de cada vez, com as outras no cenário tendencial."</a:t>
            </a:r>
          </a:p>
          <a:p/>
          <a:p>
            <a:r>
              <a:t>"Captação de alunos: mais ou menos 30% muda a receita em mais ou menos 30%. É a</a:t>
            </a:r>
          </a:p>
          <a:p>
            <a:r>
              <a:t>dominante."</a:t>
            </a:r>
          </a:p>
          <a:p>
            <a:r>
              <a:t>"Taxa de serviço: 25%."</a:t>
            </a:r>
          </a:p>
          <a:p>
            <a:r>
              <a:t>"Comissão: de menos 15 a mais 29%."</a:t>
            </a:r>
          </a:p>
          <a:p/>
          <a:p>
            <a:r>
              <a:t>O PONTO DO SLIDE — leia a faixa escura, é sobre método</a:t>
            </a:r>
          </a:p>
          <a:p>
            <a:r>
              <a:t>"O que mais importa aqui não é o gráfico, é o que sumiu dele. As versões</a:t>
            </a:r>
          </a:p>
          <a:p>
            <a:r>
              <a:t>anteriores deste modelo tinham cinco variáveis, duas delas frágeis: tamanho da</a:t>
            </a:r>
          </a:p>
          <a:p>
            <a:r>
              <a:t>turma e taxa de adesão. As duas saíram quando passamos a contar aluno captado."</a:t>
            </a:r>
          </a:p>
          <a:p/>
          <a:p>
            <a:r>
              <a:t>"Sobraram três. Todas explicáveis numa frase. E a dominante é justamente a que</a:t>
            </a:r>
          </a:p>
          <a:p>
            <a:r>
              <a:t>nós controlamos: quantos alunos conseguimos captar."</a:t>
            </a:r>
          </a:p>
          <a:p/>
          <a:p>
            <a:r>
              <a:t>SE PERGUNTAREM POR QUE A ADESÃO SUMIU</a:t>
            </a:r>
          </a:p>
          <a:p>
            <a:r>
              <a:t>"Porque ela estava embutida numa conta que a gente não precisava fazer. Se eu</a:t>
            </a:r>
          </a:p>
          <a:p>
            <a:r>
              <a:t>conto o aluno que aderiu, não preciso estimar quantos por cento da turma aderem."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[ 40 segundos ]</a:t>
            </a:r>
          </a:p>
          <a:p/>
          <a:p>
            <a:r>
              <a:t>FECHAMENTO</a:t>
            </a:r>
          </a:p>
          <a:p>
            <a:r>
              <a:t>"Fechando: R$ 1,10 milhão em três anos, e um primeiro ano de R$ 71 mil."</a:t>
            </a:r>
          </a:p>
          <a:p/>
          <a:p>
            <a:r>
              <a:t>SEJA DIRETO SOBRE O ANO 1 — é o que diferencia esta apresentação</a:t>
            </a:r>
          </a:p>
          <a:p>
            <a:r>
              <a:t>"R$ 71 mil é menos de R$ 6 mil por mês. Não paga uma equipe. Ou os sócios operam</a:t>
            </a:r>
          </a:p>
          <a:p>
            <a:r>
              <a:t>com as próprias mãos, ou é preciso capital para atravessar. Não estamos</a:t>
            </a:r>
          </a:p>
          <a:p>
            <a:r>
              <a:t>escondendo isso — é a Sprint 5 que vai dizer quanto custa esse período."</a:t>
            </a:r>
          </a:p>
          <a:p/>
          <a:p>
            <a:r>
              <a:t>A VIRADA FINAL — a mensagem que deve ficar</a:t>
            </a:r>
          </a:p>
          <a:p>
            <a:r>
              <a:t>"Mas o ano 1 não deveria ser medido por receita. Ele existe para produzir três</a:t>
            </a:r>
          </a:p>
          <a:p>
            <a:r>
              <a:t>coisas: prova de que a operação funciona, volume acumulado que abre a faixa de</a:t>
            </a:r>
          </a:p>
          <a:p>
            <a:r>
              <a:t>comissão, e concentração de alunos por campus que liga a tarifa de grupo."</a:t>
            </a:r>
          </a:p>
          <a:p/>
          <a:p>
            <a:r>
              <a:t>"A métrica do primeiro ano é quantos alunos captamos e onde eles estão. O</a:t>
            </a:r>
          </a:p>
          <a:p>
            <a:r>
              <a:t>faturamento vem depois."</a:t>
            </a:r>
          </a:p>
          <a:p/>
          <a:p>
            <a:r>
              <a:t>ENCERRE</a:t>
            </a:r>
          </a:p>
          <a:p>
            <a:r>
              <a:t>"Obrigado. Estamos à disposição."</a:t>
            </a:r>
          </a:p>
          <a:p/>
          <a:p>
            <a:r>
              <a:t>LEMBRETES PARA APRESENTAÇÃO ONLINE</a:t>
            </a:r>
          </a:p>
          <a:p>
            <a:r>
              <a:t>- Fale a próxima frase antes de trocar o slide; evita o silêncio da transição.</a:t>
            </a:r>
          </a:p>
          <a:p>
            <a:r>
              <a:t>- Nas tabelas, diga em que linha está antes de dar o número.</a:t>
            </a:r>
          </a:p>
          <a:p>
            <a:r>
              <a:t>- Segure os slides 3, 4 e 8 — são os que mais geram pergunta.</a:t>
            </a:r>
          </a:p>
          <a:p>
            <a:r>
              <a:t>- Tempo total: cerca de 10 minutos. Se atrasar, corte o slide 6 (pesquisa de</a:t>
            </a:r>
          </a:p>
          <a:p>
            <a:r>
              <a:t>  preços), que é o mais dispensável.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956048" y="1417320"/>
            <a:ext cx="2286000" cy="310896"/>
          </a:xfrm>
          <a:prstGeom prst="roundRect">
            <a:avLst>
              <a:gd name="adj" fmla="val 35000"/>
            </a:avLst>
          </a:prstGeom>
          <a:solidFill>
            <a:srgbClr val="1B24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956048" y="1499616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1" spc="120">
                <a:solidFill>
                  <a:srgbClr val="F2B705"/>
                </a:solidFill>
                <a:latin typeface="Inter SemiBold"/>
              </a:rPr>
              <a:t>SPRINT 04 · VIABILIDADE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103120"/>
            <a:ext cx="94457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200" b="1">
                <a:solidFill>
                  <a:srgbClr val="FFFFFF"/>
                </a:solidFill>
                <a:latin typeface="Sora"/>
              </a:rPr>
              <a:t>Ant</a:t>
            </a:r>
            <a:r>
              <a:rPr sz="7200" b="1">
                <a:solidFill>
                  <a:srgbClr val="F2B705"/>
                </a:solidFill>
                <a:latin typeface="Sora"/>
              </a:rPr>
              <a:t>é</a:t>
            </a:r>
            <a:r>
              <a:rPr sz="7200" b="1">
                <a:solidFill>
                  <a:srgbClr val="FFFFFF"/>
                </a:solidFill>
                <a:latin typeface="Sora"/>
              </a:rPr>
              <a:t>via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657600"/>
            <a:ext cx="94457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spc="220">
                <a:solidFill>
                  <a:srgbClr val="E6E8F0"/>
                </a:solidFill>
                <a:latin typeface="Inter"/>
              </a:rPr>
              <a:t>A LOGÍSTICA DA SUA FORMAÇÃO, NO TEMPO CERTO</a:t>
            </a:r>
          </a:p>
        </p:txBody>
      </p:sp>
      <p:sp>
        <p:nvSpPr>
          <p:cNvPr id="6" name="Rectangle 5"/>
          <p:cNvSpPr/>
          <p:nvPr/>
        </p:nvSpPr>
        <p:spPr>
          <a:xfrm>
            <a:off x="5641848" y="4224528"/>
            <a:ext cx="914400" cy="18288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371600" y="4526280"/>
            <a:ext cx="94457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Inter"/>
              </a:rPr>
              <a:t>Projeção de receitas · 12 trimestres · 3 cenários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983480"/>
            <a:ext cx="94457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F2B705"/>
                </a:solidFill>
                <a:latin typeface="Inter"/>
              </a:rPr>
              <a:t>R$ 1,10 mi em 3 anos — e um primeiro ano de R$ 71 mil que é o verdadeiro desafio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5760720"/>
            <a:ext cx="94457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AEB6C6"/>
                </a:solidFill>
                <a:latin typeface="Inter"/>
              </a:rPr>
              <a:t>Grupo Kairós · Business Designer · Fundação Dom Cabral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6638544"/>
            <a:ext cx="5943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50" b="0" spc="60">
                <a:solidFill>
                  <a:srgbClr val="8A93A6"/>
                </a:solidFill>
                <a:latin typeface="Inter"/>
              </a:rPr>
              <a:t>GRUPO KAIRÓS · BUSINESS DESIGN · SPRINT 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54512" y="6638544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50" b="0">
                <a:solidFill>
                  <a:srgbClr val="8A93A6"/>
                </a:solidFill>
                <a:latin typeface="Inter"/>
              </a:rPr>
              <a:t>1 /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115214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300" b="1">
                <a:solidFill>
                  <a:srgbClr val="F2B705"/>
                </a:solidFill>
                <a:latin typeface="Sora"/>
              </a:rPr>
              <a:t>01  </a:t>
            </a:r>
            <a:r>
              <a:rPr sz="2300" b="1">
                <a:solidFill>
                  <a:srgbClr val="0B1220"/>
                </a:solidFill>
                <a:latin typeface="Sora"/>
              </a:rPr>
              <a:t>O que vendemos, para quem e como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60120"/>
            <a:ext cx="1088136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1B2435"/>
                </a:solidFill>
                <a:latin typeface="Inter"/>
              </a:rPr>
              <a:t>A meta do ano 1 é captar 100 alunos, somando todas as turmas e instituições. Cada aluno rende 12 módulos ao longo de 20 meses.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2103120"/>
            <a:ext cx="2761488" cy="26517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3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02920" y="2359152"/>
            <a:ext cx="239572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F2B705"/>
                </a:solidFill>
                <a:latin typeface="Sora"/>
              </a:rPr>
              <a:t>R$ 100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127248"/>
            <a:ext cx="239572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>
                <a:solidFill>
                  <a:srgbClr val="0B1220"/>
                </a:solidFill>
                <a:latin typeface="Inter SemiBold"/>
              </a:rPr>
              <a:t>Taxa por módulo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584448"/>
            <a:ext cx="2395728" cy="106070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1B2435"/>
                </a:solidFill>
                <a:latin typeface="Inter"/>
              </a:rPr>
              <a:t>Paga pelo aluno, por encontro cursado. Adesão voluntária, módulo a módulo.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46120" y="2103120"/>
            <a:ext cx="2761488" cy="26517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3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429000" y="2359152"/>
            <a:ext cx="239572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F2B705"/>
                </a:solidFill>
                <a:latin typeface="Sora"/>
              </a:rPr>
              <a:t>3% → 6,4%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3127248"/>
            <a:ext cx="239572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>
                <a:solidFill>
                  <a:srgbClr val="0B1220"/>
                </a:solidFill>
                <a:latin typeface="Inter SemiBold"/>
              </a:rPr>
              <a:t>Comissão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29000" y="3584448"/>
            <a:ext cx="2395728" cy="106070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1B2435"/>
                </a:solidFill>
                <a:latin typeface="Inter"/>
              </a:rPr>
              <a:t>Paga pelos fornecedores. Cresce com o volume — começa em 3%, não em 6,4%.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81344" y="2103120"/>
            <a:ext cx="2761488" cy="26517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3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364224" y="2359152"/>
            <a:ext cx="239572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F2B705"/>
                </a:solidFill>
                <a:latin typeface="Sora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4224" y="3127248"/>
            <a:ext cx="239572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>
                <a:solidFill>
                  <a:srgbClr val="0B1220"/>
                </a:solidFill>
                <a:latin typeface="Inter SemiBold"/>
              </a:rPr>
              <a:t>Alunos no ano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4224" y="3584448"/>
            <a:ext cx="2395728" cy="106070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1B2435"/>
                </a:solidFill>
                <a:latin typeface="Inter"/>
              </a:rPr>
              <a:t>A meta de captação, somando turmas e instituições. É a variável dominante do modelo.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07424" y="2103120"/>
            <a:ext cx="2761488" cy="26517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3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290304" y="2359152"/>
            <a:ext cx="239572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F2B705"/>
                </a:solidFill>
                <a:latin typeface="Sora"/>
              </a:rPr>
              <a:t>R$ 0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90304" y="3127248"/>
            <a:ext cx="239572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>
                <a:solidFill>
                  <a:srgbClr val="0B1220"/>
                </a:solidFill>
                <a:latin typeface="Inter SemiBold"/>
              </a:rPr>
              <a:t>Custo para a escola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90304" y="3584448"/>
            <a:ext cx="2395728" cy="106070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1B2435"/>
                </a:solidFill>
                <a:latin typeface="Inter"/>
              </a:rPr>
              <a:t>Empresta CNPJ, turma e calendário, sem desembolso.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0040" y="5166360"/>
            <a:ext cx="11521440" cy="731520"/>
          </a:xfrm>
          <a:prstGeom prst="roundRect">
            <a:avLst>
              <a:gd name="adj" fmla="val 6000"/>
            </a:avLst>
          </a:prstGeom>
          <a:solidFill>
            <a:srgbClr val="1B24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94360" y="5330952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E6E8F0"/>
                </a:solidFill>
                <a:latin typeface="Inter"/>
              </a:rPr>
              <a:t>A unidade é o aluno captado, não a turma. Isso tira do modelo as duas premissas mais frágeis que ele tinha: tamanho da turma e adesão dentro dela.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" y="6638544"/>
            <a:ext cx="5943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50" b="0" spc="60">
                <a:solidFill>
                  <a:srgbClr val="9AA1AD"/>
                </a:solidFill>
                <a:latin typeface="Inter"/>
              </a:rPr>
              <a:t>GRUPO KAIRÓS · BUSINESS DESIGN · SPRINT 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54512" y="6638544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50" b="0">
                <a:solidFill>
                  <a:srgbClr val="9AA1AD"/>
                </a:solidFill>
                <a:latin typeface="Inter"/>
              </a:rPr>
              <a:t>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115214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300" b="1">
                <a:solidFill>
                  <a:srgbClr val="F2B705"/>
                </a:solidFill>
                <a:latin typeface="Sora"/>
              </a:rPr>
              <a:t>02  </a:t>
            </a:r>
            <a:r>
              <a:rPr sz="2300" b="1">
                <a:solidFill>
                  <a:srgbClr val="0B1220"/>
                </a:solidFill>
                <a:latin typeface="Sora"/>
              </a:rPr>
              <a:t>O poder de negociação é conquistado, não assumido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60120"/>
            <a:ext cx="1088136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1B2435"/>
                </a:solidFill>
                <a:latin typeface="Inter"/>
              </a:rPr>
              <a:t>Por que uma companhia aérea venderia mais barato para nós do que vende direto para o aluno? No ano 1, não venderia.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2057400"/>
            <a:ext cx="11567160" cy="347472"/>
          </a:xfrm>
          <a:prstGeom prst="rect">
            <a:avLst/>
          </a:prstGeom>
          <a:solidFill>
            <a:srgbClr val="1B24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29768" y="2148840"/>
            <a:ext cx="96926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F2B705"/>
                </a:solidFill>
                <a:latin typeface="Inter SemiBold"/>
              </a:rPr>
              <a:t>Fase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18488" y="2148840"/>
            <a:ext cx="3483863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F2B705"/>
                </a:solidFill>
                <a:latin typeface="Inter SemiBold"/>
              </a:rPr>
              <a:t>Como compramos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21807" y="2148840"/>
            <a:ext cx="110642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2B705"/>
                </a:solidFill>
                <a:latin typeface="Inter SemiBold"/>
              </a:rPr>
              <a:t>Ticket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47688" y="2148840"/>
            <a:ext cx="15179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2B705"/>
                </a:solidFill>
                <a:latin typeface="Inter SemiBold"/>
              </a:rPr>
              <a:t>Economia líquida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5047" y="2148840"/>
            <a:ext cx="96926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2B705"/>
                </a:solidFill>
                <a:latin typeface="Inter SemiBold"/>
              </a:rPr>
              <a:t>Retorno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73767" y="2148840"/>
            <a:ext cx="96926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2B705"/>
                </a:solidFill>
                <a:latin typeface="Inter SemiBold"/>
              </a:rPr>
              <a:t>Comissão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62488" y="2148840"/>
            <a:ext cx="10149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2B705"/>
                </a:solidFill>
                <a:latin typeface="Inter SemiBold"/>
              </a:rPr>
              <a:t>R$/viagem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404872"/>
            <a:ext cx="115671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29768" y="2505456"/>
            <a:ext cx="96926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0B1220"/>
                </a:solidFill>
                <a:latin typeface="Inter SemiBold"/>
              </a:rPr>
              <a:t>Ano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18488" y="2505456"/>
            <a:ext cx="3483863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0B1220"/>
                </a:solidFill>
                <a:latin typeface="Inter SemiBold"/>
              </a:rPr>
              <a:t>Apoio da consolidadora — só antecipação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21807" y="2505456"/>
            <a:ext cx="110642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>
                <a:solidFill>
                  <a:srgbClr val="0B1220"/>
                </a:solidFill>
                <a:latin typeface="Inter SemiBold"/>
              </a:rPr>
              <a:t>R$ 1.920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7688" y="2505456"/>
            <a:ext cx="151790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>
                <a:solidFill>
                  <a:srgbClr val="0B1220"/>
                </a:solidFill>
                <a:latin typeface="Inter SemiBold"/>
              </a:rPr>
              <a:t>R$ 180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5047" y="2505456"/>
            <a:ext cx="96926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>
                <a:solidFill>
                  <a:srgbClr val="0B1220"/>
                </a:solidFill>
                <a:latin typeface="Inter SemiBold"/>
              </a:rPr>
              <a:t>1,8×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73767" y="2505456"/>
            <a:ext cx="96926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>
                <a:solidFill>
                  <a:srgbClr val="0B1220"/>
                </a:solidFill>
                <a:latin typeface="Inter SemiBold"/>
              </a:rPr>
              <a:t>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62488" y="2505456"/>
            <a:ext cx="101498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>
                <a:solidFill>
                  <a:srgbClr val="0B1220"/>
                </a:solidFill>
                <a:latin typeface="Inter SemiBold"/>
              </a:rPr>
              <a:t>R$ 157,60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2880360"/>
            <a:ext cx="115671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29768" y="2980944"/>
            <a:ext cx="96926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Ano 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18488" y="2980944"/>
            <a:ext cx="3483863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Bloqueios pontuais onde a rota concentra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21807" y="2980944"/>
            <a:ext cx="110642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R$ 1.800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47688" y="2980944"/>
            <a:ext cx="151790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R$ 300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85047" y="2980944"/>
            <a:ext cx="96926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3,0×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73767" y="2980944"/>
            <a:ext cx="96926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5%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62488" y="2980944"/>
            <a:ext cx="101498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R$ 190,00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0040" y="3355848"/>
            <a:ext cx="115671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429768" y="3456432"/>
            <a:ext cx="96926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Ano 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18488" y="3456432"/>
            <a:ext cx="3483863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Convênio próprio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21807" y="3456432"/>
            <a:ext cx="110642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R$ 1.700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47688" y="3456432"/>
            <a:ext cx="151790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R$ 400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85047" y="3456432"/>
            <a:ext cx="96926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4,0×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73767" y="3456432"/>
            <a:ext cx="96926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6,4%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62488" y="3456432"/>
            <a:ext cx="101498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R$ 208,80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0040" y="3977639"/>
            <a:ext cx="5623560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548640" y="4160520"/>
            <a:ext cx="5166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spc="120">
                <a:solidFill>
                  <a:srgbClr val="F2B705"/>
                </a:solidFill>
                <a:latin typeface="Inter SemiBold"/>
              </a:rPr>
              <a:t>A ÚNICA ALAVANCA DO ANO 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4480560"/>
            <a:ext cx="516636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1B2435"/>
                </a:solidFill>
                <a:latin typeface="Inter"/>
              </a:rPr>
              <a:t>Antecipação. Comprar aos 90 dias em vez de menos de 30 é a curva tarifária pública — não exige negociar com fornecedor nenhum. É gratuita e está disponível no primeiro dia.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17920" y="3977639"/>
            <a:ext cx="5623560" cy="1783080"/>
          </a:xfrm>
          <a:prstGeom prst="roundRect">
            <a:avLst>
              <a:gd name="adj" fmla="val 4000"/>
            </a:avLst>
          </a:prstGeom>
          <a:solidFill>
            <a:srgbClr val="1B24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446520" y="4160520"/>
            <a:ext cx="5166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spc="120">
                <a:solidFill>
                  <a:srgbClr val="F2B705"/>
                </a:solidFill>
                <a:latin typeface="Inter SemiBold"/>
              </a:rPr>
              <a:t>O TESTE CONTRA O VOLUME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46520" y="4480560"/>
            <a:ext cx="516636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E6E8F0"/>
                </a:solidFill>
                <a:latin typeface="Inter"/>
              </a:rPr>
              <a:t>Faixas da Velt: R$ 250–500 mil/ano rende 3–5%; acima de R$ 1 mi/ano, 8–12%. Com 100 alunos, o volume aéreo do ano 1 é R$ 518 mil — na entrada da faixa.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0040" y="6263640"/>
            <a:ext cx="115214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6B7280"/>
                </a:solidFill>
                <a:latin typeface="Inter"/>
              </a:rPr>
              <a:t>Faixas apuradas na entrevista com Bruno Brant (Velt), Sprint 1. As comissões usadas nos anos 2 e 3 ficam abaixo do que o volume permitiria.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20040" y="6638544"/>
            <a:ext cx="5943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50" b="0" spc="60">
                <a:solidFill>
                  <a:srgbClr val="9AA1AD"/>
                </a:solidFill>
                <a:latin typeface="Inter"/>
              </a:rPr>
              <a:t>GRUPO KAIRÓS · BUSINESS DESIGN · SPRINT 04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954512" y="6638544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50" b="0">
                <a:solidFill>
                  <a:srgbClr val="9AA1AD"/>
                </a:solidFill>
                <a:latin typeface="Inter"/>
              </a:rPr>
              <a:t>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115214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300" b="1">
                <a:solidFill>
                  <a:srgbClr val="F2B705"/>
                </a:solidFill>
                <a:latin typeface="Sora"/>
              </a:rPr>
              <a:t>03  </a:t>
            </a:r>
            <a:r>
              <a:rPr sz="2300" b="1">
                <a:solidFill>
                  <a:srgbClr val="0B1220"/>
                </a:solidFill>
                <a:latin typeface="Sora"/>
              </a:rPr>
              <a:t>A concentração é o que liga a tarifa de grupo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60120"/>
            <a:ext cx="1088136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1B2435"/>
                </a:solidFill>
                <a:latin typeface="Inter"/>
              </a:rPr>
              <a:t>Tarifa de grupo exige cerca de 10 passageiros na mesma rota. A pergunta certa é quantos alunos a operação reúne no mesmo campus e na mesma data.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2103120"/>
            <a:ext cx="9509760" cy="347472"/>
          </a:xfrm>
          <a:prstGeom prst="rect">
            <a:avLst/>
          </a:prstGeom>
          <a:solidFill>
            <a:srgbClr val="1B24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29768" y="2194560"/>
            <a:ext cx="252374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F2B705"/>
                </a:solidFill>
                <a:latin typeface="Inter SemiBold"/>
              </a:rPr>
              <a:t>Alunos no mesmo campus/data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72968" y="2194560"/>
            <a:ext cx="138074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2B705"/>
                </a:solidFill>
                <a:latin typeface="Inter SemiBold"/>
              </a:rPr>
              <a:t>5 origens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73168" y="2194560"/>
            <a:ext cx="138074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2B705"/>
                </a:solidFill>
                <a:latin typeface="Inter SemiBold"/>
              </a:rPr>
              <a:t>6 origens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3368" y="2194560"/>
            <a:ext cx="138074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2B705"/>
                </a:solidFill>
                <a:latin typeface="Inter SemiBold"/>
              </a:rPr>
              <a:t>8 origens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73567" y="2194560"/>
            <a:ext cx="17465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2B705"/>
                </a:solidFill>
                <a:latin typeface="Inter SemiBold"/>
              </a:rPr>
              <a:t>Forma grupo?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2450591"/>
            <a:ext cx="9509760" cy="420624"/>
          </a:xfrm>
          <a:prstGeom prst="rect">
            <a:avLst/>
          </a:prstGeom>
          <a:solidFill>
            <a:srgbClr val="FDF1CB"/>
          </a:solidFill>
          <a:ln w="9525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29768" y="2551175"/>
            <a:ext cx="2523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0B1220"/>
                </a:solidFill>
                <a:latin typeface="Inter"/>
              </a:rPr>
              <a:t>100 alunos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72968" y="2551175"/>
            <a:ext cx="1380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0B1220"/>
                </a:solidFill>
                <a:latin typeface="Inter"/>
              </a:rPr>
              <a:t>20,0 pax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73168" y="2551175"/>
            <a:ext cx="1380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0B1220"/>
                </a:solidFill>
                <a:latin typeface="Inter"/>
              </a:rPr>
              <a:t>16,7 pax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3368" y="2551175"/>
            <a:ext cx="1380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0B1220"/>
                </a:solidFill>
                <a:latin typeface="Inter"/>
              </a:rPr>
              <a:t>12,5 pax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73567" y="2551175"/>
            <a:ext cx="17465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0B1220"/>
                </a:solidFill>
                <a:latin typeface="Inter"/>
              </a:rPr>
              <a:t>sim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2871215"/>
            <a:ext cx="95097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29768" y="2971799"/>
            <a:ext cx="2523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50 alunos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72968" y="2971799"/>
            <a:ext cx="1380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10,0 pax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73168" y="2971799"/>
            <a:ext cx="1380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8,3 pax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3368" y="2971799"/>
            <a:ext cx="1380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6,2 pax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73567" y="2971799"/>
            <a:ext cx="17465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só com 5 origens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3291839"/>
            <a:ext cx="95097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29768" y="3392423"/>
            <a:ext cx="2523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25 alunos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72968" y="3392423"/>
            <a:ext cx="1380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5,0 pax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73168" y="3392423"/>
            <a:ext cx="1380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4,2 pax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3368" y="3392423"/>
            <a:ext cx="1380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3,1 pax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73567" y="3392423"/>
            <a:ext cx="17465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não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0040" y="3712463"/>
            <a:ext cx="95097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429768" y="3813048"/>
            <a:ext cx="2523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1 turma de 40, metade viajando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72968" y="3813048"/>
            <a:ext cx="1380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4,0 pax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73168" y="3813048"/>
            <a:ext cx="1380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3,3 pax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3368" y="3813048"/>
            <a:ext cx="1380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2,5 pax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73567" y="3813048"/>
            <a:ext cx="17465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não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058400" y="2103120"/>
            <a:ext cx="1783080" cy="2029968"/>
          </a:xfrm>
          <a:prstGeom prst="roundRect">
            <a:avLst>
              <a:gd name="adj" fmla="val 5000"/>
            </a:avLst>
          </a:prstGeom>
          <a:solidFill>
            <a:srgbClr val="1B24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10241280" y="2331720"/>
            <a:ext cx="14173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F2B705"/>
                </a:solidFill>
                <a:latin typeface="Sora"/>
              </a:rPr>
              <a:t>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41280" y="3017520"/>
            <a:ext cx="14173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0">
                <a:solidFill>
                  <a:srgbClr val="E6E8F0"/>
                </a:solidFill>
                <a:latin typeface="Inter"/>
              </a:rPr>
              <a:t>passageiros na mesma rota é o mínimo de mercado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20040" y="4343400"/>
            <a:ext cx="11521440" cy="777240"/>
          </a:xfrm>
          <a:prstGeom prst="roundRect">
            <a:avLst>
              <a:gd name="adj" fmla="val 5000"/>
            </a:avLst>
          </a:prstGeom>
          <a:solidFill>
            <a:srgbClr val="FDF1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594360" y="45262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0B1220"/>
                </a:solidFill>
                <a:latin typeface="Sora"/>
              </a:rPr>
              <a:t>Nenhuma turma isolada forma grupo. A concentração tem que vir de somar turmas no mesmo campus e data.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20040" y="5074920"/>
            <a:ext cx="3749039" cy="14173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3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502920" y="5202936"/>
            <a:ext cx="33832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2B705"/>
                </a:solidFill>
                <a:latin typeface="Sora"/>
              </a:rPr>
              <a:t>Campus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5605272"/>
            <a:ext cx="33832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0B1220"/>
                </a:solidFill>
                <a:latin typeface="Inter SemiBold"/>
              </a:rPr>
              <a:t>A nova unidade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5879592"/>
            <a:ext cx="33832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1B2435"/>
                </a:solidFill>
                <a:latin typeface="Inter"/>
              </a:rPr>
              <a:t>A negociação passa a ser por campus numa data, somando alunos de várias turmas.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224528" y="5074920"/>
            <a:ext cx="3749039" cy="14173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3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4407408" y="5202936"/>
            <a:ext cx="33832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2B705"/>
                </a:solidFill>
                <a:latin typeface="Sora"/>
              </a:rPr>
              <a:t>50 a 60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07408" y="5605272"/>
            <a:ext cx="33832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0B1220"/>
                </a:solidFill>
                <a:latin typeface="Inter SemiBold"/>
              </a:rPr>
              <a:t>Alunos por data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07408" y="5879592"/>
            <a:ext cx="33832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1B2435"/>
                </a:solidFill>
                <a:latin typeface="Inter"/>
              </a:rPr>
              <a:t>É o limiar de concentração que liga a tarifa de grupo.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119872" y="5074920"/>
            <a:ext cx="3749039" cy="14173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3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8302752" y="5202936"/>
            <a:ext cx="33832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2B705"/>
                </a:solidFill>
                <a:latin typeface="Sora"/>
              </a:rPr>
              <a:t>Nosso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02752" y="5605272"/>
            <a:ext cx="33832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0B1220"/>
                </a:solidFill>
                <a:latin typeface="Inter SemiBold"/>
              </a:rPr>
              <a:t>O bloqueio é da Antévia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02752" y="5879592"/>
            <a:ext cx="33832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1B2435"/>
                </a:solidFill>
                <a:latin typeface="Inter"/>
              </a:rPr>
              <a:t>Se quem agrega o volume é a plataforma, o ativo passa a ser nosso.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20040" y="6638544"/>
            <a:ext cx="5943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50" b="0" spc="60">
                <a:solidFill>
                  <a:srgbClr val="9AA1AD"/>
                </a:solidFill>
                <a:latin typeface="Inter"/>
              </a:rPr>
              <a:t>GRUPO KAIRÓS · BUSINESS DESIGN · SPRINT 04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954512" y="6638544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50" b="0">
                <a:solidFill>
                  <a:srgbClr val="9AA1AD"/>
                </a:solidFill>
                <a:latin typeface="Inter"/>
              </a:rPr>
              <a:t>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115214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300" b="1">
                <a:solidFill>
                  <a:srgbClr val="F2B705"/>
                </a:solidFill>
                <a:latin typeface="Sora"/>
              </a:rPr>
              <a:t>04  </a:t>
            </a:r>
            <a:r>
              <a:rPr sz="2300" b="1">
                <a:solidFill>
                  <a:srgbClr val="0B1220"/>
                </a:solidFill>
                <a:latin typeface="Sora"/>
              </a:rPr>
              <a:t>A economia por módulo, fase a fase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60120"/>
            <a:ext cx="1088136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1B2435"/>
                </a:solidFill>
                <a:latin typeface="Inter"/>
              </a:rPr>
              <a:t>Hoje o aluno de fora desembolsa R$ 2.200 por módulo comprando em cima da hora.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2103120"/>
            <a:ext cx="11521440" cy="347472"/>
          </a:xfrm>
          <a:prstGeom prst="rect">
            <a:avLst/>
          </a:prstGeom>
          <a:solidFill>
            <a:srgbClr val="1B24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29768" y="2194560"/>
            <a:ext cx="26151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F2B705"/>
                </a:solidFill>
                <a:latin typeface="Inter SemiBold"/>
              </a:rPr>
              <a:t>Item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64408" y="2194560"/>
            <a:ext cx="160934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2B705"/>
                </a:solidFill>
                <a:latin typeface="Inter SemiBold"/>
              </a:rPr>
              <a:t>Hoje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93208" y="2194560"/>
            <a:ext cx="2066543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2B705"/>
                </a:solidFill>
                <a:latin typeface="Inter SemiBold"/>
              </a:rPr>
              <a:t>Fase 1 (ano 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79208" y="2194560"/>
            <a:ext cx="2066543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2B705"/>
                </a:solidFill>
                <a:latin typeface="Inter SemiBold"/>
              </a:rPr>
              <a:t>Fase 2 (ano 2)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65207" y="2194560"/>
            <a:ext cx="2066543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2B705"/>
                </a:solidFill>
                <a:latin typeface="Inter SemiBold"/>
              </a:rPr>
              <a:t>Fase 3 (ano 3)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2450591"/>
            <a:ext cx="1152144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29768" y="2551175"/>
            <a:ext cx="261518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Aéreo (ida e volta)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4408" y="2551175"/>
            <a:ext cx="16093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R$ 1.400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93208" y="2551175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R$ 1.150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79208" y="2551175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R$ 1.080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65207" y="2551175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R$ 1.020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2871215"/>
            <a:ext cx="1152144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29768" y="2971799"/>
            <a:ext cx="261518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Hotel (2 diárias)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64408" y="2971799"/>
            <a:ext cx="16093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R$ 600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93208" y="2971799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R$ 570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79208" y="2971799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R$ 530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65207" y="2971799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R$ 500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3291839"/>
            <a:ext cx="1152144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29768" y="3392423"/>
            <a:ext cx="261518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Traslado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64408" y="3392423"/>
            <a:ext cx="16093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R$ 200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93208" y="3392423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R$ 200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79208" y="3392423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R$ 190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65207" y="3392423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R$ 180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0040" y="3712463"/>
            <a:ext cx="1152144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429768" y="3813048"/>
            <a:ext cx="261518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0B1220"/>
                </a:solidFill>
                <a:latin typeface="Inter SemiBold"/>
              </a:rPr>
              <a:t>Subtotal logístico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64408" y="3813048"/>
            <a:ext cx="16093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>
                <a:solidFill>
                  <a:srgbClr val="0B1220"/>
                </a:solidFill>
                <a:latin typeface="Inter SemiBold"/>
              </a:rPr>
              <a:t>R$ 2.200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93208" y="381304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>
                <a:solidFill>
                  <a:srgbClr val="0B1220"/>
                </a:solidFill>
                <a:latin typeface="Inter SemiBold"/>
              </a:rPr>
              <a:t>R$ 1.920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79208" y="381304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>
                <a:solidFill>
                  <a:srgbClr val="0B1220"/>
                </a:solidFill>
                <a:latin typeface="Inter SemiBold"/>
              </a:rPr>
              <a:t>R$ 1.800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65207" y="381304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>
                <a:solidFill>
                  <a:srgbClr val="0B1220"/>
                </a:solidFill>
                <a:latin typeface="Inter SemiBold"/>
              </a:rPr>
              <a:t>R$ 1.700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20040" y="4133087"/>
            <a:ext cx="1152144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429768" y="4233672"/>
            <a:ext cx="261518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Taxa de serviço Antévia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64408" y="4233672"/>
            <a:ext cx="16093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93208" y="4233672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R$ 100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79208" y="4233672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R$ 100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65207" y="4233672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R$ 100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20040" y="4553712"/>
            <a:ext cx="11521440" cy="420624"/>
          </a:xfrm>
          <a:prstGeom prst="rect">
            <a:avLst/>
          </a:prstGeom>
          <a:solidFill>
            <a:srgbClr val="FDF1CB"/>
          </a:solidFill>
          <a:ln w="9525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429768" y="4654296"/>
            <a:ext cx="261518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0B1220"/>
                </a:solidFill>
                <a:latin typeface="Inter"/>
              </a:rPr>
              <a:t>Economia líquida do aluno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64408" y="4654296"/>
            <a:ext cx="16093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0B1220"/>
                </a:solidFill>
                <a:latin typeface="Inter"/>
              </a:rP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93208" y="4654296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0B1220"/>
                </a:solidFill>
                <a:latin typeface="Inter"/>
              </a:rPr>
              <a:t>R$ 180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79208" y="4654296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0B1220"/>
                </a:solidFill>
                <a:latin typeface="Inter"/>
              </a:rPr>
              <a:t>R$ 300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65207" y="4654296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0B1220"/>
                </a:solidFill>
                <a:latin typeface="Inter"/>
              </a:rPr>
              <a:t>R$ 400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20040" y="4974336"/>
            <a:ext cx="1152144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429768" y="5074920"/>
            <a:ext cx="261518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Redução no desembolso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64408" y="5074920"/>
            <a:ext cx="16093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93208" y="5074920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8,2%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79208" y="5074920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13,6%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65207" y="5074920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18,2%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20040" y="5349240"/>
            <a:ext cx="11521440" cy="731520"/>
          </a:xfrm>
          <a:prstGeom prst="roundRect">
            <a:avLst>
              <a:gd name="adj" fmla="val 6000"/>
            </a:avLst>
          </a:prstGeom>
          <a:solidFill>
            <a:srgbClr val="1B24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594360" y="5513832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E6E8F0"/>
                </a:solidFill>
                <a:latin typeface="Inter"/>
              </a:rPr>
              <a:t>A meta de −15% a −25% da Sprint 1 só é atingida na fase 3. No ano 1 o aluno economiza 8,2% — e isso precisa ser dito a ele.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0040" y="6638544"/>
            <a:ext cx="5943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50" b="0" spc="60">
                <a:solidFill>
                  <a:srgbClr val="9AA1AD"/>
                </a:solidFill>
                <a:latin typeface="Inter"/>
              </a:rPr>
              <a:t>GRUPO KAIRÓS · BUSINESS DESIGN · SPRINT 04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954512" y="6638544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50" b="0">
                <a:solidFill>
                  <a:srgbClr val="9AA1AD"/>
                </a:solidFill>
                <a:latin typeface="Inter"/>
              </a:rPr>
              <a:t>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115214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300" b="1">
                <a:solidFill>
                  <a:srgbClr val="F2B705"/>
                </a:solidFill>
                <a:latin typeface="Sora"/>
              </a:rPr>
              <a:t>05  </a:t>
            </a:r>
            <a:r>
              <a:rPr sz="2300" b="1">
                <a:solidFill>
                  <a:srgbClr val="0B1220"/>
                </a:solidFill>
                <a:latin typeface="Sora"/>
              </a:rPr>
              <a:t>Como o mercado cobra hoje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60120"/>
            <a:ext cx="1088136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1B2435"/>
                </a:solidFill>
                <a:latin typeface="Inter"/>
              </a:rPr>
              <a:t>Nenhuma alternativa cobre a operação inteira de um programa. O aluno paga pouco em taxa e muito em tarifa.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2057400"/>
            <a:ext cx="11521440" cy="347472"/>
          </a:xfrm>
          <a:prstGeom prst="rect">
            <a:avLst/>
          </a:prstGeom>
          <a:solidFill>
            <a:srgbClr val="1B24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29768" y="2148840"/>
            <a:ext cx="229514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F2B705"/>
                </a:solidFill>
                <a:latin typeface="Inter SemiBold"/>
              </a:rPr>
              <a:t>Alternativa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44368" y="2148840"/>
            <a:ext cx="2569463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F2B705"/>
                </a:solidFill>
                <a:latin typeface="Inter SemiBold"/>
              </a:rPr>
              <a:t>Modelo de cobrança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33288" y="214884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2B705"/>
                </a:solidFill>
                <a:latin typeface="Inter SemiBold"/>
              </a:rPr>
              <a:t>Faixa de referência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73568" y="2148840"/>
            <a:ext cx="3758183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F2B705"/>
                </a:solidFill>
                <a:latin typeface="Inter SemiBold"/>
              </a:rPr>
              <a:t>Por que não resolve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2404872"/>
            <a:ext cx="115214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29768" y="2505456"/>
            <a:ext cx="229514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Apps das cias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44368" y="2505456"/>
            <a:ext cx="2569463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Sem taxa; margem no tarifário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33288" y="2505456"/>
            <a:ext cx="202082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73568" y="2505456"/>
            <a:ext cx="3758183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Resolve um trecho, ignora o calendário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2880360"/>
            <a:ext cx="115214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29768" y="2980944"/>
            <a:ext cx="229514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OTAs (Decolar, CVC)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44368" y="2980944"/>
            <a:ext cx="2569463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Conveniência + comissão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33288" y="2980944"/>
            <a:ext cx="202082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R$ 0–80 / emissão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73568" y="2980944"/>
            <a:ext cx="3758183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Viagem a viagem, sob demanda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3355848"/>
            <a:ext cx="115214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429768" y="3456432"/>
            <a:ext cx="229514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Agência tradicional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44368" y="3456432"/>
            <a:ext cx="2569463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Fee por emissão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33288" y="3456432"/>
            <a:ext cx="202082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R$ 40–120 / bilhete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73568" y="3456432"/>
            <a:ext cx="3758183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Cotação reativa, sem integração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3831335"/>
            <a:ext cx="115214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429768" y="3931920"/>
            <a:ext cx="229514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Plataformas B2B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44368" y="3931920"/>
            <a:ext cx="2569463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SaaS + fee por transação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33288" y="3931920"/>
            <a:ext cx="202082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R$ 20–60 / usuário/mês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73568" y="3931920"/>
            <a:ext cx="3758183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Exige CNPJ — o aluno PF fica fora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4306823"/>
            <a:ext cx="115214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429768" y="4407407"/>
            <a:ext cx="229514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Concierge premium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44368" y="4407407"/>
            <a:ext cx="2569463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Mensalidade ou % da viagem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33288" y="4407407"/>
            <a:ext cx="202082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5–15% da viagem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73568" y="4407407"/>
            <a:ext cx="3758183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Não existe recorte para aluno-executivo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0040" y="5074920"/>
            <a:ext cx="11521440" cy="868680"/>
          </a:xfrm>
          <a:prstGeom prst="roundRect">
            <a:avLst>
              <a:gd name="adj" fmla="val 5000"/>
            </a:avLst>
          </a:prstGeom>
          <a:solidFill>
            <a:srgbClr val="FDF1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594360" y="5285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0B1220"/>
                </a:solidFill>
                <a:latin typeface="Sora"/>
              </a:rPr>
              <a:t>O custo real da decisão tardia é invisível para o aluno: não aparece como taxa, aparece como preço da passagem.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40" y="6638544"/>
            <a:ext cx="5943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50" b="0" spc="60">
                <a:solidFill>
                  <a:srgbClr val="9AA1AD"/>
                </a:solidFill>
                <a:latin typeface="Inter"/>
              </a:rPr>
              <a:t>GRUPO KAIRÓS · BUSINESS DESIGN · SPRINT 04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54512" y="6638544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50" b="0">
                <a:solidFill>
                  <a:srgbClr val="9AA1AD"/>
                </a:solidFill>
                <a:latin typeface="Inter"/>
              </a:rPr>
              <a:t>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115214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300" b="1">
                <a:solidFill>
                  <a:srgbClr val="F2B705"/>
                </a:solidFill>
                <a:latin typeface="Sora"/>
              </a:rPr>
              <a:t>06  </a:t>
            </a:r>
            <a:r>
              <a:rPr sz="2300" b="1">
                <a:solidFill>
                  <a:srgbClr val="0B1220"/>
                </a:solidFill>
                <a:latin typeface="Sora"/>
              </a:rPr>
              <a:t>O preço se paga — mas a folga cresce com o tempo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60120"/>
            <a:ext cx="1088136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1B2435"/>
                </a:solidFill>
                <a:latin typeface="Inter"/>
              </a:rPr>
              <a:t>A taxa foi ancorada na economia entregue, não em disposição a pagar declarada. Só que a economia muda por fase.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2103120"/>
            <a:ext cx="2761488" cy="26060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3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02920" y="2359152"/>
            <a:ext cx="239572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B85042"/>
                </a:solidFill>
                <a:latin typeface="Sora"/>
              </a:rPr>
              <a:t>1,8×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127248"/>
            <a:ext cx="239572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>
                <a:solidFill>
                  <a:srgbClr val="0B1220"/>
                </a:solidFill>
                <a:latin typeface="Inter SemiBold"/>
              </a:rPr>
              <a:t>Retorno no ano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584448"/>
            <a:ext cx="2395728" cy="101498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1B2435"/>
                </a:solidFill>
                <a:latin typeface="Inter"/>
              </a:rPr>
              <a:t>Paga R$ 100, recebe R$ 180. O serviço se paga, com folga apertada.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46120" y="2103120"/>
            <a:ext cx="2761488" cy="26060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3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429000" y="2359152"/>
            <a:ext cx="239572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F2B705"/>
                </a:solidFill>
                <a:latin typeface="Sora"/>
              </a:rPr>
              <a:t>3,0×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3127248"/>
            <a:ext cx="239572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>
                <a:solidFill>
                  <a:srgbClr val="0B1220"/>
                </a:solidFill>
                <a:latin typeface="Inter SemiBold"/>
              </a:rPr>
              <a:t>Retorno no ano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29000" y="3584448"/>
            <a:ext cx="2395728" cy="101498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1B2435"/>
                </a:solidFill>
                <a:latin typeface="Inter"/>
              </a:rPr>
              <a:t>Bloqueios pontuais elevam a economia para R$ 300 líquidos.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81344" y="2103120"/>
            <a:ext cx="2761488" cy="26060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3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364224" y="2359152"/>
            <a:ext cx="239572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2D6A4F"/>
                </a:solidFill>
                <a:latin typeface="Sora"/>
              </a:rPr>
              <a:t>4,0×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4224" y="3127248"/>
            <a:ext cx="239572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>
                <a:solidFill>
                  <a:srgbClr val="0B1220"/>
                </a:solidFill>
                <a:latin typeface="Inter SemiBold"/>
              </a:rPr>
              <a:t>Retorno no ano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4224" y="3584448"/>
            <a:ext cx="2395728" cy="101498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1B2435"/>
                </a:solidFill>
                <a:latin typeface="Inter"/>
              </a:rPr>
              <a:t>Convênio próprio: paga R$ 100, recebe R$ 400 de volta.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07424" y="2103120"/>
            <a:ext cx="2761488" cy="26060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3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290304" y="2359152"/>
            <a:ext cx="239572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2B705"/>
                </a:solidFill>
                <a:latin typeface="Sora"/>
              </a:rPr>
              <a:t>63% → 48%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90304" y="3127248"/>
            <a:ext cx="239572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>
                <a:solidFill>
                  <a:srgbClr val="0B1220"/>
                </a:solidFill>
                <a:latin typeface="Inter SemiBold"/>
              </a:rPr>
              <a:t>Peso da taxa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90304" y="3584448"/>
            <a:ext cx="2395728" cy="101498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1B2435"/>
                </a:solidFill>
                <a:latin typeface="Inter"/>
              </a:rPr>
              <a:t>A dependência do bolso do aluno cai conforme a comissão cresce.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0040" y="5120640"/>
            <a:ext cx="11521440" cy="777240"/>
          </a:xfrm>
          <a:prstGeom prst="roundRect">
            <a:avLst>
              <a:gd name="adj" fmla="val 6000"/>
            </a:avLst>
          </a:prstGeom>
          <a:solidFill>
            <a:srgbClr val="1B24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94360" y="530352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E6E8F0"/>
                </a:solidFill>
                <a:latin typeface="Inter"/>
              </a:rPr>
              <a:t>Consequência comercial: no primeiro ano a venda não se sustenta só no desconto. Apoia-se no tempo devolvido e em não orquestrar três plataformas por módulo.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" y="6638544"/>
            <a:ext cx="5943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50" b="0" spc="60">
                <a:solidFill>
                  <a:srgbClr val="9AA1AD"/>
                </a:solidFill>
                <a:latin typeface="Inter"/>
              </a:rPr>
              <a:t>GRUPO KAIRÓS · BUSINESS DESIGN · SPRINT 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54512" y="6638544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50" b="0">
                <a:solidFill>
                  <a:srgbClr val="9AA1AD"/>
                </a:solidFill>
                <a:latin typeface="Inter"/>
              </a:rPr>
              <a:t>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115214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300" b="1">
                <a:solidFill>
                  <a:srgbClr val="F2B705"/>
                </a:solidFill>
                <a:latin typeface="Sora"/>
              </a:rPr>
              <a:t>07  </a:t>
            </a:r>
            <a:r>
              <a:rPr sz="2300" b="1">
                <a:solidFill>
                  <a:srgbClr val="0B1220"/>
                </a:solidFill>
                <a:latin typeface="Sora"/>
              </a:rPr>
              <a:t>Potencial de mercado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60120"/>
            <a:ext cx="1088136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1B2435"/>
                </a:solidFill>
                <a:latin typeface="Inter"/>
              </a:rPr>
              <a:t>Construído de baixo para cima a partir da base do IBGE usada na Sprint 1.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965960"/>
            <a:ext cx="11521440" cy="841248"/>
          </a:xfrm>
          <a:prstGeom prst="roundRect">
            <a:avLst>
              <a:gd name="adj" fmla="val 6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94359" y="2075688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900" b="1">
                <a:solidFill>
                  <a:srgbClr val="0B1220"/>
                </a:solidFill>
                <a:latin typeface="Sora"/>
              </a:rPr>
              <a:t>TAM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65960" y="2075688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0B1220"/>
                </a:solidFill>
                <a:latin typeface="Inter SemiBold"/>
              </a:rPr>
              <a:t>42.000 alunos-viajantes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65960" y="2404872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0B1220"/>
                </a:solidFill>
                <a:latin typeface="Inter"/>
              </a:rPr>
              <a:t>R$ 63,1 mi/ano — mercado de um operador maduro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57399" y="2926080"/>
            <a:ext cx="8046720" cy="841248"/>
          </a:xfrm>
          <a:prstGeom prst="roundRect">
            <a:avLst>
              <a:gd name="adj" fmla="val 6000"/>
            </a:avLst>
          </a:prstGeom>
          <a:solidFill>
            <a:srgbClr val="D9A3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2331719" y="3035808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900" b="1">
                <a:solidFill>
                  <a:srgbClr val="0B1220"/>
                </a:solidFill>
                <a:latin typeface="Sora"/>
              </a:rPr>
              <a:t>SAM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3035808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0B1220"/>
                </a:solidFill>
                <a:latin typeface="Inter SemiBold"/>
              </a:rPr>
              <a:t>10.500 alunos · Nova Lima, SP e Rio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3320" y="3364992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0B1220"/>
                </a:solidFill>
                <a:latin typeface="Inter"/>
              </a:rPr>
              <a:t>R$ 15,8 mi/ano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03320" y="3886200"/>
            <a:ext cx="4754880" cy="841248"/>
          </a:xfrm>
          <a:prstGeom prst="roundRect">
            <a:avLst>
              <a:gd name="adj" fmla="val 6000"/>
            </a:avLst>
          </a:prstGeom>
          <a:solidFill>
            <a:srgbClr val="B886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977639" y="3995928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900" b="1">
                <a:solidFill>
                  <a:srgbClr val="0B1220"/>
                </a:solidFill>
                <a:latin typeface="Sora"/>
              </a:rPr>
              <a:t>SOM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49240" y="3995928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0B1220"/>
                </a:solidFill>
                <a:latin typeface="Inter SemiBold"/>
              </a:rPr>
              <a:t>650 alunos ativos no T12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49240" y="4325112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0B1220"/>
                </a:solidFill>
                <a:latin typeface="Inter"/>
              </a:rPr>
              <a:t>R$ 977 mil/ano · 6,2% do SAM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4983480"/>
            <a:ext cx="11521440" cy="292608"/>
          </a:xfrm>
          <a:prstGeom prst="rect">
            <a:avLst/>
          </a:prstGeom>
          <a:solidFill>
            <a:srgbClr val="1B24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29768" y="5074920"/>
            <a:ext cx="26609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F2B705"/>
                </a:solidFill>
                <a:latin typeface="Inter SemiBold"/>
              </a:rPr>
              <a:t>Fim do ano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10128" y="5074920"/>
            <a:ext cx="26609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2B705"/>
                </a:solidFill>
                <a:latin typeface="Inter SemiBold"/>
              </a:rPr>
              <a:t>Alunos ativos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90488" y="5074920"/>
            <a:ext cx="26609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2B705"/>
                </a:solidFill>
                <a:latin typeface="Inter SemiBold"/>
              </a:rPr>
              <a:t>Receita anualizada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70848" y="5074920"/>
            <a:ext cx="26609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2B705"/>
                </a:solidFill>
                <a:latin typeface="Inter SemiBold"/>
              </a:rPr>
              <a:t>% do SAM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276088"/>
            <a:ext cx="1152144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429768" y="5376672"/>
            <a:ext cx="2660904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Ano 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10128" y="5376672"/>
            <a:ext cx="2660904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100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90488" y="5376672"/>
            <a:ext cx="2660904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R$ 113 mil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70848" y="5376672"/>
            <a:ext cx="2660904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1,0%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5586984"/>
            <a:ext cx="1152144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429768" y="5687568"/>
            <a:ext cx="2660904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Ano 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10128" y="5687568"/>
            <a:ext cx="2660904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280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90488" y="5687568"/>
            <a:ext cx="2660904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R$ 383 mil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70848" y="5687568"/>
            <a:ext cx="2660904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2,7%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0040" y="5897880"/>
            <a:ext cx="11521440" cy="310896"/>
          </a:xfrm>
          <a:prstGeom prst="rect">
            <a:avLst/>
          </a:prstGeom>
          <a:solidFill>
            <a:srgbClr val="FDF1CB"/>
          </a:solidFill>
          <a:ln w="9525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429768" y="5998464"/>
            <a:ext cx="2660904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0B1220"/>
                </a:solidFill>
                <a:latin typeface="Inter"/>
              </a:rPr>
              <a:t>Ano 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10128" y="5998464"/>
            <a:ext cx="2660904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0B1220"/>
                </a:solidFill>
                <a:latin typeface="Inter"/>
              </a:rPr>
              <a:t>650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90488" y="5998464"/>
            <a:ext cx="2660904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0B1220"/>
                </a:solidFill>
                <a:latin typeface="Inter"/>
              </a:rPr>
              <a:t>R$ 977 mil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70848" y="5998464"/>
            <a:ext cx="2660904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0B1220"/>
                </a:solidFill>
                <a:latin typeface="Inter"/>
              </a:rPr>
              <a:t>6,2%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40" y="6327648"/>
            <a:ext cx="115214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6B7280"/>
                </a:solidFill>
                <a:latin typeface="Inter"/>
              </a:rPr>
              <a:t>A primeira versão projetava 24% do SAM, assumindo turma de 100 alunos e adesão de 60% desde o T1. Não se sustentava.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0040" y="6638544"/>
            <a:ext cx="5943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50" b="0" spc="60">
                <a:solidFill>
                  <a:srgbClr val="9AA1AD"/>
                </a:solidFill>
                <a:latin typeface="Inter"/>
              </a:rPr>
              <a:t>GRUPO KAIRÓS · BUSINESS DESIGN · SPRINT 04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54512" y="6638544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50" b="0">
                <a:solidFill>
                  <a:srgbClr val="9AA1AD"/>
                </a:solidFill>
                <a:latin typeface="Inter"/>
              </a:rPr>
              <a:t>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115214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300" b="1">
                <a:solidFill>
                  <a:srgbClr val="F2B705"/>
                </a:solidFill>
                <a:latin typeface="Sora"/>
              </a:rPr>
              <a:t>08  </a:t>
            </a:r>
            <a:r>
              <a:rPr sz="2300" b="1">
                <a:solidFill>
                  <a:srgbClr val="0B1220"/>
                </a:solidFill>
                <a:latin typeface="Sora"/>
              </a:rPr>
              <a:t>Três cenários de receita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60120"/>
            <a:ext cx="1088136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1B2435"/>
                </a:solidFill>
                <a:latin typeface="Inter"/>
              </a:rPr>
              <a:t>O que separa os cenários é quantos alunos a operação capta. As fases de negociação são as mesmas nos três.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2057400"/>
            <a:ext cx="3749039" cy="1874519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3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02920" y="2313432"/>
            <a:ext cx="33832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>
                <a:solidFill>
                  <a:srgbClr val="C9CFDA"/>
                </a:solidFill>
                <a:latin typeface="Sora"/>
              </a:rPr>
              <a:t>R$ 551 mil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081528"/>
            <a:ext cx="33832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>
                <a:solidFill>
                  <a:srgbClr val="0B1220"/>
                </a:solidFill>
                <a:latin typeface="Inter SemiBold"/>
              </a:rPr>
              <a:t>Pessimista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538728"/>
            <a:ext cx="3383279" cy="2834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1B2435"/>
                </a:solidFill>
                <a:latin typeface="Inter"/>
              </a:rPr>
              <a:t>50 alunos no ano 1 · 320 no T12 · ano 1 de R$ 38 mil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24528" y="2057400"/>
            <a:ext cx="3749039" cy="1874519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3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407408" y="2313432"/>
            <a:ext cx="33832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>
                <a:solidFill>
                  <a:srgbClr val="F2B705"/>
                </a:solidFill>
                <a:latin typeface="Sora"/>
              </a:rPr>
              <a:t>R$ 1,10 mi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07408" y="3081528"/>
            <a:ext cx="33832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>
                <a:solidFill>
                  <a:srgbClr val="0B1220"/>
                </a:solidFill>
                <a:latin typeface="Inter SemiBold"/>
              </a:rPr>
              <a:t>Tendencial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07408" y="3538728"/>
            <a:ext cx="3383279" cy="2834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1B2435"/>
                </a:solidFill>
                <a:latin typeface="Inter"/>
              </a:rPr>
              <a:t>100 alunos no ano 1 · 650 no T12 · ano 1 de R$ 71 mil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9872" y="2057400"/>
            <a:ext cx="3749039" cy="1874519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3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302752" y="2313432"/>
            <a:ext cx="33832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>
                <a:solidFill>
                  <a:srgbClr val="2D6A4F"/>
                </a:solidFill>
                <a:latin typeface="Sora"/>
              </a:rPr>
              <a:t>R$ 1,83 mi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02752" y="3081528"/>
            <a:ext cx="33832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>
                <a:solidFill>
                  <a:srgbClr val="0B1220"/>
                </a:solidFill>
                <a:latin typeface="Inter SemiBold"/>
              </a:rPr>
              <a:t>Otimista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02752" y="3538728"/>
            <a:ext cx="3383279" cy="2834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1B2435"/>
                </a:solidFill>
                <a:latin typeface="Inter"/>
              </a:rPr>
              <a:t>160 alunos no ano 1 · 1.100 no T12 · ano 1 de R$ 113 mil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4160520"/>
            <a:ext cx="11521440" cy="347472"/>
          </a:xfrm>
          <a:prstGeom prst="rect">
            <a:avLst/>
          </a:prstGeom>
          <a:solidFill>
            <a:srgbClr val="1B24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29768" y="4251959"/>
            <a:ext cx="1655063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F2B705"/>
                </a:solidFill>
                <a:latin typeface="Inter SemiBold"/>
              </a:rPr>
              <a:t>Cenário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04288" y="4251959"/>
            <a:ext cx="12893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2B705"/>
                </a:solidFill>
                <a:latin typeface="Inter SemiBold"/>
              </a:rPr>
              <a:t>Ano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13048" y="4251959"/>
            <a:ext cx="138074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2B705"/>
                </a:solidFill>
                <a:latin typeface="Inter SemiBold"/>
              </a:rPr>
              <a:t>Ano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13248" y="4251959"/>
            <a:ext cx="142646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2B705"/>
                </a:solidFill>
                <a:latin typeface="Inter SemiBold"/>
              </a:rPr>
              <a:t>Ano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59168" y="4251959"/>
            <a:ext cx="156362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2B705"/>
                </a:solidFill>
                <a:latin typeface="Inter SemiBold"/>
              </a:rPr>
              <a:t>Total 3 anos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42247" y="4251959"/>
            <a:ext cx="119786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2B705"/>
                </a:solidFill>
                <a:latin typeface="Inter SemiBold"/>
              </a:rPr>
              <a:t>Viagens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59567" y="4251959"/>
            <a:ext cx="14721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2B705"/>
                </a:solidFill>
                <a:latin typeface="Inter SemiBold"/>
              </a:rPr>
              <a:t>Economia alunos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4507992"/>
            <a:ext cx="1152144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429768" y="4608576"/>
            <a:ext cx="1655063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Pessimista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04288" y="4608576"/>
            <a:ext cx="128930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R$ 38 mil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13048" y="4608576"/>
            <a:ext cx="138074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R$ 140 mil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13248" y="4608576"/>
            <a:ext cx="142646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R$ 372 mil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9168" y="4608576"/>
            <a:ext cx="156362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R$ 551 mil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42247" y="4608576"/>
            <a:ext cx="119786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2.763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59567" y="4608576"/>
            <a:ext cx="147218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R$ 978 mil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0040" y="4873752"/>
            <a:ext cx="11521440" cy="365760"/>
          </a:xfrm>
          <a:prstGeom prst="rect">
            <a:avLst/>
          </a:prstGeom>
          <a:solidFill>
            <a:srgbClr val="FDF1CB"/>
          </a:solidFill>
          <a:ln w="9525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429768" y="4974336"/>
            <a:ext cx="1655063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0B1220"/>
                </a:solidFill>
                <a:latin typeface="Inter"/>
              </a:rPr>
              <a:t>Tendencial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04288" y="4974336"/>
            <a:ext cx="128930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0B1220"/>
                </a:solidFill>
                <a:latin typeface="Inter"/>
              </a:rPr>
              <a:t>R$ 71 mil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813048" y="4974336"/>
            <a:ext cx="138074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0B1220"/>
                </a:solidFill>
                <a:latin typeface="Inter"/>
              </a:rPr>
              <a:t>R$ 284 mil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13248" y="4974336"/>
            <a:ext cx="142646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0B1220"/>
                </a:solidFill>
                <a:latin typeface="Inter"/>
              </a:rPr>
              <a:t>R$ 744 mil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9168" y="4974336"/>
            <a:ext cx="156362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0B1220"/>
                </a:solidFill>
                <a:latin typeface="Inter"/>
              </a:rPr>
              <a:t>R$ 1,10 mi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42247" y="4974336"/>
            <a:ext cx="119786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0B1220"/>
                </a:solidFill>
                <a:latin typeface="Inter"/>
              </a:rPr>
              <a:t>5.508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59567" y="4974336"/>
            <a:ext cx="147218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0B1220"/>
                </a:solidFill>
                <a:latin typeface="Inter"/>
              </a:rPr>
              <a:t>R$ 1,95 mi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20040" y="5239512"/>
            <a:ext cx="1152144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429768" y="5340096"/>
            <a:ext cx="1655063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Otimista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304288" y="5340096"/>
            <a:ext cx="128930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R$ 113 mil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813048" y="5340096"/>
            <a:ext cx="138074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R$ 455 mil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5340096"/>
            <a:ext cx="142646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R$ 1,27 mi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59168" y="5340096"/>
            <a:ext cx="156362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R$ 1,83 mi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842247" y="5340096"/>
            <a:ext cx="119786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9.180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59567" y="5340096"/>
            <a:ext cx="147218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R$ 3,27 mi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20040" y="5669280"/>
            <a:ext cx="11521440" cy="411480"/>
          </a:xfrm>
          <a:prstGeom prst="roundRect">
            <a:avLst>
              <a:gd name="adj" fmla="val 8000"/>
            </a:avLst>
          </a:prstGeom>
          <a:solidFill>
            <a:srgbClr val="FDF1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594360" y="5769864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>
                <a:solidFill>
                  <a:srgbClr val="0B1220"/>
                </a:solidFill>
                <a:latin typeface="Inter SemiBold"/>
              </a:rPr>
              <a:t>Em todos os cenários a economia devolvida aos alunos é quase o dobro da receita da empresa.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20040" y="6638544"/>
            <a:ext cx="5943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50" b="0" spc="60">
                <a:solidFill>
                  <a:srgbClr val="9AA1AD"/>
                </a:solidFill>
                <a:latin typeface="Inter"/>
              </a:rPr>
              <a:t>GRUPO KAIRÓS · BUSINESS DESIGN · SPRINT 04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954512" y="6638544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50" b="0">
                <a:solidFill>
                  <a:srgbClr val="9AA1AD"/>
                </a:solidFill>
                <a:latin typeface="Inter"/>
              </a:rPr>
              <a:t>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115214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300" b="1">
                <a:solidFill>
                  <a:srgbClr val="F2B705"/>
                </a:solidFill>
                <a:latin typeface="Sora"/>
              </a:rPr>
              <a:t>09  </a:t>
            </a:r>
            <a:r>
              <a:rPr sz="2300" b="1">
                <a:solidFill>
                  <a:srgbClr val="0B1220"/>
                </a:solidFill>
                <a:latin typeface="Sora"/>
              </a:rPr>
              <a:t>Sobraram três variáveis — e a dominante é nossa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60120"/>
            <a:ext cx="1088136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1B2435"/>
                </a:solidFill>
                <a:latin typeface="Inter"/>
              </a:rPr>
              <a:t>Cada variável movida isoladamente, com as demais no cenário tendencial. Base: R$ 1,10 mi em 3 anos.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760720" y="2240279"/>
            <a:ext cx="10972" cy="3017520"/>
          </a:xfrm>
          <a:prstGeom prst="rect">
            <a:avLst/>
          </a:prstGeom>
          <a:solidFill>
            <a:srgbClr val="E3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3566160" y="2459736"/>
            <a:ext cx="2194560" cy="384048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760720" y="2459736"/>
            <a:ext cx="2194560" cy="384048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320040" y="2532888"/>
            <a:ext cx="5257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>
                <a:solidFill>
                  <a:srgbClr val="0B1220"/>
                </a:solidFill>
                <a:latin typeface="Inter SemiBold"/>
              </a:rPr>
              <a:t>Alunos captados por ano (±30%)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2532888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0B1220"/>
                </a:solidFill>
                <a:latin typeface="Inter SemiBold"/>
              </a:rPr>
              <a:t>−30,0% / +30,0%</a:t>
            </a:r>
          </a:p>
        </p:txBody>
      </p:sp>
      <p:sp>
        <p:nvSpPr>
          <p:cNvPr id="9" name="Rectangle 8"/>
          <p:cNvSpPr/>
          <p:nvPr/>
        </p:nvSpPr>
        <p:spPr>
          <a:xfrm>
            <a:off x="3924604" y="3419856"/>
            <a:ext cx="1836115" cy="384048"/>
          </a:xfrm>
          <a:prstGeom prst="rect">
            <a:avLst/>
          </a:prstGeom>
          <a:solidFill>
            <a:srgbClr val="C9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760720" y="3419856"/>
            <a:ext cx="1836115" cy="384048"/>
          </a:xfrm>
          <a:prstGeom prst="rect">
            <a:avLst/>
          </a:prstGeom>
          <a:solidFill>
            <a:srgbClr val="C9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20040" y="3493008"/>
            <a:ext cx="5257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1B2435"/>
                </a:solidFill>
                <a:latin typeface="Inter"/>
              </a:rPr>
              <a:t>Taxa de serviço (R$ 50 / R$ 150)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3493008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Inter"/>
              </a:rPr>
              <a:t>−25,1% / +25,1%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63440" y="4379975"/>
            <a:ext cx="1097280" cy="384048"/>
          </a:xfrm>
          <a:prstGeom prst="rect">
            <a:avLst/>
          </a:prstGeom>
          <a:solidFill>
            <a:srgbClr val="C9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760720" y="4379975"/>
            <a:ext cx="2106777" cy="384048"/>
          </a:xfrm>
          <a:prstGeom prst="rect">
            <a:avLst/>
          </a:prstGeom>
          <a:solidFill>
            <a:srgbClr val="C9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20040" y="4453127"/>
            <a:ext cx="5257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1B2435"/>
                </a:solidFill>
                <a:latin typeface="Inter"/>
              </a:rPr>
              <a:t>Comissão (uma faixa abaixo / acima)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4453127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Inter"/>
              </a:rPr>
              <a:t>−15,0% / +28,8%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5349240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0">
                <a:solidFill>
                  <a:srgbClr val="6B7280"/>
                </a:solidFill>
                <a:latin typeface="Inter"/>
              </a:rPr>
              <a:t>base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715000"/>
            <a:ext cx="11521440" cy="731520"/>
          </a:xfrm>
          <a:prstGeom prst="roundRect">
            <a:avLst>
              <a:gd name="adj" fmla="val 6000"/>
            </a:avLst>
          </a:prstGeom>
          <a:solidFill>
            <a:srgbClr val="1B24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94360" y="5870448"/>
            <a:ext cx="1097280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E6E8F0"/>
                </a:solidFill>
                <a:latin typeface="Inter"/>
              </a:rPr>
              <a:t>As versões anteriores tinham cinco variáveis, duas delas frágeis: tamanho da turma e adesão dentro dela. As duas saíram ao adotar o aluno captado como unidade. O que sobrou é direto de defender — e a variável dominante é a que o grupo controla.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" y="6638544"/>
            <a:ext cx="5943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50" b="0" spc="60">
                <a:solidFill>
                  <a:srgbClr val="9AA1AD"/>
                </a:solidFill>
                <a:latin typeface="Inter"/>
              </a:rPr>
              <a:t>GRUPO KAIRÓS · BUSINESS DESIGN · SPRINT 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4512" y="6638544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50" b="0">
                <a:solidFill>
                  <a:srgbClr val="9AA1AD"/>
                </a:solidFill>
                <a:latin typeface="Inter"/>
              </a:rPr>
              <a:t>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115214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300" b="1">
                <a:solidFill>
                  <a:srgbClr val="F2B705"/>
                </a:solidFill>
                <a:latin typeface="Sora"/>
              </a:rPr>
              <a:t>10  </a:t>
            </a:r>
            <a:r>
              <a:rPr sz="2300" b="1">
                <a:solidFill>
                  <a:srgbClr val="FFFFFF"/>
                </a:solidFill>
                <a:latin typeface="Sora"/>
              </a:rPr>
              <a:t>O primeiro ano é o desafio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234440"/>
            <a:ext cx="9966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E6E8F0"/>
                </a:solidFill>
                <a:latin typeface="Inter"/>
              </a:rPr>
              <a:t>Em 3 anos, no cenário tendencial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99669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500" b="1">
                <a:solidFill>
                  <a:srgbClr val="F2B705"/>
                </a:solidFill>
                <a:latin typeface="Sora"/>
              </a:rPr>
              <a:t>R$ 1,10 mi</a:t>
            </a:r>
            <a:r>
              <a:rPr sz="2500" b="1">
                <a:solidFill>
                  <a:srgbClr val="FFFFFF"/>
                </a:solidFill>
                <a:latin typeface="Sora"/>
              </a:rPr>
              <a:t> de receita — e um ano 1 de </a:t>
            </a:r>
            <a:r>
              <a:rPr sz="2500" b="1">
                <a:solidFill>
                  <a:srgbClr val="F2B705"/>
                </a:solidFill>
                <a:latin typeface="Sora"/>
              </a:rPr>
              <a:t>R$ 71 mil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331720"/>
            <a:ext cx="9966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Sora"/>
              </a:rPr>
              <a:t>menos de R$ 6 mil por mês: não paga equipe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3017520"/>
            <a:ext cx="2761488" cy="1143000"/>
          </a:xfrm>
          <a:prstGeom prst="roundRect">
            <a:avLst>
              <a:gd name="adj" fmla="val 6000"/>
            </a:avLst>
          </a:prstGeom>
          <a:solidFill>
            <a:srgbClr val="1B2435"/>
          </a:solidFill>
          <a:ln w="9525">
            <a:solidFill>
              <a:srgbClr val="2A3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02920" y="3200400"/>
            <a:ext cx="239572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300" b="1">
                <a:solidFill>
                  <a:srgbClr val="F2B705"/>
                </a:solidFill>
                <a:latin typeface="Sora"/>
              </a:rPr>
              <a:t>5.508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730752"/>
            <a:ext cx="239572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E6E8F0"/>
                </a:solidFill>
                <a:latin typeface="Inter"/>
              </a:rPr>
              <a:t>viagens em 3 anos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46120" y="3017520"/>
            <a:ext cx="2761488" cy="1143000"/>
          </a:xfrm>
          <a:prstGeom prst="roundRect">
            <a:avLst>
              <a:gd name="adj" fmla="val 6000"/>
            </a:avLst>
          </a:prstGeom>
          <a:solidFill>
            <a:srgbClr val="1B2435"/>
          </a:solidFill>
          <a:ln w="9525">
            <a:solidFill>
              <a:srgbClr val="2A3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429000" y="3200400"/>
            <a:ext cx="239572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300" b="1">
                <a:solidFill>
                  <a:srgbClr val="F2B705"/>
                </a:solidFill>
                <a:latin typeface="Sora"/>
              </a:rPr>
              <a:t>R$ 1,95 mi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29000" y="3730752"/>
            <a:ext cx="239572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E6E8F0"/>
                </a:solidFill>
                <a:latin typeface="Inter"/>
              </a:rPr>
              <a:t>devolvidos aos alunos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81344" y="3017520"/>
            <a:ext cx="2761488" cy="1143000"/>
          </a:xfrm>
          <a:prstGeom prst="roundRect">
            <a:avLst>
              <a:gd name="adj" fmla="val 6000"/>
            </a:avLst>
          </a:prstGeom>
          <a:solidFill>
            <a:srgbClr val="1B2435"/>
          </a:solidFill>
          <a:ln w="9525">
            <a:solidFill>
              <a:srgbClr val="2A3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364224" y="3200400"/>
            <a:ext cx="239572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300" b="1">
                <a:solidFill>
                  <a:srgbClr val="F2B705"/>
                </a:solidFill>
                <a:latin typeface="Sora"/>
              </a:rPr>
              <a:t>650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4224" y="3730752"/>
            <a:ext cx="239572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E6E8F0"/>
                </a:solidFill>
                <a:latin typeface="Inter"/>
              </a:rPr>
              <a:t>alunos ativos no T12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07424" y="3017520"/>
            <a:ext cx="2761488" cy="1143000"/>
          </a:xfrm>
          <a:prstGeom prst="roundRect">
            <a:avLst>
              <a:gd name="adj" fmla="val 6000"/>
            </a:avLst>
          </a:prstGeom>
          <a:solidFill>
            <a:srgbClr val="1B2435"/>
          </a:solidFill>
          <a:ln w="9525">
            <a:solidFill>
              <a:srgbClr val="2A3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290304" y="3200400"/>
            <a:ext cx="239572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300" b="1">
                <a:solidFill>
                  <a:srgbClr val="F2B705"/>
                </a:solidFill>
                <a:latin typeface="Sora"/>
              </a:rPr>
              <a:t>6,2%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90304" y="3730752"/>
            <a:ext cx="239572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E6E8F0"/>
                </a:solidFill>
                <a:latin typeface="Inter"/>
              </a:rPr>
              <a:t>do SAM alcançado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" y="4434840"/>
            <a:ext cx="11521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1" spc="150">
                <a:solidFill>
                  <a:srgbClr val="F2B705"/>
                </a:solidFill>
                <a:latin typeface="Inter SemiBold"/>
              </a:rPr>
              <a:t>O ANO 1 NÃO É MEDIDO POR RECEITA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754880"/>
            <a:ext cx="9966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>
                <a:solidFill>
                  <a:srgbClr val="E6E8F0"/>
                </a:solidFill>
                <a:latin typeface="Inter"/>
              </a:rPr>
              <a:t>Ele existe para produzir prova de execução, volume acumulado e concentração de campus — os três ativos que destravam a fase 2. A métrica é alunos captados, não faturamento.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5623560"/>
            <a:ext cx="3227832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Sora"/>
              </a:rPr>
              <a:t>Ant</a:t>
            </a:r>
            <a:r>
              <a:rPr sz="2200" b="1">
                <a:solidFill>
                  <a:srgbClr val="F2B705"/>
                </a:solidFill>
                <a:latin typeface="Sora"/>
              </a:rPr>
              <a:t>é</a:t>
            </a:r>
            <a:r>
              <a:rPr sz="2200" b="1">
                <a:solidFill>
                  <a:srgbClr val="FFFFFF"/>
                </a:solidFill>
                <a:latin typeface="Sora"/>
              </a:rPr>
              <a:t>via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6108192"/>
            <a:ext cx="505663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50" b="0" spc="200">
                <a:solidFill>
                  <a:srgbClr val="E6E8F0"/>
                </a:solidFill>
                <a:latin typeface="Inter"/>
              </a:rPr>
              <a:t>A LOGÍSTICA DA SUA FORMAÇÃO, NO TEMPO CERTO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" y="6638544"/>
            <a:ext cx="5943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50" b="0" spc="60">
                <a:solidFill>
                  <a:srgbClr val="8A93A6"/>
                </a:solidFill>
                <a:latin typeface="Inter"/>
              </a:rPr>
              <a:t>GRUPO KAIRÓS · BUSINESS DESIGN · SPRINT 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54512" y="6638544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50" b="0">
                <a:solidFill>
                  <a:srgbClr val="8A93A6"/>
                </a:solidFill>
                <a:latin typeface="Inter"/>
              </a:rPr>
              <a:t>11 /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