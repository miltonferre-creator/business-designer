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 apresentação a todos. Estamos aqui para detalhar a viabilidade da Antévia ao longo de doze trimestres, estruturada em três cenários. O nosso modelo projeta 1,10 milhão de reais em receita acumulada em três anos, mas o foco da nossa atenção hoje é o primeiro ano: um faturamento de 71 mil reais que representa o nosso verdadeiro teste de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nossa meta para o primeiro ano é captar 100 alunos, somando todas as turmas e instituições parceiras. Cada aluno cursará doze módulos ao longo de vinte meses. O modelo financeiro apoia-se em duas fontes: uma taxa por módulo de cem reais paga voluntariamente pelo aluno por encontro cursado, e uma comissão paga pelos fornecedores que começa em 3% e evolui até 6,4%. Para as escolas, o custo é zero, pois elas entram apenas com o CNPJ, as turmas e o calendário. O ponto central aqui é que a unidade de negócio passa a ser o aluno captado de forma individual, eliminando de vez a fragilidade de depender do tamanho fechado de uma turma ou da adesão interna dela.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poder de negociação no setor é conquistado, e não assumido de início. No primeiro ano, ainda não temos escala para forçar tarifas diferenciadas diretamente com as companhias aéreas. Nossa alavanca inicial não exige negociar com fornecedores: trata-se puramente da antecipação de compra aos noventa dias em vez de em cima da hora, utilizando a curva tarifária pública de forma gratuita. Com isso, já entregamos 180 reais de economia líquida por viagem e garantimos 3% de comissão. Nos anos seguintes, com os bloqueios de rotas e convênios próprios, essa economia por viagem sobe para 300 e 400 reais, acompanhando o crescimento das nossas comissões para 5% e 6,4%, patamares totalmente conservadores frente aos volumes previstos com parceiros como a Velt.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tarifa corporativa de grupo exige em torno de dez passageiros na mesma rota e data. Como nenhuma turma isolada consegue formar esse volume sozinha, a nossa estratégia consiste na concentração: somar alunos de várias turmas diferentes no mesmo campus e na mesma data. Quando atingimos o limiar de cinquenta a sessenta alunos por data, destravamos a tarifa de grupo. Como quem agrega e gerencia esse volume é a nossa plataforma, o poder de bloqueio e o ativo passam a ser da Antévia.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Analisando a economia por módulo fase a fase, vemos que hoje um aluno avulso desembolsa em média 2.200 reais comprando passagens e hospedagens em cima da hora. Na fase um, com a nossa antecedência e a taxa de serviço de cem reais, o subtotal logístico cai para 1.920 reais, gerando uma economia líquida de 180 reais para o aluno, o que representa uma redução de 8,2% no desembolso. Essa economia evolui para 13,6% na fase dois e atinge de 15% a 25% na fase três. O ponto comercial importante é que, no primeiro ano, o aluno não compra apenas pelo desconto financeiro, mas principalmente pela conveniência de não precisar orquestrar três plataformas diferentes a cada módulo.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mercado atual cobra por alternativas que não resolvem a operação inteira de um programa executivo. Aplicativos diretos das companhias oferecem passagens sem taxa mas ignoram o calendário acadêmico; OTAs como Decolar e CVC focam em conveniência individual sem integração; agências tradicionais cobram taxas altas por bilhete com cotação reativa; plataformas B2B exigem CNPJ e deixam o aluno pessoa física de fora; e concierges premium cobram de 5% a 15% do valor da viagem. O custo real da decisão tardia hoje é invisível para o aluno: ele não aparece como taxa, mas sim no preço abusivo da passagem comprada de última hora.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nossa taxa de cem reais foi ancorada no valor real entregue ao aluno, e não em uma disposição arbitrária de pagamento. No primeiro ano, o aluno paga cem reais de taxa e recebe 180 reais líquidos de economia, o que representa um retorno de 1,8 vez. Conforme avançamos para as fases dois e três, esse retorno sobe para 3,0 e 4,0 vezes o valor investido, enquanto o peso da taxa no bolso do aluno cai de 63% para 48%. Isso demonstra que a dependência do bolso do participante diminui à medida que a receita de comissão dos fornecedores ganha robustez.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Nosso potencial de mercado foi construído de baixo para cima utilizando a base de dados do IBGE. Quantos existem: no Brasil inteiro são 42.000 alunos-viajantes, um mercado potencial de 63,1 milhões de reais por ano. Quantos podemos atender: restringindo aos polos de Nova Lima, São Paulo e Rio de Janeiro, são 10.500 alunos e 15,8 milhões de reais. E quantos vamos atender: a nossa meta é chegar a 650 alunos ativos no décimo segundo trimestre, o que representa 977 mil de receita anualizada, ou 6,2% desses 10.500. Partimos de 100 alunos ativos no primeiro ano para 280 no segundo, ajustando projeções anteriores que eram irreais.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Trabalhamos com três cenários de receita ao longo de três anos. No cenário pessimista, captamos 50 alunos no ano um, totalizando 551 mil de receita em três anos. No cenário tendencial, que é a nossa diretriz, captamos 100 alunos no ano um, atingindo 650 alunos ativos no término do ciclo e gerando 1,10 milhão de reais em receita. No cenário otimista, alcançamos 1,83 milhão de reais. Em todos os cenários, vale destacar que o volume financeiro devolvido como economia direta aos alunos é praticamente o dobro da receita total acumulada pela empresa.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Limpamos o modelo e restaram apenas três variáveis principais, sendo a dominante inteiramente nossa. Versões anteriores continham cinco variáveis, incluindo o tamanho da turma e a taxa de adesão interna, que foram completamente eliminadas ao adotar o aluno captado como unidade de medida. As variações de alunos captados, taxa de serviço e comissão demonstram que o que sobrou é direto de defender, e a alavanca principal está sob o nosso controle comercial direto.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fechar, reforçamos que o primeiro ano é o nosso grande desafio. No cenário tendencial, o ano um gera 71 mil reais de receita, o que significa menos de 6 mil reais por mês — um valor que não sustenta uma estrutura de equipe pesada. Por isso, a mensagem central é clara: o ano um não é medido por faturamento. Ele existe exclusivamente para produzir prova de execução, volume acumulado e concentração de campus. São exatamente esses três ativos que destravam o sucesso comercial e financeiro das fases seguintes.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ounded Rectangle 1"/>
          <p:cNvSpPr/>
          <p:nvPr/>
        </p:nvSpPr>
        <p:spPr>
          <a:xfrm>
            <a:off x="4956048" y="1417320"/>
            <a:ext cx="2286000" cy="310896"/>
          </a:xfrm>
          <a:prstGeom prst="roundRect">
            <a:avLst>
              <a:gd name="adj" fmla="val 3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956048" y="1499616"/>
            <a:ext cx="2286000" cy="182880"/>
          </a:xfrm>
          <a:prstGeom prst="rect">
            <a:avLst/>
          </a:prstGeom>
          <a:noFill/>
        </p:spPr>
        <p:txBody>
          <a:bodyPr wrap="square" lIns="0" rIns="0" tIns="0" bIns="0">
            <a:spAutoFit/>
          </a:bodyPr>
          <a:lstStyle/>
          <a:p>
            <a:pPr algn="ctr"/>
            <a:r>
              <a:rPr sz="850" b="1" spc="120">
                <a:solidFill>
                  <a:srgbClr val="F2B705"/>
                </a:solidFill>
                <a:latin typeface="Inter SemiBold"/>
              </a:rPr>
              <a:t>SPRINT 04 · VIABILIDADE</a:t>
            </a:r>
          </a:p>
        </p:txBody>
      </p:sp>
      <p:sp>
        <p:nvSpPr>
          <p:cNvPr id="4" name="TextBox 3"/>
          <p:cNvSpPr txBox="1"/>
          <p:nvPr/>
        </p:nvSpPr>
        <p:spPr>
          <a:xfrm>
            <a:off x="1371600" y="2103120"/>
            <a:ext cx="9445752" cy="1371600"/>
          </a:xfrm>
          <a:prstGeom prst="rect">
            <a:avLst/>
          </a:prstGeom>
          <a:noFill/>
        </p:spPr>
        <p:txBody>
          <a:bodyPr wrap="square" lIns="0" rIns="0" tIns="0" bIns="0">
            <a:spAutoFit/>
          </a:bodyPr>
          <a:lstStyle/>
          <a:p>
            <a:pPr algn="ctr"/>
            <a:r>
              <a:rPr sz="7200" b="1">
                <a:solidFill>
                  <a:srgbClr val="FFFFFF"/>
                </a:solidFill>
                <a:latin typeface="Sora"/>
              </a:rPr>
              <a:t>Ant</a:t>
            </a:r>
            <a:r>
              <a:rPr sz="7200" b="1">
                <a:solidFill>
                  <a:srgbClr val="F2B705"/>
                </a:solidFill>
                <a:latin typeface="Sora"/>
              </a:rPr>
              <a:t>é</a:t>
            </a:r>
            <a:r>
              <a:rPr sz="7200" b="1">
                <a:solidFill>
                  <a:srgbClr val="FFFFFF"/>
                </a:solidFill>
                <a:latin typeface="Sora"/>
              </a:rPr>
              <a:t>via</a:t>
            </a:r>
          </a:p>
        </p:txBody>
      </p:sp>
      <p:sp>
        <p:nvSpPr>
          <p:cNvPr id="5" name="TextBox 4"/>
          <p:cNvSpPr txBox="1"/>
          <p:nvPr/>
        </p:nvSpPr>
        <p:spPr>
          <a:xfrm>
            <a:off x="1371600" y="3657600"/>
            <a:ext cx="9445752" cy="274320"/>
          </a:xfrm>
          <a:prstGeom prst="rect">
            <a:avLst/>
          </a:prstGeom>
          <a:noFill/>
        </p:spPr>
        <p:txBody>
          <a:bodyPr wrap="square" lIns="0" rIns="0" tIns="0" bIns="0">
            <a:spAutoFit/>
          </a:bodyPr>
          <a:lstStyle/>
          <a:p>
            <a:pPr algn="ctr"/>
            <a:r>
              <a:rPr sz="1100" b="0" spc="220">
                <a:solidFill>
                  <a:srgbClr val="E6E8F0"/>
                </a:solidFill>
                <a:latin typeface="Inter"/>
              </a:rPr>
              <a:t>A LOGÍSTICA DA SUA FORMAÇÃO, NO TEMPO CERTO</a:t>
            </a:r>
          </a:p>
        </p:txBody>
      </p:sp>
      <p:sp>
        <p:nvSpPr>
          <p:cNvPr id="6" name="Rectangle 5"/>
          <p:cNvSpPr/>
          <p:nvPr/>
        </p:nvSpPr>
        <p:spPr>
          <a:xfrm>
            <a:off x="5641848" y="4224528"/>
            <a:ext cx="914400" cy="1828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71600" y="4526280"/>
            <a:ext cx="9445752" cy="320040"/>
          </a:xfrm>
          <a:prstGeom prst="rect">
            <a:avLst/>
          </a:prstGeom>
          <a:noFill/>
        </p:spPr>
        <p:txBody>
          <a:bodyPr wrap="square" lIns="0" rIns="0" tIns="0" bIns="0">
            <a:spAutoFit/>
          </a:bodyPr>
          <a:lstStyle/>
          <a:p>
            <a:pPr algn="ctr"/>
            <a:r>
              <a:rPr sz="1300" b="0">
                <a:solidFill>
                  <a:srgbClr val="FFFFFF"/>
                </a:solidFill>
                <a:latin typeface="Inter"/>
              </a:rPr>
              <a:t>Projeção de receitas · 12 trimestres · 3 cenários</a:t>
            </a:r>
          </a:p>
        </p:txBody>
      </p:sp>
      <p:sp>
        <p:nvSpPr>
          <p:cNvPr id="8" name="TextBox 7"/>
          <p:cNvSpPr txBox="1"/>
          <p:nvPr/>
        </p:nvSpPr>
        <p:spPr>
          <a:xfrm>
            <a:off x="1371600" y="4983480"/>
            <a:ext cx="9445752" cy="274320"/>
          </a:xfrm>
          <a:prstGeom prst="rect">
            <a:avLst/>
          </a:prstGeom>
          <a:noFill/>
        </p:spPr>
        <p:txBody>
          <a:bodyPr wrap="square" lIns="0" rIns="0" tIns="0" bIns="0">
            <a:spAutoFit/>
          </a:bodyPr>
          <a:lstStyle/>
          <a:p>
            <a:pPr algn="ctr"/>
            <a:r>
              <a:rPr sz="1050" b="0">
                <a:solidFill>
                  <a:srgbClr val="F2B705"/>
                </a:solidFill>
                <a:latin typeface="Inter"/>
              </a:rPr>
              <a:t>R$ 1,10 mi em 3 anos — e um primeiro ano de R$ 71 mil que é o verdadeiro desafio</a:t>
            </a:r>
          </a:p>
        </p:txBody>
      </p:sp>
      <p:sp>
        <p:nvSpPr>
          <p:cNvPr id="9" name="TextBox 8"/>
          <p:cNvSpPr txBox="1"/>
          <p:nvPr/>
        </p:nvSpPr>
        <p:spPr>
          <a:xfrm>
            <a:off x="1371600" y="5760720"/>
            <a:ext cx="9445752" cy="274320"/>
          </a:xfrm>
          <a:prstGeom prst="rect">
            <a:avLst/>
          </a:prstGeom>
          <a:noFill/>
        </p:spPr>
        <p:txBody>
          <a:bodyPr wrap="square" lIns="0" rIns="0" tIns="0" bIns="0">
            <a:spAutoFit/>
          </a:bodyPr>
          <a:lstStyle/>
          <a:p>
            <a:pPr algn="ctr"/>
            <a:r>
              <a:rPr sz="950" b="0">
                <a:solidFill>
                  <a:srgbClr val="AEB6C6"/>
                </a:solidFill>
                <a:latin typeface="Inter"/>
              </a:rPr>
              <a:t>Grupo Kairós · Business Designer · Fundação Dom Cabral</a:t>
            </a:r>
          </a:p>
        </p:txBody>
      </p:sp>
      <p:sp>
        <p:nvSpPr>
          <p:cNvPr id="10" name="TextBox 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8A93A6"/>
                </a:solidFill>
                <a:latin typeface="Inter"/>
              </a:rPr>
              <a:t>GRUPO KAIRÓS · BUSINESS DESIGN · SPRINT 04</a:t>
            </a:r>
          </a:p>
        </p:txBody>
      </p:sp>
      <p:sp>
        <p:nvSpPr>
          <p:cNvPr id="11" name="TextBox 1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8A93A6"/>
                </a:solidFill>
                <a:latin typeface="Inter"/>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01  </a:t>
            </a:r>
            <a:r>
              <a:rPr sz="2300" b="1">
                <a:solidFill>
                  <a:srgbClr val="0B1220"/>
                </a:solidFill>
                <a:latin typeface="Sora"/>
              </a:rPr>
              <a:t>O que vendemos, para quem e como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A meta do ano 1 é captar 100 alunos, somando todas as turmas e instituições. Cada aluno rende 12 módulos ao longo de 20 meses.</a:t>
            </a:r>
          </a:p>
        </p:txBody>
      </p:sp>
      <p:sp>
        <p:nvSpPr>
          <p:cNvPr id="4" name="Rounded Rectangle 3"/>
          <p:cNvSpPr/>
          <p:nvPr/>
        </p:nvSpPr>
        <p:spPr>
          <a:xfrm>
            <a:off x="32004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59152"/>
            <a:ext cx="2395728" cy="640080"/>
          </a:xfrm>
          <a:prstGeom prst="rect">
            <a:avLst/>
          </a:prstGeom>
          <a:noFill/>
        </p:spPr>
        <p:txBody>
          <a:bodyPr wrap="square" lIns="0" rIns="0" tIns="0" bIns="0">
            <a:spAutoFit/>
          </a:bodyPr>
          <a:lstStyle/>
          <a:p>
            <a:pPr algn="l"/>
            <a:r>
              <a:rPr sz="3000" b="1">
                <a:solidFill>
                  <a:srgbClr val="F2B705"/>
                </a:solidFill>
                <a:latin typeface="Sora"/>
              </a:rPr>
              <a:t>R$ 100</a:t>
            </a:r>
          </a:p>
        </p:txBody>
      </p:sp>
      <p:sp>
        <p:nvSpPr>
          <p:cNvPr id="6" name="TextBox 5"/>
          <p:cNvSpPr txBox="1"/>
          <p:nvPr/>
        </p:nvSpPr>
        <p:spPr>
          <a:xfrm>
            <a:off x="50292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Taxa por módulo</a:t>
            </a:r>
          </a:p>
        </p:txBody>
      </p:sp>
      <p:sp>
        <p:nvSpPr>
          <p:cNvPr id="7" name="TextBox 6"/>
          <p:cNvSpPr txBox="1"/>
          <p:nvPr/>
        </p:nvSpPr>
        <p:spPr>
          <a:xfrm>
            <a:off x="502920"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pelo aluno, por encontro cursado. Adesão voluntária, módulo a módulo.</a:t>
            </a:r>
          </a:p>
        </p:txBody>
      </p:sp>
      <p:sp>
        <p:nvSpPr>
          <p:cNvPr id="8" name="Rounded Rectangle 7"/>
          <p:cNvSpPr/>
          <p:nvPr/>
        </p:nvSpPr>
        <p:spPr>
          <a:xfrm>
            <a:off x="3246120"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359152"/>
            <a:ext cx="2395728" cy="640080"/>
          </a:xfrm>
          <a:prstGeom prst="rect">
            <a:avLst/>
          </a:prstGeom>
          <a:noFill/>
        </p:spPr>
        <p:txBody>
          <a:bodyPr wrap="square" lIns="0" rIns="0" tIns="0" bIns="0">
            <a:spAutoFit/>
          </a:bodyPr>
          <a:lstStyle/>
          <a:p>
            <a:pPr algn="l"/>
            <a:r>
              <a:rPr sz="2600" b="1">
                <a:solidFill>
                  <a:srgbClr val="F2B705"/>
                </a:solidFill>
                <a:latin typeface="Sora"/>
              </a:rPr>
              <a:t>3% → 6,4%</a:t>
            </a:r>
          </a:p>
        </p:txBody>
      </p:sp>
      <p:sp>
        <p:nvSpPr>
          <p:cNvPr id="10" name="TextBox 9"/>
          <p:cNvSpPr txBox="1"/>
          <p:nvPr/>
        </p:nvSpPr>
        <p:spPr>
          <a:xfrm>
            <a:off x="342900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Comissão</a:t>
            </a:r>
          </a:p>
        </p:txBody>
      </p:sp>
      <p:sp>
        <p:nvSpPr>
          <p:cNvPr id="11" name="TextBox 10"/>
          <p:cNvSpPr txBox="1"/>
          <p:nvPr/>
        </p:nvSpPr>
        <p:spPr>
          <a:xfrm>
            <a:off x="3429000"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pelos fornecedores. Cresce com o volume — começa em 3%, não em 6,4%.</a:t>
            </a:r>
          </a:p>
        </p:txBody>
      </p:sp>
      <p:sp>
        <p:nvSpPr>
          <p:cNvPr id="12" name="Rounded Rectangle 11"/>
          <p:cNvSpPr/>
          <p:nvPr/>
        </p:nvSpPr>
        <p:spPr>
          <a:xfrm>
            <a:off x="618134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2359152"/>
            <a:ext cx="2395728" cy="640080"/>
          </a:xfrm>
          <a:prstGeom prst="rect">
            <a:avLst/>
          </a:prstGeom>
          <a:noFill/>
        </p:spPr>
        <p:txBody>
          <a:bodyPr wrap="square" lIns="0" rIns="0" tIns="0" bIns="0">
            <a:spAutoFit/>
          </a:bodyPr>
          <a:lstStyle/>
          <a:p>
            <a:pPr algn="l"/>
            <a:r>
              <a:rPr sz="3000" b="1">
                <a:solidFill>
                  <a:srgbClr val="F2B705"/>
                </a:solidFill>
                <a:latin typeface="Sora"/>
              </a:rPr>
              <a:t>100</a:t>
            </a:r>
          </a:p>
        </p:txBody>
      </p:sp>
      <p:sp>
        <p:nvSpPr>
          <p:cNvPr id="14" name="TextBox 13"/>
          <p:cNvSpPr txBox="1"/>
          <p:nvPr/>
        </p:nvSpPr>
        <p:spPr>
          <a:xfrm>
            <a:off x="636422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Alunos no ano 1</a:t>
            </a:r>
          </a:p>
        </p:txBody>
      </p:sp>
      <p:sp>
        <p:nvSpPr>
          <p:cNvPr id="15" name="TextBox 14"/>
          <p:cNvSpPr txBox="1"/>
          <p:nvPr/>
        </p:nvSpPr>
        <p:spPr>
          <a:xfrm>
            <a:off x="6364224"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A meta de captação, somando turmas e instituições. É a variável dominante do modelo.</a:t>
            </a:r>
          </a:p>
        </p:txBody>
      </p:sp>
      <p:sp>
        <p:nvSpPr>
          <p:cNvPr id="16" name="Rounded Rectangle 15"/>
          <p:cNvSpPr/>
          <p:nvPr/>
        </p:nvSpPr>
        <p:spPr>
          <a:xfrm>
            <a:off x="9107424" y="2103120"/>
            <a:ext cx="2761488" cy="265176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90304" y="2359152"/>
            <a:ext cx="2395728" cy="640080"/>
          </a:xfrm>
          <a:prstGeom prst="rect">
            <a:avLst/>
          </a:prstGeom>
          <a:noFill/>
        </p:spPr>
        <p:txBody>
          <a:bodyPr wrap="square" lIns="0" rIns="0" tIns="0" bIns="0">
            <a:spAutoFit/>
          </a:bodyPr>
          <a:lstStyle/>
          <a:p>
            <a:pPr algn="l"/>
            <a:r>
              <a:rPr sz="3000" b="1">
                <a:solidFill>
                  <a:srgbClr val="F2B705"/>
                </a:solidFill>
                <a:latin typeface="Sora"/>
              </a:rPr>
              <a:t>R$ 0</a:t>
            </a:r>
          </a:p>
        </p:txBody>
      </p:sp>
      <p:sp>
        <p:nvSpPr>
          <p:cNvPr id="18" name="TextBox 17"/>
          <p:cNvSpPr txBox="1"/>
          <p:nvPr/>
        </p:nvSpPr>
        <p:spPr>
          <a:xfrm>
            <a:off x="929030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Custo para a escola</a:t>
            </a:r>
          </a:p>
        </p:txBody>
      </p:sp>
      <p:sp>
        <p:nvSpPr>
          <p:cNvPr id="19" name="TextBox 18"/>
          <p:cNvSpPr txBox="1"/>
          <p:nvPr/>
        </p:nvSpPr>
        <p:spPr>
          <a:xfrm>
            <a:off x="9290304" y="3584448"/>
            <a:ext cx="2395728" cy="1060703"/>
          </a:xfrm>
          <a:prstGeom prst="rect">
            <a:avLst/>
          </a:prstGeom>
          <a:noFill/>
        </p:spPr>
        <p:txBody>
          <a:bodyPr wrap="square" lIns="0" rIns="0" tIns="0" bIns="0">
            <a:spAutoFit/>
          </a:bodyPr>
          <a:lstStyle/>
          <a:p>
            <a:pPr algn="l">
              <a:lnSpc>
                <a:spcPct val="130000"/>
              </a:lnSpc>
            </a:pPr>
            <a:r>
              <a:rPr sz="950" b="0">
                <a:solidFill>
                  <a:srgbClr val="1B2435"/>
                </a:solidFill>
                <a:latin typeface="Inter"/>
              </a:rPr>
              <a:t>Empresta CNPJ, turma e calendário, sem desembolso.</a:t>
            </a:r>
          </a:p>
        </p:txBody>
      </p:sp>
      <p:sp>
        <p:nvSpPr>
          <p:cNvPr id="20" name="Rounded Rectangle 19"/>
          <p:cNvSpPr/>
          <p:nvPr/>
        </p:nvSpPr>
        <p:spPr>
          <a:xfrm>
            <a:off x="320040" y="516636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5330952"/>
            <a:ext cx="10972800" cy="457200"/>
          </a:xfrm>
          <a:prstGeom prst="rect">
            <a:avLst/>
          </a:prstGeom>
          <a:noFill/>
        </p:spPr>
        <p:txBody>
          <a:bodyPr wrap="square" lIns="0" rIns="0" tIns="0" bIns="0">
            <a:spAutoFit/>
          </a:bodyPr>
          <a:lstStyle/>
          <a:p>
            <a:pPr algn="l">
              <a:lnSpc>
                <a:spcPct val="130000"/>
              </a:lnSpc>
            </a:pPr>
            <a:r>
              <a:rPr sz="1100" b="0">
                <a:solidFill>
                  <a:srgbClr val="E6E8F0"/>
                </a:solidFill>
                <a:latin typeface="Inter"/>
              </a:rPr>
              <a:t>A unidade é o aluno captado, não a turma. Isso tira do modelo as duas premissas mais frágeis que ele tinha: tamanho da turma e adesão dentro dela.</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02  </a:t>
            </a:r>
            <a:r>
              <a:rPr sz="2300" b="1">
                <a:solidFill>
                  <a:srgbClr val="0B1220"/>
                </a:solidFill>
                <a:latin typeface="Sora"/>
              </a:rPr>
              <a:t>O poder de negociação é conquistado, não assumido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Por que uma companhia aérea venderia mais barato para nós do que vende direto para o aluno? No ano 1, não venderia.</a:t>
            </a:r>
          </a:p>
        </p:txBody>
      </p:sp>
      <p:sp>
        <p:nvSpPr>
          <p:cNvPr id="4" name="Rectangle 3"/>
          <p:cNvSpPr/>
          <p:nvPr/>
        </p:nvSpPr>
        <p:spPr>
          <a:xfrm>
            <a:off x="320040" y="2057400"/>
            <a:ext cx="115671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48840"/>
            <a:ext cx="969264" cy="201168"/>
          </a:xfrm>
          <a:prstGeom prst="rect">
            <a:avLst/>
          </a:prstGeom>
          <a:noFill/>
        </p:spPr>
        <p:txBody>
          <a:bodyPr wrap="square" lIns="0" rIns="0" tIns="0" bIns="0">
            <a:spAutoFit/>
          </a:bodyPr>
          <a:lstStyle/>
          <a:p>
            <a:pPr algn="l"/>
            <a:r>
              <a:rPr sz="900" b="1">
                <a:solidFill>
                  <a:srgbClr val="F2B705"/>
                </a:solidFill>
                <a:latin typeface="Inter SemiBold"/>
              </a:rPr>
              <a:t>Fase</a:t>
            </a:r>
          </a:p>
        </p:txBody>
      </p:sp>
      <p:sp>
        <p:nvSpPr>
          <p:cNvPr id="6" name="TextBox 5"/>
          <p:cNvSpPr txBox="1"/>
          <p:nvPr/>
        </p:nvSpPr>
        <p:spPr>
          <a:xfrm>
            <a:off x="1618488" y="2148840"/>
            <a:ext cx="3483863" cy="201168"/>
          </a:xfrm>
          <a:prstGeom prst="rect">
            <a:avLst/>
          </a:prstGeom>
          <a:noFill/>
        </p:spPr>
        <p:txBody>
          <a:bodyPr wrap="square" lIns="0" rIns="0" tIns="0" bIns="0">
            <a:spAutoFit/>
          </a:bodyPr>
          <a:lstStyle/>
          <a:p>
            <a:pPr algn="l"/>
            <a:r>
              <a:rPr sz="900" b="1">
                <a:solidFill>
                  <a:srgbClr val="F2B705"/>
                </a:solidFill>
                <a:latin typeface="Inter SemiBold"/>
              </a:rPr>
              <a:t>Como compramos</a:t>
            </a:r>
          </a:p>
        </p:txBody>
      </p:sp>
      <p:sp>
        <p:nvSpPr>
          <p:cNvPr id="7" name="TextBox 6"/>
          <p:cNvSpPr txBox="1"/>
          <p:nvPr/>
        </p:nvSpPr>
        <p:spPr>
          <a:xfrm>
            <a:off x="5321807" y="2148840"/>
            <a:ext cx="1106424" cy="201168"/>
          </a:xfrm>
          <a:prstGeom prst="rect">
            <a:avLst/>
          </a:prstGeom>
          <a:noFill/>
        </p:spPr>
        <p:txBody>
          <a:bodyPr wrap="square" lIns="0" rIns="0" tIns="0" bIns="0">
            <a:spAutoFit/>
          </a:bodyPr>
          <a:lstStyle/>
          <a:p>
            <a:pPr algn="ctr"/>
            <a:r>
              <a:rPr sz="900" b="1">
                <a:solidFill>
                  <a:srgbClr val="F2B705"/>
                </a:solidFill>
                <a:latin typeface="Inter SemiBold"/>
              </a:rPr>
              <a:t>Ticket</a:t>
            </a:r>
          </a:p>
        </p:txBody>
      </p:sp>
      <p:sp>
        <p:nvSpPr>
          <p:cNvPr id="8" name="TextBox 7"/>
          <p:cNvSpPr txBox="1"/>
          <p:nvPr/>
        </p:nvSpPr>
        <p:spPr>
          <a:xfrm>
            <a:off x="6647688" y="2148840"/>
            <a:ext cx="1517904" cy="201168"/>
          </a:xfrm>
          <a:prstGeom prst="rect">
            <a:avLst/>
          </a:prstGeom>
          <a:noFill/>
        </p:spPr>
        <p:txBody>
          <a:bodyPr wrap="square" lIns="0" rIns="0" tIns="0" bIns="0">
            <a:spAutoFit/>
          </a:bodyPr>
          <a:lstStyle/>
          <a:p>
            <a:pPr algn="ctr"/>
            <a:r>
              <a:rPr sz="900" b="1">
                <a:solidFill>
                  <a:srgbClr val="F2B705"/>
                </a:solidFill>
                <a:latin typeface="Inter SemiBold"/>
              </a:rPr>
              <a:t>Economia líquida</a:t>
            </a:r>
          </a:p>
        </p:txBody>
      </p:sp>
      <p:sp>
        <p:nvSpPr>
          <p:cNvPr id="9" name="TextBox 8"/>
          <p:cNvSpPr txBox="1"/>
          <p:nvPr/>
        </p:nvSpPr>
        <p:spPr>
          <a:xfrm>
            <a:off x="8385047" y="2148840"/>
            <a:ext cx="969264" cy="201168"/>
          </a:xfrm>
          <a:prstGeom prst="rect">
            <a:avLst/>
          </a:prstGeom>
          <a:noFill/>
        </p:spPr>
        <p:txBody>
          <a:bodyPr wrap="square" lIns="0" rIns="0" tIns="0" bIns="0">
            <a:spAutoFit/>
          </a:bodyPr>
          <a:lstStyle/>
          <a:p>
            <a:pPr algn="ctr"/>
            <a:r>
              <a:rPr sz="900" b="1">
                <a:solidFill>
                  <a:srgbClr val="F2B705"/>
                </a:solidFill>
                <a:latin typeface="Inter SemiBold"/>
              </a:rPr>
              <a:t>Retorno</a:t>
            </a:r>
          </a:p>
        </p:txBody>
      </p:sp>
      <p:sp>
        <p:nvSpPr>
          <p:cNvPr id="10" name="TextBox 9"/>
          <p:cNvSpPr txBox="1"/>
          <p:nvPr/>
        </p:nvSpPr>
        <p:spPr>
          <a:xfrm>
            <a:off x="9573767" y="2148840"/>
            <a:ext cx="969264" cy="201168"/>
          </a:xfrm>
          <a:prstGeom prst="rect">
            <a:avLst/>
          </a:prstGeom>
          <a:noFill/>
        </p:spPr>
        <p:txBody>
          <a:bodyPr wrap="square" lIns="0" rIns="0" tIns="0" bIns="0">
            <a:spAutoFit/>
          </a:bodyPr>
          <a:lstStyle/>
          <a:p>
            <a:pPr algn="ctr"/>
            <a:r>
              <a:rPr sz="900" b="1">
                <a:solidFill>
                  <a:srgbClr val="F2B705"/>
                </a:solidFill>
                <a:latin typeface="Inter SemiBold"/>
              </a:rPr>
              <a:t>Comissão</a:t>
            </a:r>
          </a:p>
        </p:txBody>
      </p:sp>
      <p:sp>
        <p:nvSpPr>
          <p:cNvPr id="11" name="TextBox 10"/>
          <p:cNvSpPr txBox="1"/>
          <p:nvPr/>
        </p:nvSpPr>
        <p:spPr>
          <a:xfrm>
            <a:off x="10762488" y="2148840"/>
            <a:ext cx="1014984" cy="201168"/>
          </a:xfrm>
          <a:prstGeom prst="rect">
            <a:avLst/>
          </a:prstGeom>
          <a:noFill/>
        </p:spPr>
        <p:txBody>
          <a:bodyPr wrap="square" lIns="0" rIns="0" tIns="0" bIns="0">
            <a:spAutoFit/>
          </a:bodyPr>
          <a:lstStyle/>
          <a:p>
            <a:pPr algn="ctr"/>
            <a:r>
              <a:rPr sz="900" b="1">
                <a:solidFill>
                  <a:srgbClr val="F2B705"/>
                </a:solidFill>
                <a:latin typeface="Inter SemiBold"/>
              </a:rPr>
              <a:t>R$/viagem</a:t>
            </a:r>
          </a:p>
        </p:txBody>
      </p:sp>
      <p:sp>
        <p:nvSpPr>
          <p:cNvPr id="12" name="Rectangle 11"/>
          <p:cNvSpPr/>
          <p:nvPr/>
        </p:nvSpPr>
        <p:spPr>
          <a:xfrm>
            <a:off x="320040" y="2404872"/>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 y="2505456"/>
            <a:ext cx="969264" cy="329184"/>
          </a:xfrm>
          <a:prstGeom prst="rect">
            <a:avLst/>
          </a:prstGeom>
          <a:noFill/>
        </p:spPr>
        <p:txBody>
          <a:bodyPr wrap="square" lIns="0" rIns="0" tIns="0" bIns="0">
            <a:spAutoFit/>
          </a:bodyPr>
          <a:lstStyle/>
          <a:p>
            <a:pPr algn="l"/>
            <a:r>
              <a:rPr sz="950" b="1">
                <a:solidFill>
                  <a:srgbClr val="0B1220"/>
                </a:solidFill>
                <a:latin typeface="Inter SemiBold"/>
              </a:rPr>
              <a:t>Ano 1</a:t>
            </a:r>
          </a:p>
        </p:txBody>
      </p:sp>
      <p:sp>
        <p:nvSpPr>
          <p:cNvPr id="14" name="TextBox 13"/>
          <p:cNvSpPr txBox="1"/>
          <p:nvPr/>
        </p:nvSpPr>
        <p:spPr>
          <a:xfrm>
            <a:off x="1618488" y="2505456"/>
            <a:ext cx="3483863" cy="329184"/>
          </a:xfrm>
          <a:prstGeom prst="rect">
            <a:avLst/>
          </a:prstGeom>
          <a:noFill/>
        </p:spPr>
        <p:txBody>
          <a:bodyPr wrap="square" lIns="0" rIns="0" tIns="0" bIns="0">
            <a:spAutoFit/>
          </a:bodyPr>
          <a:lstStyle/>
          <a:p>
            <a:pPr algn="l"/>
            <a:r>
              <a:rPr sz="950" b="1">
                <a:solidFill>
                  <a:srgbClr val="0B1220"/>
                </a:solidFill>
                <a:latin typeface="Inter SemiBold"/>
              </a:rPr>
              <a:t>Apoio da consolidadora — só antecipação</a:t>
            </a:r>
          </a:p>
        </p:txBody>
      </p:sp>
      <p:sp>
        <p:nvSpPr>
          <p:cNvPr id="15" name="TextBox 14"/>
          <p:cNvSpPr txBox="1"/>
          <p:nvPr/>
        </p:nvSpPr>
        <p:spPr>
          <a:xfrm>
            <a:off x="5321807" y="2505456"/>
            <a:ext cx="1106424" cy="329184"/>
          </a:xfrm>
          <a:prstGeom prst="rect">
            <a:avLst/>
          </a:prstGeom>
          <a:noFill/>
        </p:spPr>
        <p:txBody>
          <a:bodyPr wrap="square" lIns="0" rIns="0" tIns="0" bIns="0">
            <a:spAutoFit/>
          </a:bodyPr>
          <a:lstStyle/>
          <a:p>
            <a:pPr algn="ctr"/>
            <a:r>
              <a:rPr sz="950" b="1">
                <a:solidFill>
                  <a:srgbClr val="0B1220"/>
                </a:solidFill>
                <a:latin typeface="Inter SemiBold"/>
              </a:rPr>
              <a:t>R$ 1.920</a:t>
            </a:r>
          </a:p>
        </p:txBody>
      </p:sp>
      <p:sp>
        <p:nvSpPr>
          <p:cNvPr id="16" name="TextBox 15"/>
          <p:cNvSpPr txBox="1"/>
          <p:nvPr/>
        </p:nvSpPr>
        <p:spPr>
          <a:xfrm>
            <a:off x="6647688" y="2505456"/>
            <a:ext cx="1517904" cy="329184"/>
          </a:xfrm>
          <a:prstGeom prst="rect">
            <a:avLst/>
          </a:prstGeom>
          <a:noFill/>
        </p:spPr>
        <p:txBody>
          <a:bodyPr wrap="square" lIns="0" rIns="0" tIns="0" bIns="0">
            <a:spAutoFit/>
          </a:bodyPr>
          <a:lstStyle/>
          <a:p>
            <a:pPr algn="ctr"/>
            <a:r>
              <a:rPr sz="950" b="1">
                <a:solidFill>
                  <a:srgbClr val="0B1220"/>
                </a:solidFill>
                <a:latin typeface="Inter SemiBold"/>
              </a:rPr>
              <a:t>R$ 180</a:t>
            </a:r>
          </a:p>
        </p:txBody>
      </p:sp>
      <p:sp>
        <p:nvSpPr>
          <p:cNvPr id="17" name="TextBox 16"/>
          <p:cNvSpPr txBox="1"/>
          <p:nvPr/>
        </p:nvSpPr>
        <p:spPr>
          <a:xfrm>
            <a:off x="8385047" y="2505456"/>
            <a:ext cx="969264" cy="329184"/>
          </a:xfrm>
          <a:prstGeom prst="rect">
            <a:avLst/>
          </a:prstGeom>
          <a:noFill/>
        </p:spPr>
        <p:txBody>
          <a:bodyPr wrap="square" lIns="0" rIns="0" tIns="0" bIns="0">
            <a:spAutoFit/>
          </a:bodyPr>
          <a:lstStyle/>
          <a:p>
            <a:pPr algn="ctr"/>
            <a:r>
              <a:rPr sz="950" b="1">
                <a:solidFill>
                  <a:srgbClr val="0B1220"/>
                </a:solidFill>
                <a:latin typeface="Inter SemiBold"/>
              </a:rPr>
              <a:t>1,8×</a:t>
            </a:r>
          </a:p>
        </p:txBody>
      </p:sp>
      <p:sp>
        <p:nvSpPr>
          <p:cNvPr id="18" name="TextBox 17"/>
          <p:cNvSpPr txBox="1"/>
          <p:nvPr/>
        </p:nvSpPr>
        <p:spPr>
          <a:xfrm>
            <a:off x="9573767" y="2505456"/>
            <a:ext cx="969264" cy="329184"/>
          </a:xfrm>
          <a:prstGeom prst="rect">
            <a:avLst/>
          </a:prstGeom>
          <a:noFill/>
        </p:spPr>
        <p:txBody>
          <a:bodyPr wrap="square" lIns="0" rIns="0" tIns="0" bIns="0">
            <a:spAutoFit/>
          </a:bodyPr>
          <a:lstStyle/>
          <a:p>
            <a:pPr algn="ctr"/>
            <a:r>
              <a:rPr sz="950" b="1">
                <a:solidFill>
                  <a:srgbClr val="0B1220"/>
                </a:solidFill>
                <a:latin typeface="Inter SemiBold"/>
              </a:rPr>
              <a:t>3%</a:t>
            </a:r>
          </a:p>
        </p:txBody>
      </p:sp>
      <p:sp>
        <p:nvSpPr>
          <p:cNvPr id="19" name="TextBox 18"/>
          <p:cNvSpPr txBox="1"/>
          <p:nvPr/>
        </p:nvSpPr>
        <p:spPr>
          <a:xfrm>
            <a:off x="10762488" y="2505456"/>
            <a:ext cx="1014984" cy="329184"/>
          </a:xfrm>
          <a:prstGeom prst="rect">
            <a:avLst/>
          </a:prstGeom>
          <a:noFill/>
        </p:spPr>
        <p:txBody>
          <a:bodyPr wrap="square" lIns="0" rIns="0" tIns="0" bIns="0">
            <a:spAutoFit/>
          </a:bodyPr>
          <a:lstStyle/>
          <a:p>
            <a:pPr algn="ctr"/>
            <a:r>
              <a:rPr sz="950" b="1">
                <a:solidFill>
                  <a:srgbClr val="0B1220"/>
                </a:solidFill>
                <a:latin typeface="Inter SemiBold"/>
              </a:rPr>
              <a:t>R$ 157,60</a:t>
            </a:r>
          </a:p>
        </p:txBody>
      </p:sp>
      <p:sp>
        <p:nvSpPr>
          <p:cNvPr id="20" name="Rectangle 19"/>
          <p:cNvSpPr/>
          <p:nvPr/>
        </p:nvSpPr>
        <p:spPr>
          <a:xfrm>
            <a:off x="320040" y="2880360"/>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29768" y="2980944"/>
            <a:ext cx="969264" cy="329184"/>
          </a:xfrm>
          <a:prstGeom prst="rect">
            <a:avLst/>
          </a:prstGeom>
          <a:noFill/>
        </p:spPr>
        <p:txBody>
          <a:bodyPr wrap="square" lIns="0" rIns="0" tIns="0" bIns="0">
            <a:spAutoFit/>
          </a:bodyPr>
          <a:lstStyle/>
          <a:p>
            <a:pPr algn="l"/>
            <a:r>
              <a:rPr sz="950" b="0">
                <a:solidFill>
                  <a:srgbClr val="1B2435"/>
                </a:solidFill>
                <a:latin typeface="Inter"/>
              </a:rPr>
              <a:t>Ano 2</a:t>
            </a:r>
          </a:p>
        </p:txBody>
      </p:sp>
      <p:sp>
        <p:nvSpPr>
          <p:cNvPr id="22" name="TextBox 21"/>
          <p:cNvSpPr txBox="1"/>
          <p:nvPr/>
        </p:nvSpPr>
        <p:spPr>
          <a:xfrm>
            <a:off x="1618488" y="2980944"/>
            <a:ext cx="3483863" cy="329184"/>
          </a:xfrm>
          <a:prstGeom prst="rect">
            <a:avLst/>
          </a:prstGeom>
          <a:noFill/>
        </p:spPr>
        <p:txBody>
          <a:bodyPr wrap="square" lIns="0" rIns="0" tIns="0" bIns="0">
            <a:spAutoFit/>
          </a:bodyPr>
          <a:lstStyle/>
          <a:p>
            <a:pPr algn="l"/>
            <a:r>
              <a:rPr sz="950" b="0">
                <a:solidFill>
                  <a:srgbClr val="1B2435"/>
                </a:solidFill>
                <a:latin typeface="Inter"/>
              </a:rPr>
              <a:t>Bloqueios pontuais onde a rota concentra</a:t>
            </a:r>
          </a:p>
        </p:txBody>
      </p:sp>
      <p:sp>
        <p:nvSpPr>
          <p:cNvPr id="23" name="TextBox 22"/>
          <p:cNvSpPr txBox="1"/>
          <p:nvPr/>
        </p:nvSpPr>
        <p:spPr>
          <a:xfrm>
            <a:off x="5321807" y="2980944"/>
            <a:ext cx="1106424" cy="329184"/>
          </a:xfrm>
          <a:prstGeom prst="rect">
            <a:avLst/>
          </a:prstGeom>
          <a:noFill/>
        </p:spPr>
        <p:txBody>
          <a:bodyPr wrap="square" lIns="0" rIns="0" tIns="0" bIns="0">
            <a:spAutoFit/>
          </a:bodyPr>
          <a:lstStyle/>
          <a:p>
            <a:pPr algn="ctr"/>
            <a:r>
              <a:rPr sz="950" b="0">
                <a:solidFill>
                  <a:srgbClr val="1B2435"/>
                </a:solidFill>
                <a:latin typeface="Inter"/>
              </a:rPr>
              <a:t>R$ 1.800</a:t>
            </a:r>
          </a:p>
        </p:txBody>
      </p:sp>
      <p:sp>
        <p:nvSpPr>
          <p:cNvPr id="24" name="TextBox 23"/>
          <p:cNvSpPr txBox="1"/>
          <p:nvPr/>
        </p:nvSpPr>
        <p:spPr>
          <a:xfrm>
            <a:off x="6647688" y="2980944"/>
            <a:ext cx="1517904" cy="329184"/>
          </a:xfrm>
          <a:prstGeom prst="rect">
            <a:avLst/>
          </a:prstGeom>
          <a:noFill/>
        </p:spPr>
        <p:txBody>
          <a:bodyPr wrap="square" lIns="0" rIns="0" tIns="0" bIns="0">
            <a:spAutoFit/>
          </a:bodyPr>
          <a:lstStyle/>
          <a:p>
            <a:pPr algn="ctr"/>
            <a:r>
              <a:rPr sz="950" b="0">
                <a:solidFill>
                  <a:srgbClr val="1B2435"/>
                </a:solidFill>
                <a:latin typeface="Inter"/>
              </a:rPr>
              <a:t>R$ 300</a:t>
            </a:r>
          </a:p>
        </p:txBody>
      </p:sp>
      <p:sp>
        <p:nvSpPr>
          <p:cNvPr id="25" name="TextBox 24"/>
          <p:cNvSpPr txBox="1"/>
          <p:nvPr/>
        </p:nvSpPr>
        <p:spPr>
          <a:xfrm>
            <a:off x="8385047" y="2980944"/>
            <a:ext cx="969264" cy="329184"/>
          </a:xfrm>
          <a:prstGeom prst="rect">
            <a:avLst/>
          </a:prstGeom>
          <a:noFill/>
        </p:spPr>
        <p:txBody>
          <a:bodyPr wrap="square" lIns="0" rIns="0" tIns="0" bIns="0">
            <a:spAutoFit/>
          </a:bodyPr>
          <a:lstStyle/>
          <a:p>
            <a:pPr algn="ctr"/>
            <a:r>
              <a:rPr sz="950" b="0">
                <a:solidFill>
                  <a:srgbClr val="1B2435"/>
                </a:solidFill>
                <a:latin typeface="Inter"/>
              </a:rPr>
              <a:t>3,0×</a:t>
            </a:r>
          </a:p>
        </p:txBody>
      </p:sp>
      <p:sp>
        <p:nvSpPr>
          <p:cNvPr id="26" name="TextBox 25"/>
          <p:cNvSpPr txBox="1"/>
          <p:nvPr/>
        </p:nvSpPr>
        <p:spPr>
          <a:xfrm>
            <a:off x="9573767" y="2980944"/>
            <a:ext cx="969264" cy="329184"/>
          </a:xfrm>
          <a:prstGeom prst="rect">
            <a:avLst/>
          </a:prstGeom>
          <a:noFill/>
        </p:spPr>
        <p:txBody>
          <a:bodyPr wrap="square" lIns="0" rIns="0" tIns="0" bIns="0">
            <a:spAutoFit/>
          </a:bodyPr>
          <a:lstStyle/>
          <a:p>
            <a:pPr algn="ctr"/>
            <a:r>
              <a:rPr sz="950" b="0">
                <a:solidFill>
                  <a:srgbClr val="1B2435"/>
                </a:solidFill>
                <a:latin typeface="Inter"/>
              </a:rPr>
              <a:t>5%</a:t>
            </a:r>
          </a:p>
        </p:txBody>
      </p:sp>
      <p:sp>
        <p:nvSpPr>
          <p:cNvPr id="27" name="TextBox 26"/>
          <p:cNvSpPr txBox="1"/>
          <p:nvPr/>
        </p:nvSpPr>
        <p:spPr>
          <a:xfrm>
            <a:off x="10762488" y="2980944"/>
            <a:ext cx="1014984" cy="329184"/>
          </a:xfrm>
          <a:prstGeom prst="rect">
            <a:avLst/>
          </a:prstGeom>
          <a:noFill/>
        </p:spPr>
        <p:txBody>
          <a:bodyPr wrap="square" lIns="0" rIns="0" tIns="0" bIns="0">
            <a:spAutoFit/>
          </a:bodyPr>
          <a:lstStyle/>
          <a:p>
            <a:pPr algn="ctr"/>
            <a:r>
              <a:rPr sz="950" b="0">
                <a:solidFill>
                  <a:srgbClr val="1B2435"/>
                </a:solidFill>
                <a:latin typeface="Inter"/>
              </a:rPr>
              <a:t>R$ 190,00</a:t>
            </a:r>
          </a:p>
        </p:txBody>
      </p:sp>
      <p:sp>
        <p:nvSpPr>
          <p:cNvPr id="28" name="Rectangle 27"/>
          <p:cNvSpPr/>
          <p:nvPr/>
        </p:nvSpPr>
        <p:spPr>
          <a:xfrm>
            <a:off x="320040" y="3355848"/>
            <a:ext cx="1156716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456432"/>
            <a:ext cx="969264" cy="329184"/>
          </a:xfrm>
          <a:prstGeom prst="rect">
            <a:avLst/>
          </a:prstGeom>
          <a:noFill/>
        </p:spPr>
        <p:txBody>
          <a:bodyPr wrap="square" lIns="0" rIns="0" tIns="0" bIns="0">
            <a:spAutoFit/>
          </a:bodyPr>
          <a:lstStyle/>
          <a:p>
            <a:pPr algn="l"/>
            <a:r>
              <a:rPr sz="950" b="0">
                <a:solidFill>
                  <a:srgbClr val="1B2435"/>
                </a:solidFill>
                <a:latin typeface="Inter"/>
              </a:rPr>
              <a:t>Ano 3</a:t>
            </a:r>
          </a:p>
        </p:txBody>
      </p:sp>
      <p:sp>
        <p:nvSpPr>
          <p:cNvPr id="30" name="TextBox 29"/>
          <p:cNvSpPr txBox="1"/>
          <p:nvPr/>
        </p:nvSpPr>
        <p:spPr>
          <a:xfrm>
            <a:off x="1618488" y="3456432"/>
            <a:ext cx="3483863" cy="329184"/>
          </a:xfrm>
          <a:prstGeom prst="rect">
            <a:avLst/>
          </a:prstGeom>
          <a:noFill/>
        </p:spPr>
        <p:txBody>
          <a:bodyPr wrap="square" lIns="0" rIns="0" tIns="0" bIns="0">
            <a:spAutoFit/>
          </a:bodyPr>
          <a:lstStyle/>
          <a:p>
            <a:pPr algn="l"/>
            <a:r>
              <a:rPr sz="950" b="0">
                <a:solidFill>
                  <a:srgbClr val="1B2435"/>
                </a:solidFill>
                <a:latin typeface="Inter"/>
              </a:rPr>
              <a:t>Convênio próprio</a:t>
            </a:r>
          </a:p>
        </p:txBody>
      </p:sp>
      <p:sp>
        <p:nvSpPr>
          <p:cNvPr id="31" name="TextBox 30"/>
          <p:cNvSpPr txBox="1"/>
          <p:nvPr/>
        </p:nvSpPr>
        <p:spPr>
          <a:xfrm>
            <a:off x="5321807" y="3456432"/>
            <a:ext cx="1106424" cy="329184"/>
          </a:xfrm>
          <a:prstGeom prst="rect">
            <a:avLst/>
          </a:prstGeom>
          <a:noFill/>
        </p:spPr>
        <p:txBody>
          <a:bodyPr wrap="square" lIns="0" rIns="0" tIns="0" bIns="0">
            <a:spAutoFit/>
          </a:bodyPr>
          <a:lstStyle/>
          <a:p>
            <a:pPr algn="ctr"/>
            <a:r>
              <a:rPr sz="950" b="0">
                <a:solidFill>
                  <a:srgbClr val="1B2435"/>
                </a:solidFill>
                <a:latin typeface="Inter"/>
              </a:rPr>
              <a:t>R$ 1.700</a:t>
            </a:r>
          </a:p>
        </p:txBody>
      </p:sp>
      <p:sp>
        <p:nvSpPr>
          <p:cNvPr id="32" name="TextBox 31"/>
          <p:cNvSpPr txBox="1"/>
          <p:nvPr/>
        </p:nvSpPr>
        <p:spPr>
          <a:xfrm>
            <a:off x="6647688" y="3456432"/>
            <a:ext cx="1517904" cy="329184"/>
          </a:xfrm>
          <a:prstGeom prst="rect">
            <a:avLst/>
          </a:prstGeom>
          <a:noFill/>
        </p:spPr>
        <p:txBody>
          <a:bodyPr wrap="square" lIns="0" rIns="0" tIns="0" bIns="0">
            <a:spAutoFit/>
          </a:bodyPr>
          <a:lstStyle/>
          <a:p>
            <a:pPr algn="ctr"/>
            <a:r>
              <a:rPr sz="950" b="0">
                <a:solidFill>
                  <a:srgbClr val="1B2435"/>
                </a:solidFill>
                <a:latin typeface="Inter"/>
              </a:rPr>
              <a:t>R$ 400</a:t>
            </a:r>
          </a:p>
        </p:txBody>
      </p:sp>
      <p:sp>
        <p:nvSpPr>
          <p:cNvPr id="33" name="TextBox 32"/>
          <p:cNvSpPr txBox="1"/>
          <p:nvPr/>
        </p:nvSpPr>
        <p:spPr>
          <a:xfrm>
            <a:off x="8385047" y="3456432"/>
            <a:ext cx="969264" cy="329184"/>
          </a:xfrm>
          <a:prstGeom prst="rect">
            <a:avLst/>
          </a:prstGeom>
          <a:noFill/>
        </p:spPr>
        <p:txBody>
          <a:bodyPr wrap="square" lIns="0" rIns="0" tIns="0" bIns="0">
            <a:spAutoFit/>
          </a:bodyPr>
          <a:lstStyle/>
          <a:p>
            <a:pPr algn="ctr"/>
            <a:r>
              <a:rPr sz="950" b="0">
                <a:solidFill>
                  <a:srgbClr val="1B2435"/>
                </a:solidFill>
                <a:latin typeface="Inter"/>
              </a:rPr>
              <a:t>4,0×</a:t>
            </a:r>
          </a:p>
        </p:txBody>
      </p:sp>
      <p:sp>
        <p:nvSpPr>
          <p:cNvPr id="34" name="TextBox 33"/>
          <p:cNvSpPr txBox="1"/>
          <p:nvPr/>
        </p:nvSpPr>
        <p:spPr>
          <a:xfrm>
            <a:off x="9573767" y="3456432"/>
            <a:ext cx="969264" cy="329184"/>
          </a:xfrm>
          <a:prstGeom prst="rect">
            <a:avLst/>
          </a:prstGeom>
          <a:noFill/>
        </p:spPr>
        <p:txBody>
          <a:bodyPr wrap="square" lIns="0" rIns="0" tIns="0" bIns="0">
            <a:spAutoFit/>
          </a:bodyPr>
          <a:lstStyle/>
          <a:p>
            <a:pPr algn="ctr"/>
            <a:r>
              <a:rPr sz="950" b="0">
                <a:solidFill>
                  <a:srgbClr val="1B2435"/>
                </a:solidFill>
                <a:latin typeface="Inter"/>
              </a:rPr>
              <a:t>6,4%</a:t>
            </a:r>
          </a:p>
        </p:txBody>
      </p:sp>
      <p:sp>
        <p:nvSpPr>
          <p:cNvPr id="35" name="TextBox 34"/>
          <p:cNvSpPr txBox="1"/>
          <p:nvPr/>
        </p:nvSpPr>
        <p:spPr>
          <a:xfrm>
            <a:off x="10762488" y="3456432"/>
            <a:ext cx="1014984" cy="329184"/>
          </a:xfrm>
          <a:prstGeom prst="rect">
            <a:avLst/>
          </a:prstGeom>
          <a:noFill/>
        </p:spPr>
        <p:txBody>
          <a:bodyPr wrap="square" lIns="0" rIns="0" tIns="0" bIns="0">
            <a:spAutoFit/>
          </a:bodyPr>
          <a:lstStyle/>
          <a:p>
            <a:pPr algn="ctr"/>
            <a:r>
              <a:rPr sz="950" b="0">
                <a:solidFill>
                  <a:srgbClr val="1B2435"/>
                </a:solidFill>
                <a:latin typeface="Inter"/>
              </a:rPr>
              <a:t>R$ 208,80</a:t>
            </a:r>
          </a:p>
        </p:txBody>
      </p:sp>
      <p:sp>
        <p:nvSpPr>
          <p:cNvPr id="36" name="Rounded Rectangle 35"/>
          <p:cNvSpPr/>
          <p:nvPr/>
        </p:nvSpPr>
        <p:spPr>
          <a:xfrm>
            <a:off x="320040" y="3977639"/>
            <a:ext cx="5623560" cy="1783080"/>
          </a:xfrm>
          <a:prstGeom prst="roundRect">
            <a:avLst>
              <a:gd name="adj" fmla="val 40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48640" y="4160520"/>
            <a:ext cx="5166360" cy="274320"/>
          </a:xfrm>
          <a:prstGeom prst="rect">
            <a:avLst/>
          </a:prstGeom>
          <a:noFill/>
        </p:spPr>
        <p:txBody>
          <a:bodyPr wrap="square" lIns="0" rIns="0" tIns="0" bIns="0">
            <a:spAutoFit/>
          </a:bodyPr>
          <a:lstStyle/>
          <a:p>
            <a:pPr algn="l"/>
            <a:r>
              <a:rPr sz="900" b="1" spc="120">
                <a:solidFill>
                  <a:srgbClr val="F2B705"/>
                </a:solidFill>
                <a:latin typeface="Inter SemiBold"/>
              </a:rPr>
              <a:t>A ÚNICA ALAVANCA DO ANO 1</a:t>
            </a:r>
          </a:p>
        </p:txBody>
      </p:sp>
      <p:sp>
        <p:nvSpPr>
          <p:cNvPr id="38" name="TextBox 37"/>
          <p:cNvSpPr txBox="1"/>
          <p:nvPr/>
        </p:nvSpPr>
        <p:spPr>
          <a:xfrm>
            <a:off x="548640" y="4480560"/>
            <a:ext cx="5166360" cy="1143000"/>
          </a:xfrm>
          <a:prstGeom prst="rect">
            <a:avLst/>
          </a:prstGeom>
          <a:noFill/>
        </p:spPr>
        <p:txBody>
          <a:bodyPr wrap="square" lIns="0" rIns="0" tIns="0" bIns="0">
            <a:spAutoFit/>
          </a:bodyPr>
          <a:lstStyle/>
          <a:p>
            <a:pPr algn="l">
              <a:lnSpc>
                <a:spcPct val="135000"/>
              </a:lnSpc>
            </a:pPr>
            <a:r>
              <a:rPr sz="1050" b="0">
                <a:solidFill>
                  <a:srgbClr val="1B2435"/>
                </a:solidFill>
                <a:latin typeface="Inter"/>
              </a:rPr>
              <a:t>Antecipação. Comprar aos 90 dias em vez de menos de 30 é a curva tarifária pública — não exige negociar com fornecedor nenhum. É gratuita e está disponível no primeiro dia.</a:t>
            </a:r>
          </a:p>
        </p:txBody>
      </p:sp>
      <p:sp>
        <p:nvSpPr>
          <p:cNvPr id="39" name="Rounded Rectangle 38"/>
          <p:cNvSpPr/>
          <p:nvPr/>
        </p:nvSpPr>
        <p:spPr>
          <a:xfrm>
            <a:off x="6217920" y="3977639"/>
            <a:ext cx="5623560" cy="1783080"/>
          </a:xfrm>
          <a:prstGeom prst="roundRect">
            <a:avLst>
              <a:gd name="adj" fmla="val 4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46520" y="4160520"/>
            <a:ext cx="5166360" cy="274320"/>
          </a:xfrm>
          <a:prstGeom prst="rect">
            <a:avLst/>
          </a:prstGeom>
          <a:noFill/>
        </p:spPr>
        <p:txBody>
          <a:bodyPr wrap="square" lIns="0" rIns="0" tIns="0" bIns="0">
            <a:spAutoFit/>
          </a:bodyPr>
          <a:lstStyle/>
          <a:p>
            <a:pPr algn="l"/>
            <a:r>
              <a:rPr sz="900" b="1" spc="120">
                <a:solidFill>
                  <a:srgbClr val="F2B705"/>
                </a:solidFill>
                <a:latin typeface="Inter SemiBold"/>
              </a:rPr>
              <a:t>O TESTE CONTRA O VOLUME</a:t>
            </a:r>
          </a:p>
        </p:txBody>
      </p:sp>
      <p:sp>
        <p:nvSpPr>
          <p:cNvPr id="41" name="TextBox 40"/>
          <p:cNvSpPr txBox="1"/>
          <p:nvPr/>
        </p:nvSpPr>
        <p:spPr>
          <a:xfrm>
            <a:off x="6446520" y="4480560"/>
            <a:ext cx="5166360" cy="1143000"/>
          </a:xfrm>
          <a:prstGeom prst="rect">
            <a:avLst/>
          </a:prstGeom>
          <a:noFill/>
        </p:spPr>
        <p:txBody>
          <a:bodyPr wrap="square" lIns="0" rIns="0" tIns="0" bIns="0">
            <a:spAutoFit/>
          </a:bodyPr>
          <a:lstStyle/>
          <a:p>
            <a:pPr algn="l">
              <a:lnSpc>
                <a:spcPct val="135000"/>
              </a:lnSpc>
            </a:pPr>
            <a:r>
              <a:rPr sz="1050" b="0">
                <a:solidFill>
                  <a:srgbClr val="E6E8F0"/>
                </a:solidFill>
                <a:latin typeface="Inter"/>
              </a:rPr>
              <a:t>Faixas da Velt: R$ 250–500 mil/ano rende 3–5%; acima de R$ 1 mi/ano, 8–12%. Com 100 alunos, o volume aéreo do ano 1 é R$ 518 mil — na entrada da faixa.</a:t>
            </a:r>
          </a:p>
        </p:txBody>
      </p:sp>
      <p:sp>
        <p:nvSpPr>
          <p:cNvPr id="42" name="TextBox 41"/>
          <p:cNvSpPr txBox="1"/>
          <p:nvPr/>
        </p:nvSpPr>
        <p:spPr>
          <a:xfrm>
            <a:off x="320040" y="6263640"/>
            <a:ext cx="11521440" cy="228600"/>
          </a:xfrm>
          <a:prstGeom prst="rect">
            <a:avLst/>
          </a:prstGeom>
          <a:noFill/>
        </p:spPr>
        <p:txBody>
          <a:bodyPr wrap="square" lIns="0" rIns="0" tIns="0" bIns="0">
            <a:spAutoFit/>
          </a:bodyPr>
          <a:lstStyle/>
          <a:p>
            <a:pPr algn="l"/>
            <a:r>
              <a:rPr sz="800" b="0">
                <a:solidFill>
                  <a:srgbClr val="6B7280"/>
                </a:solidFill>
                <a:latin typeface="Inter"/>
              </a:rPr>
              <a:t>Faixas apuradas na entrevista com Bruno Brant (Velt), Sprint 1. As comissões usadas nos anos 2 e 3 ficam abaixo do que o volume permitiria.</a:t>
            </a:r>
          </a:p>
        </p:txBody>
      </p:sp>
      <p:sp>
        <p:nvSpPr>
          <p:cNvPr id="43" name="TextBox 42"/>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44" name="TextBox 43"/>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03  </a:t>
            </a:r>
            <a:r>
              <a:rPr sz="2300" b="1">
                <a:solidFill>
                  <a:srgbClr val="0B1220"/>
                </a:solidFill>
                <a:latin typeface="Sora"/>
              </a:rPr>
              <a:t>A concentração é o que liga a tarifa de grupo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Tarifa de grupo exige cerca de 10 passageiros na mesma rota. A pergunta certa é quantos alunos a operação reúne no mesmo campus e na mesma data.</a:t>
            </a:r>
          </a:p>
        </p:txBody>
      </p:sp>
      <p:sp>
        <p:nvSpPr>
          <p:cNvPr id="4" name="Rectangle 3"/>
          <p:cNvSpPr/>
          <p:nvPr/>
        </p:nvSpPr>
        <p:spPr>
          <a:xfrm>
            <a:off x="320040" y="2103120"/>
            <a:ext cx="950976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94560"/>
            <a:ext cx="2523744" cy="201168"/>
          </a:xfrm>
          <a:prstGeom prst="rect">
            <a:avLst/>
          </a:prstGeom>
          <a:noFill/>
        </p:spPr>
        <p:txBody>
          <a:bodyPr wrap="square" lIns="0" rIns="0" tIns="0" bIns="0">
            <a:spAutoFit/>
          </a:bodyPr>
          <a:lstStyle/>
          <a:p>
            <a:pPr algn="l"/>
            <a:r>
              <a:rPr sz="900" b="1">
                <a:solidFill>
                  <a:srgbClr val="F2B705"/>
                </a:solidFill>
                <a:latin typeface="Inter SemiBold"/>
              </a:rPr>
              <a:t>Alunos no mesmo campus/data</a:t>
            </a:r>
          </a:p>
        </p:txBody>
      </p:sp>
      <p:sp>
        <p:nvSpPr>
          <p:cNvPr id="6" name="TextBox 5"/>
          <p:cNvSpPr txBox="1"/>
          <p:nvPr/>
        </p:nvSpPr>
        <p:spPr>
          <a:xfrm>
            <a:off x="31729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5 origens</a:t>
            </a:r>
          </a:p>
        </p:txBody>
      </p:sp>
      <p:sp>
        <p:nvSpPr>
          <p:cNvPr id="7" name="TextBox 6"/>
          <p:cNvSpPr txBox="1"/>
          <p:nvPr/>
        </p:nvSpPr>
        <p:spPr>
          <a:xfrm>
            <a:off x="47731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6 origens</a:t>
            </a:r>
          </a:p>
        </p:txBody>
      </p:sp>
      <p:sp>
        <p:nvSpPr>
          <p:cNvPr id="8" name="TextBox 7"/>
          <p:cNvSpPr txBox="1"/>
          <p:nvPr/>
        </p:nvSpPr>
        <p:spPr>
          <a:xfrm>
            <a:off x="6373368" y="2194560"/>
            <a:ext cx="1380744" cy="201168"/>
          </a:xfrm>
          <a:prstGeom prst="rect">
            <a:avLst/>
          </a:prstGeom>
          <a:noFill/>
        </p:spPr>
        <p:txBody>
          <a:bodyPr wrap="square" lIns="0" rIns="0" tIns="0" bIns="0">
            <a:spAutoFit/>
          </a:bodyPr>
          <a:lstStyle/>
          <a:p>
            <a:pPr algn="ctr"/>
            <a:r>
              <a:rPr sz="900" b="1">
                <a:solidFill>
                  <a:srgbClr val="F2B705"/>
                </a:solidFill>
                <a:latin typeface="Inter SemiBold"/>
              </a:rPr>
              <a:t>8 origens</a:t>
            </a:r>
          </a:p>
        </p:txBody>
      </p:sp>
      <p:sp>
        <p:nvSpPr>
          <p:cNvPr id="9" name="TextBox 8"/>
          <p:cNvSpPr txBox="1"/>
          <p:nvPr/>
        </p:nvSpPr>
        <p:spPr>
          <a:xfrm>
            <a:off x="7973567" y="2194560"/>
            <a:ext cx="1746504" cy="201168"/>
          </a:xfrm>
          <a:prstGeom prst="rect">
            <a:avLst/>
          </a:prstGeom>
          <a:noFill/>
        </p:spPr>
        <p:txBody>
          <a:bodyPr wrap="square" lIns="0" rIns="0" tIns="0" bIns="0">
            <a:spAutoFit/>
          </a:bodyPr>
          <a:lstStyle/>
          <a:p>
            <a:pPr algn="ctr"/>
            <a:r>
              <a:rPr sz="900" b="1">
                <a:solidFill>
                  <a:srgbClr val="F2B705"/>
                </a:solidFill>
                <a:latin typeface="Inter SemiBold"/>
              </a:rPr>
              <a:t>Forma grupo?</a:t>
            </a:r>
          </a:p>
        </p:txBody>
      </p:sp>
      <p:sp>
        <p:nvSpPr>
          <p:cNvPr id="10" name="Rectangle 9"/>
          <p:cNvSpPr/>
          <p:nvPr/>
        </p:nvSpPr>
        <p:spPr>
          <a:xfrm>
            <a:off x="320040" y="2450591"/>
            <a:ext cx="950976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9768" y="2551175"/>
            <a:ext cx="2523744" cy="274320"/>
          </a:xfrm>
          <a:prstGeom prst="rect">
            <a:avLst/>
          </a:prstGeom>
          <a:noFill/>
        </p:spPr>
        <p:txBody>
          <a:bodyPr wrap="square" lIns="0" rIns="0" tIns="0" bIns="0">
            <a:spAutoFit/>
          </a:bodyPr>
          <a:lstStyle/>
          <a:p>
            <a:pPr algn="l"/>
            <a:r>
              <a:rPr sz="950" b="0">
                <a:solidFill>
                  <a:srgbClr val="0B1220"/>
                </a:solidFill>
                <a:latin typeface="Inter"/>
              </a:rPr>
              <a:t>100 alunos</a:t>
            </a:r>
          </a:p>
        </p:txBody>
      </p:sp>
      <p:sp>
        <p:nvSpPr>
          <p:cNvPr id="12" name="TextBox 11"/>
          <p:cNvSpPr txBox="1"/>
          <p:nvPr/>
        </p:nvSpPr>
        <p:spPr>
          <a:xfrm>
            <a:off x="3172968" y="2551175"/>
            <a:ext cx="1380744" cy="274320"/>
          </a:xfrm>
          <a:prstGeom prst="rect">
            <a:avLst/>
          </a:prstGeom>
          <a:noFill/>
        </p:spPr>
        <p:txBody>
          <a:bodyPr wrap="square" lIns="0" rIns="0" tIns="0" bIns="0">
            <a:spAutoFit/>
          </a:bodyPr>
          <a:lstStyle/>
          <a:p>
            <a:pPr algn="ctr"/>
            <a:r>
              <a:rPr sz="950" b="0">
                <a:solidFill>
                  <a:srgbClr val="0B1220"/>
                </a:solidFill>
                <a:latin typeface="Inter"/>
              </a:rPr>
              <a:t>20,0 pax</a:t>
            </a:r>
          </a:p>
        </p:txBody>
      </p:sp>
      <p:sp>
        <p:nvSpPr>
          <p:cNvPr id="13" name="TextBox 12"/>
          <p:cNvSpPr txBox="1"/>
          <p:nvPr/>
        </p:nvSpPr>
        <p:spPr>
          <a:xfrm>
            <a:off x="4773168" y="2551175"/>
            <a:ext cx="1380744" cy="274320"/>
          </a:xfrm>
          <a:prstGeom prst="rect">
            <a:avLst/>
          </a:prstGeom>
          <a:noFill/>
        </p:spPr>
        <p:txBody>
          <a:bodyPr wrap="square" lIns="0" rIns="0" tIns="0" bIns="0">
            <a:spAutoFit/>
          </a:bodyPr>
          <a:lstStyle/>
          <a:p>
            <a:pPr algn="ctr"/>
            <a:r>
              <a:rPr sz="950" b="0">
                <a:solidFill>
                  <a:srgbClr val="0B1220"/>
                </a:solidFill>
                <a:latin typeface="Inter"/>
              </a:rPr>
              <a:t>16,7 pax</a:t>
            </a:r>
          </a:p>
        </p:txBody>
      </p:sp>
      <p:sp>
        <p:nvSpPr>
          <p:cNvPr id="14" name="TextBox 13"/>
          <p:cNvSpPr txBox="1"/>
          <p:nvPr/>
        </p:nvSpPr>
        <p:spPr>
          <a:xfrm>
            <a:off x="6373368" y="2551175"/>
            <a:ext cx="1380744" cy="274320"/>
          </a:xfrm>
          <a:prstGeom prst="rect">
            <a:avLst/>
          </a:prstGeom>
          <a:noFill/>
        </p:spPr>
        <p:txBody>
          <a:bodyPr wrap="square" lIns="0" rIns="0" tIns="0" bIns="0">
            <a:spAutoFit/>
          </a:bodyPr>
          <a:lstStyle/>
          <a:p>
            <a:pPr algn="ctr"/>
            <a:r>
              <a:rPr sz="950" b="0">
                <a:solidFill>
                  <a:srgbClr val="0B1220"/>
                </a:solidFill>
                <a:latin typeface="Inter"/>
              </a:rPr>
              <a:t>12,5 pax</a:t>
            </a:r>
          </a:p>
        </p:txBody>
      </p:sp>
      <p:sp>
        <p:nvSpPr>
          <p:cNvPr id="15" name="TextBox 14"/>
          <p:cNvSpPr txBox="1"/>
          <p:nvPr/>
        </p:nvSpPr>
        <p:spPr>
          <a:xfrm>
            <a:off x="7973567" y="2551175"/>
            <a:ext cx="1746504" cy="274320"/>
          </a:xfrm>
          <a:prstGeom prst="rect">
            <a:avLst/>
          </a:prstGeom>
          <a:noFill/>
        </p:spPr>
        <p:txBody>
          <a:bodyPr wrap="square" lIns="0" rIns="0" tIns="0" bIns="0">
            <a:spAutoFit/>
          </a:bodyPr>
          <a:lstStyle/>
          <a:p>
            <a:pPr algn="ctr"/>
            <a:r>
              <a:rPr sz="950" b="0">
                <a:solidFill>
                  <a:srgbClr val="0B1220"/>
                </a:solidFill>
                <a:latin typeface="Inter"/>
              </a:rPr>
              <a:t>sim</a:t>
            </a:r>
          </a:p>
        </p:txBody>
      </p:sp>
      <p:sp>
        <p:nvSpPr>
          <p:cNvPr id="16" name="Rectangle 15"/>
          <p:cNvSpPr/>
          <p:nvPr/>
        </p:nvSpPr>
        <p:spPr>
          <a:xfrm>
            <a:off x="320040" y="2871215"/>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2971799"/>
            <a:ext cx="2523744" cy="274320"/>
          </a:xfrm>
          <a:prstGeom prst="rect">
            <a:avLst/>
          </a:prstGeom>
          <a:noFill/>
        </p:spPr>
        <p:txBody>
          <a:bodyPr wrap="square" lIns="0" rIns="0" tIns="0" bIns="0">
            <a:spAutoFit/>
          </a:bodyPr>
          <a:lstStyle/>
          <a:p>
            <a:pPr algn="l"/>
            <a:r>
              <a:rPr sz="950" b="0">
                <a:solidFill>
                  <a:srgbClr val="1B2435"/>
                </a:solidFill>
                <a:latin typeface="Inter"/>
              </a:rPr>
              <a:t>50 alunos</a:t>
            </a:r>
          </a:p>
        </p:txBody>
      </p:sp>
      <p:sp>
        <p:nvSpPr>
          <p:cNvPr id="18" name="TextBox 17"/>
          <p:cNvSpPr txBox="1"/>
          <p:nvPr/>
        </p:nvSpPr>
        <p:spPr>
          <a:xfrm>
            <a:off x="3172968" y="2971799"/>
            <a:ext cx="1380744" cy="274320"/>
          </a:xfrm>
          <a:prstGeom prst="rect">
            <a:avLst/>
          </a:prstGeom>
          <a:noFill/>
        </p:spPr>
        <p:txBody>
          <a:bodyPr wrap="square" lIns="0" rIns="0" tIns="0" bIns="0">
            <a:spAutoFit/>
          </a:bodyPr>
          <a:lstStyle/>
          <a:p>
            <a:pPr algn="ctr"/>
            <a:r>
              <a:rPr sz="950" b="0">
                <a:solidFill>
                  <a:srgbClr val="1B2435"/>
                </a:solidFill>
                <a:latin typeface="Inter"/>
              </a:rPr>
              <a:t>10,0 pax</a:t>
            </a:r>
          </a:p>
        </p:txBody>
      </p:sp>
      <p:sp>
        <p:nvSpPr>
          <p:cNvPr id="19" name="TextBox 18"/>
          <p:cNvSpPr txBox="1"/>
          <p:nvPr/>
        </p:nvSpPr>
        <p:spPr>
          <a:xfrm>
            <a:off x="4773168" y="2971799"/>
            <a:ext cx="1380744" cy="274320"/>
          </a:xfrm>
          <a:prstGeom prst="rect">
            <a:avLst/>
          </a:prstGeom>
          <a:noFill/>
        </p:spPr>
        <p:txBody>
          <a:bodyPr wrap="square" lIns="0" rIns="0" tIns="0" bIns="0">
            <a:spAutoFit/>
          </a:bodyPr>
          <a:lstStyle/>
          <a:p>
            <a:pPr algn="ctr"/>
            <a:r>
              <a:rPr sz="950" b="0">
                <a:solidFill>
                  <a:srgbClr val="1B2435"/>
                </a:solidFill>
                <a:latin typeface="Inter"/>
              </a:rPr>
              <a:t>8,3 pax</a:t>
            </a:r>
          </a:p>
        </p:txBody>
      </p:sp>
      <p:sp>
        <p:nvSpPr>
          <p:cNvPr id="20" name="TextBox 19"/>
          <p:cNvSpPr txBox="1"/>
          <p:nvPr/>
        </p:nvSpPr>
        <p:spPr>
          <a:xfrm>
            <a:off x="6373368" y="2971799"/>
            <a:ext cx="1380744" cy="274320"/>
          </a:xfrm>
          <a:prstGeom prst="rect">
            <a:avLst/>
          </a:prstGeom>
          <a:noFill/>
        </p:spPr>
        <p:txBody>
          <a:bodyPr wrap="square" lIns="0" rIns="0" tIns="0" bIns="0">
            <a:spAutoFit/>
          </a:bodyPr>
          <a:lstStyle/>
          <a:p>
            <a:pPr algn="ctr"/>
            <a:r>
              <a:rPr sz="950" b="0">
                <a:solidFill>
                  <a:srgbClr val="1B2435"/>
                </a:solidFill>
                <a:latin typeface="Inter"/>
              </a:rPr>
              <a:t>6,2 pax</a:t>
            </a:r>
          </a:p>
        </p:txBody>
      </p:sp>
      <p:sp>
        <p:nvSpPr>
          <p:cNvPr id="21" name="TextBox 20"/>
          <p:cNvSpPr txBox="1"/>
          <p:nvPr/>
        </p:nvSpPr>
        <p:spPr>
          <a:xfrm>
            <a:off x="7973567" y="2971799"/>
            <a:ext cx="1746504" cy="274320"/>
          </a:xfrm>
          <a:prstGeom prst="rect">
            <a:avLst/>
          </a:prstGeom>
          <a:noFill/>
        </p:spPr>
        <p:txBody>
          <a:bodyPr wrap="square" lIns="0" rIns="0" tIns="0" bIns="0">
            <a:spAutoFit/>
          </a:bodyPr>
          <a:lstStyle/>
          <a:p>
            <a:pPr algn="ctr"/>
            <a:r>
              <a:rPr sz="950" b="0">
                <a:solidFill>
                  <a:srgbClr val="1B2435"/>
                </a:solidFill>
                <a:latin typeface="Inter"/>
              </a:rPr>
              <a:t>só com 5 origens</a:t>
            </a:r>
          </a:p>
        </p:txBody>
      </p:sp>
      <p:sp>
        <p:nvSpPr>
          <p:cNvPr id="22" name="Rectangle 21"/>
          <p:cNvSpPr/>
          <p:nvPr/>
        </p:nvSpPr>
        <p:spPr>
          <a:xfrm>
            <a:off x="320040" y="3291839"/>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 y="3392423"/>
            <a:ext cx="2523744" cy="274320"/>
          </a:xfrm>
          <a:prstGeom prst="rect">
            <a:avLst/>
          </a:prstGeom>
          <a:noFill/>
        </p:spPr>
        <p:txBody>
          <a:bodyPr wrap="square" lIns="0" rIns="0" tIns="0" bIns="0">
            <a:spAutoFit/>
          </a:bodyPr>
          <a:lstStyle/>
          <a:p>
            <a:pPr algn="l"/>
            <a:r>
              <a:rPr sz="950" b="0">
                <a:solidFill>
                  <a:srgbClr val="1B2435"/>
                </a:solidFill>
                <a:latin typeface="Inter"/>
              </a:rPr>
              <a:t>25 alunos</a:t>
            </a:r>
          </a:p>
        </p:txBody>
      </p:sp>
      <p:sp>
        <p:nvSpPr>
          <p:cNvPr id="24" name="TextBox 23"/>
          <p:cNvSpPr txBox="1"/>
          <p:nvPr/>
        </p:nvSpPr>
        <p:spPr>
          <a:xfrm>
            <a:off x="3172968" y="3392423"/>
            <a:ext cx="1380744" cy="274320"/>
          </a:xfrm>
          <a:prstGeom prst="rect">
            <a:avLst/>
          </a:prstGeom>
          <a:noFill/>
        </p:spPr>
        <p:txBody>
          <a:bodyPr wrap="square" lIns="0" rIns="0" tIns="0" bIns="0">
            <a:spAutoFit/>
          </a:bodyPr>
          <a:lstStyle/>
          <a:p>
            <a:pPr algn="ctr"/>
            <a:r>
              <a:rPr sz="950" b="0">
                <a:solidFill>
                  <a:srgbClr val="1B2435"/>
                </a:solidFill>
                <a:latin typeface="Inter"/>
              </a:rPr>
              <a:t>5,0 pax</a:t>
            </a:r>
          </a:p>
        </p:txBody>
      </p:sp>
      <p:sp>
        <p:nvSpPr>
          <p:cNvPr id="25" name="TextBox 24"/>
          <p:cNvSpPr txBox="1"/>
          <p:nvPr/>
        </p:nvSpPr>
        <p:spPr>
          <a:xfrm>
            <a:off x="4773168" y="3392423"/>
            <a:ext cx="1380744" cy="274320"/>
          </a:xfrm>
          <a:prstGeom prst="rect">
            <a:avLst/>
          </a:prstGeom>
          <a:noFill/>
        </p:spPr>
        <p:txBody>
          <a:bodyPr wrap="square" lIns="0" rIns="0" tIns="0" bIns="0">
            <a:spAutoFit/>
          </a:bodyPr>
          <a:lstStyle/>
          <a:p>
            <a:pPr algn="ctr"/>
            <a:r>
              <a:rPr sz="950" b="0">
                <a:solidFill>
                  <a:srgbClr val="1B2435"/>
                </a:solidFill>
                <a:latin typeface="Inter"/>
              </a:rPr>
              <a:t>4,2 pax</a:t>
            </a:r>
          </a:p>
        </p:txBody>
      </p:sp>
      <p:sp>
        <p:nvSpPr>
          <p:cNvPr id="26" name="TextBox 25"/>
          <p:cNvSpPr txBox="1"/>
          <p:nvPr/>
        </p:nvSpPr>
        <p:spPr>
          <a:xfrm>
            <a:off x="6373368" y="3392423"/>
            <a:ext cx="1380744" cy="274320"/>
          </a:xfrm>
          <a:prstGeom prst="rect">
            <a:avLst/>
          </a:prstGeom>
          <a:noFill/>
        </p:spPr>
        <p:txBody>
          <a:bodyPr wrap="square" lIns="0" rIns="0" tIns="0" bIns="0">
            <a:spAutoFit/>
          </a:bodyPr>
          <a:lstStyle/>
          <a:p>
            <a:pPr algn="ctr"/>
            <a:r>
              <a:rPr sz="950" b="0">
                <a:solidFill>
                  <a:srgbClr val="1B2435"/>
                </a:solidFill>
                <a:latin typeface="Inter"/>
              </a:rPr>
              <a:t>3,1 pax</a:t>
            </a:r>
          </a:p>
        </p:txBody>
      </p:sp>
      <p:sp>
        <p:nvSpPr>
          <p:cNvPr id="27" name="TextBox 26"/>
          <p:cNvSpPr txBox="1"/>
          <p:nvPr/>
        </p:nvSpPr>
        <p:spPr>
          <a:xfrm>
            <a:off x="7973567" y="3392423"/>
            <a:ext cx="1746504" cy="274320"/>
          </a:xfrm>
          <a:prstGeom prst="rect">
            <a:avLst/>
          </a:prstGeom>
          <a:noFill/>
        </p:spPr>
        <p:txBody>
          <a:bodyPr wrap="square" lIns="0" rIns="0" tIns="0" bIns="0">
            <a:spAutoFit/>
          </a:bodyPr>
          <a:lstStyle/>
          <a:p>
            <a:pPr algn="ctr"/>
            <a:r>
              <a:rPr sz="950" b="0">
                <a:solidFill>
                  <a:srgbClr val="1B2435"/>
                </a:solidFill>
                <a:latin typeface="Inter"/>
              </a:rPr>
              <a:t>não</a:t>
            </a:r>
          </a:p>
        </p:txBody>
      </p:sp>
      <p:sp>
        <p:nvSpPr>
          <p:cNvPr id="28" name="Rectangle 27"/>
          <p:cNvSpPr/>
          <p:nvPr/>
        </p:nvSpPr>
        <p:spPr>
          <a:xfrm>
            <a:off x="320040" y="3712463"/>
            <a:ext cx="950976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813048"/>
            <a:ext cx="2523744" cy="274320"/>
          </a:xfrm>
          <a:prstGeom prst="rect">
            <a:avLst/>
          </a:prstGeom>
          <a:noFill/>
        </p:spPr>
        <p:txBody>
          <a:bodyPr wrap="square" lIns="0" rIns="0" tIns="0" bIns="0">
            <a:spAutoFit/>
          </a:bodyPr>
          <a:lstStyle/>
          <a:p>
            <a:pPr algn="l"/>
            <a:r>
              <a:rPr sz="950" b="0">
                <a:solidFill>
                  <a:srgbClr val="1B2435"/>
                </a:solidFill>
                <a:latin typeface="Inter"/>
              </a:rPr>
              <a:t>1 turma de 40, metade viajando</a:t>
            </a:r>
          </a:p>
        </p:txBody>
      </p:sp>
      <p:sp>
        <p:nvSpPr>
          <p:cNvPr id="30" name="TextBox 29"/>
          <p:cNvSpPr txBox="1"/>
          <p:nvPr/>
        </p:nvSpPr>
        <p:spPr>
          <a:xfrm>
            <a:off x="3172968" y="3813048"/>
            <a:ext cx="1380744" cy="274320"/>
          </a:xfrm>
          <a:prstGeom prst="rect">
            <a:avLst/>
          </a:prstGeom>
          <a:noFill/>
        </p:spPr>
        <p:txBody>
          <a:bodyPr wrap="square" lIns="0" rIns="0" tIns="0" bIns="0">
            <a:spAutoFit/>
          </a:bodyPr>
          <a:lstStyle/>
          <a:p>
            <a:pPr algn="ctr"/>
            <a:r>
              <a:rPr sz="950" b="0">
                <a:solidFill>
                  <a:srgbClr val="1B2435"/>
                </a:solidFill>
                <a:latin typeface="Inter"/>
              </a:rPr>
              <a:t>4,0 pax</a:t>
            </a:r>
          </a:p>
        </p:txBody>
      </p:sp>
      <p:sp>
        <p:nvSpPr>
          <p:cNvPr id="31" name="TextBox 30"/>
          <p:cNvSpPr txBox="1"/>
          <p:nvPr/>
        </p:nvSpPr>
        <p:spPr>
          <a:xfrm>
            <a:off x="4773168" y="3813048"/>
            <a:ext cx="1380744" cy="274320"/>
          </a:xfrm>
          <a:prstGeom prst="rect">
            <a:avLst/>
          </a:prstGeom>
          <a:noFill/>
        </p:spPr>
        <p:txBody>
          <a:bodyPr wrap="square" lIns="0" rIns="0" tIns="0" bIns="0">
            <a:spAutoFit/>
          </a:bodyPr>
          <a:lstStyle/>
          <a:p>
            <a:pPr algn="ctr"/>
            <a:r>
              <a:rPr sz="950" b="0">
                <a:solidFill>
                  <a:srgbClr val="1B2435"/>
                </a:solidFill>
                <a:latin typeface="Inter"/>
              </a:rPr>
              <a:t>3,3 pax</a:t>
            </a:r>
          </a:p>
        </p:txBody>
      </p:sp>
      <p:sp>
        <p:nvSpPr>
          <p:cNvPr id="32" name="TextBox 31"/>
          <p:cNvSpPr txBox="1"/>
          <p:nvPr/>
        </p:nvSpPr>
        <p:spPr>
          <a:xfrm>
            <a:off x="6373368" y="3813048"/>
            <a:ext cx="1380744" cy="274320"/>
          </a:xfrm>
          <a:prstGeom prst="rect">
            <a:avLst/>
          </a:prstGeom>
          <a:noFill/>
        </p:spPr>
        <p:txBody>
          <a:bodyPr wrap="square" lIns="0" rIns="0" tIns="0" bIns="0">
            <a:spAutoFit/>
          </a:bodyPr>
          <a:lstStyle/>
          <a:p>
            <a:pPr algn="ctr"/>
            <a:r>
              <a:rPr sz="950" b="0">
                <a:solidFill>
                  <a:srgbClr val="1B2435"/>
                </a:solidFill>
                <a:latin typeface="Inter"/>
              </a:rPr>
              <a:t>2,5 pax</a:t>
            </a:r>
          </a:p>
        </p:txBody>
      </p:sp>
      <p:sp>
        <p:nvSpPr>
          <p:cNvPr id="33" name="TextBox 32"/>
          <p:cNvSpPr txBox="1"/>
          <p:nvPr/>
        </p:nvSpPr>
        <p:spPr>
          <a:xfrm>
            <a:off x="7973567" y="3813048"/>
            <a:ext cx="1746504" cy="274320"/>
          </a:xfrm>
          <a:prstGeom prst="rect">
            <a:avLst/>
          </a:prstGeom>
          <a:noFill/>
        </p:spPr>
        <p:txBody>
          <a:bodyPr wrap="square" lIns="0" rIns="0" tIns="0" bIns="0">
            <a:spAutoFit/>
          </a:bodyPr>
          <a:lstStyle/>
          <a:p>
            <a:pPr algn="ctr"/>
            <a:r>
              <a:rPr sz="950" b="0">
                <a:solidFill>
                  <a:srgbClr val="1B2435"/>
                </a:solidFill>
                <a:latin typeface="Inter"/>
              </a:rPr>
              <a:t>não</a:t>
            </a:r>
          </a:p>
        </p:txBody>
      </p:sp>
      <p:sp>
        <p:nvSpPr>
          <p:cNvPr id="34" name="Rounded Rectangle 33"/>
          <p:cNvSpPr/>
          <p:nvPr/>
        </p:nvSpPr>
        <p:spPr>
          <a:xfrm>
            <a:off x="10058400" y="2103120"/>
            <a:ext cx="1783080" cy="2029968"/>
          </a:xfrm>
          <a:prstGeom prst="roundRect">
            <a:avLst>
              <a:gd name="adj" fmla="val 5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41280" y="2331720"/>
            <a:ext cx="1417320" cy="640080"/>
          </a:xfrm>
          <a:prstGeom prst="rect">
            <a:avLst/>
          </a:prstGeom>
          <a:noFill/>
        </p:spPr>
        <p:txBody>
          <a:bodyPr wrap="square" lIns="0" rIns="0" tIns="0" bIns="0">
            <a:spAutoFit/>
          </a:bodyPr>
          <a:lstStyle/>
          <a:p>
            <a:pPr algn="ctr"/>
            <a:r>
              <a:rPr sz="3400" b="1">
                <a:solidFill>
                  <a:srgbClr val="F2B705"/>
                </a:solidFill>
                <a:latin typeface="Sora"/>
              </a:rPr>
              <a:t>10</a:t>
            </a:r>
          </a:p>
        </p:txBody>
      </p:sp>
      <p:sp>
        <p:nvSpPr>
          <p:cNvPr id="36" name="TextBox 35"/>
          <p:cNvSpPr txBox="1"/>
          <p:nvPr/>
        </p:nvSpPr>
        <p:spPr>
          <a:xfrm>
            <a:off x="10241280" y="3017520"/>
            <a:ext cx="1417320" cy="868680"/>
          </a:xfrm>
          <a:prstGeom prst="rect">
            <a:avLst/>
          </a:prstGeom>
          <a:noFill/>
        </p:spPr>
        <p:txBody>
          <a:bodyPr wrap="square" lIns="0" rIns="0" tIns="0" bIns="0">
            <a:spAutoFit/>
          </a:bodyPr>
          <a:lstStyle/>
          <a:p>
            <a:pPr algn="ctr">
              <a:lnSpc>
                <a:spcPct val="130000"/>
              </a:lnSpc>
            </a:pPr>
            <a:r>
              <a:rPr sz="950" b="0">
                <a:solidFill>
                  <a:srgbClr val="E6E8F0"/>
                </a:solidFill>
                <a:latin typeface="Inter"/>
              </a:rPr>
              <a:t>passageiros na mesma rota é o mínimo de mercado</a:t>
            </a:r>
          </a:p>
        </p:txBody>
      </p:sp>
      <p:sp>
        <p:nvSpPr>
          <p:cNvPr id="37" name="Rounded Rectangle 36"/>
          <p:cNvSpPr/>
          <p:nvPr/>
        </p:nvSpPr>
        <p:spPr>
          <a:xfrm>
            <a:off x="320040" y="4343400"/>
            <a:ext cx="11521440" cy="77724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94360" y="4526280"/>
            <a:ext cx="10972800" cy="457200"/>
          </a:xfrm>
          <a:prstGeom prst="rect">
            <a:avLst/>
          </a:prstGeom>
          <a:noFill/>
        </p:spPr>
        <p:txBody>
          <a:bodyPr wrap="square" lIns="0" rIns="0" tIns="0" bIns="0">
            <a:spAutoFit/>
          </a:bodyPr>
          <a:lstStyle/>
          <a:p>
            <a:pPr algn="l"/>
            <a:r>
              <a:rPr sz="1300" b="1">
                <a:solidFill>
                  <a:srgbClr val="0B1220"/>
                </a:solidFill>
                <a:latin typeface="Sora"/>
              </a:rPr>
              <a:t>Nenhuma turma isolada forma grupo. A concentração tem que vir de somar turmas no mesmo campus e data.</a:t>
            </a:r>
          </a:p>
        </p:txBody>
      </p:sp>
      <p:sp>
        <p:nvSpPr>
          <p:cNvPr id="39" name="Rounded Rectangle 38"/>
          <p:cNvSpPr/>
          <p:nvPr/>
        </p:nvSpPr>
        <p:spPr>
          <a:xfrm>
            <a:off x="320040"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02920" y="5202936"/>
            <a:ext cx="3383279" cy="640080"/>
          </a:xfrm>
          <a:prstGeom prst="rect">
            <a:avLst/>
          </a:prstGeom>
          <a:noFill/>
        </p:spPr>
        <p:txBody>
          <a:bodyPr wrap="square" lIns="0" rIns="0" tIns="0" bIns="0">
            <a:spAutoFit/>
          </a:bodyPr>
          <a:lstStyle/>
          <a:p>
            <a:pPr algn="l"/>
            <a:r>
              <a:rPr sz="1800" b="1">
                <a:solidFill>
                  <a:srgbClr val="F2B705"/>
                </a:solidFill>
                <a:latin typeface="Sora"/>
              </a:rPr>
              <a:t>Campus</a:t>
            </a:r>
          </a:p>
        </p:txBody>
      </p:sp>
      <p:sp>
        <p:nvSpPr>
          <p:cNvPr id="41" name="TextBox 40"/>
          <p:cNvSpPr txBox="1"/>
          <p:nvPr/>
        </p:nvSpPr>
        <p:spPr>
          <a:xfrm>
            <a:off x="502920"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A nova unidade</a:t>
            </a:r>
          </a:p>
        </p:txBody>
      </p:sp>
      <p:sp>
        <p:nvSpPr>
          <p:cNvPr id="42" name="TextBox 41"/>
          <p:cNvSpPr txBox="1"/>
          <p:nvPr/>
        </p:nvSpPr>
        <p:spPr>
          <a:xfrm>
            <a:off x="502920"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A negociação passa a ser por campus numa data, somando alunos de várias turmas.</a:t>
            </a:r>
          </a:p>
        </p:txBody>
      </p:sp>
      <p:sp>
        <p:nvSpPr>
          <p:cNvPr id="43" name="Rounded Rectangle 42"/>
          <p:cNvSpPr/>
          <p:nvPr/>
        </p:nvSpPr>
        <p:spPr>
          <a:xfrm>
            <a:off x="4224528"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07408" y="5202936"/>
            <a:ext cx="3383279" cy="640080"/>
          </a:xfrm>
          <a:prstGeom prst="rect">
            <a:avLst/>
          </a:prstGeom>
          <a:noFill/>
        </p:spPr>
        <p:txBody>
          <a:bodyPr wrap="square" lIns="0" rIns="0" tIns="0" bIns="0">
            <a:spAutoFit/>
          </a:bodyPr>
          <a:lstStyle/>
          <a:p>
            <a:pPr algn="l"/>
            <a:r>
              <a:rPr sz="1800" b="1">
                <a:solidFill>
                  <a:srgbClr val="F2B705"/>
                </a:solidFill>
                <a:latin typeface="Sora"/>
              </a:rPr>
              <a:t>50 a 60</a:t>
            </a:r>
          </a:p>
        </p:txBody>
      </p:sp>
      <p:sp>
        <p:nvSpPr>
          <p:cNvPr id="45" name="TextBox 44"/>
          <p:cNvSpPr txBox="1"/>
          <p:nvPr/>
        </p:nvSpPr>
        <p:spPr>
          <a:xfrm>
            <a:off x="4407408"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Alunos por data</a:t>
            </a:r>
          </a:p>
        </p:txBody>
      </p:sp>
      <p:sp>
        <p:nvSpPr>
          <p:cNvPr id="46" name="TextBox 45"/>
          <p:cNvSpPr txBox="1"/>
          <p:nvPr/>
        </p:nvSpPr>
        <p:spPr>
          <a:xfrm>
            <a:off x="4407408"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É o limiar de concentração que liga a tarifa de grupo.</a:t>
            </a:r>
          </a:p>
        </p:txBody>
      </p:sp>
      <p:sp>
        <p:nvSpPr>
          <p:cNvPr id="47" name="Rounded Rectangle 46"/>
          <p:cNvSpPr/>
          <p:nvPr/>
        </p:nvSpPr>
        <p:spPr>
          <a:xfrm>
            <a:off x="8119872" y="5074920"/>
            <a:ext cx="3749039" cy="141732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302752" y="5202936"/>
            <a:ext cx="3383279" cy="640080"/>
          </a:xfrm>
          <a:prstGeom prst="rect">
            <a:avLst/>
          </a:prstGeom>
          <a:noFill/>
        </p:spPr>
        <p:txBody>
          <a:bodyPr wrap="square" lIns="0" rIns="0" tIns="0" bIns="0">
            <a:spAutoFit/>
          </a:bodyPr>
          <a:lstStyle/>
          <a:p>
            <a:pPr algn="l"/>
            <a:r>
              <a:rPr sz="1800" b="1">
                <a:solidFill>
                  <a:srgbClr val="F2B705"/>
                </a:solidFill>
                <a:latin typeface="Sora"/>
              </a:rPr>
              <a:t>Nosso</a:t>
            </a:r>
          </a:p>
        </p:txBody>
      </p:sp>
      <p:sp>
        <p:nvSpPr>
          <p:cNvPr id="49" name="TextBox 48"/>
          <p:cNvSpPr txBox="1"/>
          <p:nvPr/>
        </p:nvSpPr>
        <p:spPr>
          <a:xfrm>
            <a:off x="8302752" y="5605272"/>
            <a:ext cx="3383279" cy="365760"/>
          </a:xfrm>
          <a:prstGeom prst="rect">
            <a:avLst/>
          </a:prstGeom>
          <a:noFill/>
        </p:spPr>
        <p:txBody>
          <a:bodyPr wrap="square" lIns="0" rIns="0" tIns="0" bIns="0">
            <a:spAutoFit/>
          </a:bodyPr>
          <a:lstStyle/>
          <a:p>
            <a:pPr algn="l"/>
            <a:r>
              <a:rPr sz="1000" b="1">
                <a:solidFill>
                  <a:srgbClr val="0B1220"/>
                </a:solidFill>
                <a:latin typeface="Inter SemiBold"/>
              </a:rPr>
              <a:t>O bloqueio é da Antévia</a:t>
            </a:r>
          </a:p>
        </p:txBody>
      </p:sp>
      <p:sp>
        <p:nvSpPr>
          <p:cNvPr id="50" name="TextBox 49"/>
          <p:cNvSpPr txBox="1"/>
          <p:nvPr/>
        </p:nvSpPr>
        <p:spPr>
          <a:xfrm>
            <a:off x="8302752" y="5879592"/>
            <a:ext cx="3383279" cy="502920"/>
          </a:xfrm>
          <a:prstGeom prst="rect">
            <a:avLst/>
          </a:prstGeom>
          <a:noFill/>
        </p:spPr>
        <p:txBody>
          <a:bodyPr wrap="square" lIns="0" rIns="0" tIns="0" bIns="0">
            <a:spAutoFit/>
          </a:bodyPr>
          <a:lstStyle/>
          <a:p>
            <a:pPr algn="l">
              <a:lnSpc>
                <a:spcPct val="130000"/>
              </a:lnSpc>
            </a:pPr>
            <a:r>
              <a:rPr sz="850" b="0">
                <a:solidFill>
                  <a:srgbClr val="1B2435"/>
                </a:solidFill>
                <a:latin typeface="Inter"/>
              </a:rPr>
              <a:t>Se quem agrega o volume é a plataforma, o ativo passa a ser nosso.</a:t>
            </a:r>
          </a:p>
        </p:txBody>
      </p:sp>
      <p:sp>
        <p:nvSpPr>
          <p:cNvPr id="51" name="TextBox 50"/>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2" name="TextBox 51"/>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04  </a:t>
            </a:r>
            <a:r>
              <a:rPr sz="2300" b="1">
                <a:solidFill>
                  <a:srgbClr val="0B1220"/>
                </a:solidFill>
                <a:latin typeface="Sora"/>
              </a:rPr>
              <a:t>A economia por módulo, fase a fase</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Hoje o aluno de fora desembolsa R$ 2.200 por módulo comprando em cima da hora.</a:t>
            </a:r>
          </a:p>
        </p:txBody>
      </p:sp>
      <p:sp>
        <p:nvSpPr>
          <p:cNvPr id="4" name="Rectangle 3"/>
          <p:cNvSpPr/>
          <p:nvPr/>
        </p:nvSpPr>
        <p:spPr>
          <a:xfrm>
            <a:off x="320040" y="21031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94560"/>
            <a:ext cx="2615184" cy="201168"/>
          </a:xfrm>
          <a:prstGeom prst="rect">
            <a:avLst/>
          </a:prstGeom>
          <a:noFill/>
        </p:spPr>
        <p:txBody>
          <a:bodyPr wrap="square" lIns="0" rIns="0" tIns="0" bIns="0">
            <a:spAutoFit/>
          </a:bodyPr>
          <a:lstStyle/>
          <a:p>
            <a:pPr algn="l"/>
            <a:r>
              <a:rPr sz="900" b="1">
                <a:solidFill>
                  <a:srgbClr val="F2B705"/>
                </a:solidFill>
                <a:latin typeface="Inter SemiBold"/>
              </a:rPr>
              <a:t>Item</a:t>
            </a:r>
          </a:p>
        </p:txBody>
      </p:sp>
      <p:sp>
        <p:nvSpPr>
          <p:cNvPr id="6" name="TextBox 5"/>
          <p:cNvSpPr txBox="1"/>
          <p:nvPr/>
        </p:nvSpPr>
        <p:spPr>
          <a:xfrm>
            <a:off x="3264408" y="2194560"/>
            <a:ext cx="1609344" cy="201168"/>
          </a:xfrm>
          <a:prstGeom prst="rect">
            <a:avLst/>
          </a:prstGeom>
          <a:noFill/>
        </p:spPr>
        <p:txBody>
          <a:bodyPr wrap="square" lIns="0" rIns="0" tIns="0" bIns="0">
            <a:spAutoFit/>
          </a:bodyPr>
          <a:lstStyle/>
          <a:p>
            <a:pPr algn="ctr"/>
            <a:r>
              <a:rPr sz="900" b="1">
                <a:solidFill>
                  <a:srgbClr val="F2B705"/>
                </a:solidFill>
                <a:latin typeface="Inter SemiBold"/>
              </a:rPr>
              <a:t>Hoje</a:t>
            </a:r>
          </a:p>
        </p:txBody>
      </p:sp>
      <p:sp>
        <p:nvSpPr>
          <p:cNvPr id="7" name="TextBox 6"/>
          <p:cNvSpPr txBox="1"/>
          <p:nvPr/>
        </p:nvSpPr>
        <p:spPr>
          <a:xfrm>
            <a:off x="5093208"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1 (ano 1)</a:t>
            </a:r>
          </a:p>
        </p:txBody>
      </p:sp>
      <p:sp>
        <p:nvSpPr>
          <p:cNvPr id="8" name="TextBox 7"/>
          <p:cNvSpPr txBox="1"/>
          <p:nvPr/>
        </p:nvSpPr>
        <p:spPr>
          <a:xfrm>
            <a:off x="7379208"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2 (ano 2)</a:t>
            </a:r>
          </a:p>
        </p:txBody>
      </p:sp>
      <p:sp>
        <p:nvSpPr>
          <p:cNvPr id="9" name="TextBox 8"/>
          <p:cNvSpPr txBox="1"/>
          <p:nvPr/>
        </p:nvSpPr>
        <p:spPr>
          <a:xfrm>
            <a:off x="9665207" y="2194560"/>
            <a:ext cx="2066543" cy="201168"/>
          </a:xfrm>
          <a:prstGeom prst="rect">
            <a:avLst/>
          </a:prstGeom>
          <a:noFill/>
        </p:spPr>
        <p:txBody>
          <a:bodyPr wrap="square" lIns="0" rIns="0" tIns="0" bIns="0">
            <a:spAutoFit/>
          </a:bodyPr>
          <a:lstStyle/>
          <a:p>
            <a:pPr algn="ctr"/>
            <a:r>
              <a:rPr sz="900" b="1">
                <a:solidFill>
                  <a:srgbClr val="F2B705"/>
                </a:solidFill>
                <a:latin typeface="Inter SemiBold"/>
              </a:rPr>
              <a:t>Fase 3 (ano 3)</a:t>
            </a:r>
          </a:p>
        </p:txBody>
      </p:sp>
      <p:sp>
        <p:nvSpPr>
          <p:cNvPr id="10" name="Rectangle 9"/>
          <p:cNvSpPr/>
          <p:nvPr/>
        </p:nvSpPr>
        <p:spPr>
          <a:xfrm>
            <a:off x="320040" y="2450591"/>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9768" y="2551175"/>
            <a:ext cx="2615184" cy="274320"/>
          </a:xfrm>
          <a:prstGeom prst="rect">
            <a:avLst/>
          </a:prstGeom>
          <a:noFill/>
        </p:spPr>
        <p:txBody>
          <a:bodyPr wrap="square" lIns="0" rIns="0" tIns="0" bIns="0">
            <a:spAutoFit/>
          </a:bodyPr>
          <a:lstStyle/>
          <a:p>
            <a:pPr algn="l"/>
            <a:r>
              <a:rPr sz="950" b="0">
                <a:solidFill>
                  <a:srgbClr val="1B2435"/>
                </a:solidFill>
                <a:latin typeface="Inter"/>
              </a:rPr>
              <a:t>Aéreo (ida e volta)</a:t>
            </a:r>
          </a:p>
        </p:txBody>
      </p:sp>
      <p:sp>
        <p:nvSpPr>
          <p:cNvPr id="12" name="TextBox 11"/>
          <p:cNvSpPr txBox="1"/>
          <p:nvPr/>
        </p:nvSpPr>
        <p:spPr>
          <a:xfrm>
            <a:off x="3264408" y="2551175"/>
            <a:ext cx="1609344" cy="274320"/>
          </a:xfrm>
          <a:prstGeom prst="rect">
            <a:avLst/>
          </a:prstGeom>
          <a:noFill/>
        </p:spPr>
        <p:txBody>
          <a:bodyPr wrap="square" lIns="0" rIns="0" tIns="0" bIns="0">
            <a:spAutoFit/>
          </a:bodyPr>
          <a:lstStyle/>
          <a:p>
            <a:pPr algn="ctr"/>
            <a:r>
              <a:rPr sz="950" b="0">
                <a:solidFill>
                  <a:srgbClr val="1B2435"/>
                </a:solidFill>
                <a:latin typeface="Inter"/>
              </a:rPr>
              <a:t>R$ 1.400</a:t>
            </a:r>
          </a:p>
        </p:txBody>
      </p:sp>
      <p:sp>
        <p:nvSpPr>
          <p:cNvPr id="13" name="TextBox 12"/>
          <p:cNvSpPr txBox="1"/>
          <p:nvPr/>
        </p:nvSpPr>
        <p:spPr>
          <a:xfrm>
            <a:off x="5093208" y="2551175"/>
            <a:ext cx="2066543" cy="274320"/>
          </a:xfrm>
          <a:prstGeom prst="rect">
            <a:avLst/>
          </a:prstGeom>
          <a:noFill/>
        </p:spPr>
        <p:txBody>
          <a:bodyPr wrap="square" lIns="0" rIns="0" tIns="0" bIns="0">
            <a:spAutoFit/>
          </a:bodyPr>
          <a:lstStyle/>
          <a:p>
            <a:pPr algn="ctr"/>
            <a:r>
              <a:rPr sz="950" b="0">
                <a:solidFill>
                  <a:srgbClr val="1B2435"/>
                </a:solidFill>
                <a:latin typeface="Inter"/>
              </a:rPr>
              <a:t>R$ 1.150</a:t>
            </a:r>
          </a:p>
        </p:txBody>
      </p:sp>
      <p:sp>
        <p:nvSpPr>
          <p:cNvPr id="14" name="TextBox 13"/>
          <p:cNvSpPr txBox="1"/>
          <p:nvPr/>
        </p:nvSpPr>
        <p:spPr>
          <a:xfrm>
            <a:off x="7379208" y="2551175"/>
            <a:ext cx="2066543" cy="274320"/>
          </a:xfrm>
          <a:prstGeom prst="rect">
            <a:avLst/>
          </a:prstGeom>
          <a:noFill/>
        </p:spPr>
        <p:txBody>
          <a:bodyPr wrap="square" lIns="0" rIns="0" tIns="0" bIns="0">
            <a:spAutoFit/>
          </a:bodyPr>
          <a:lstStyle/>
          <a:p>
            <a:pPr algn="ctr"/>
            <a:r>
              <a:rPr sz="950" b="0">
                <a:solidFill>
                  <a:srgbClr val="1B2435"/>
                </a:solidFill>
                <a:latin typeface="Inter"/>
              </a:rPr>
              <a:t>R$ 1.080</a:t>
            </a:r>
          </a:p>
        </p:txBody>
      </p:sp>
      <p:sp>
        <p:nvSpPr>
          <p:cNvPr id="15" name="TextBox 14"/>
          <p:cNvSpPr txBox="1"/>
          <p:nvPr/>
        </p:nvSpPr>
        <p:spPr>
          <a:xfrm>
            <a:off x="9665207" y="2551175"/>
            <a:ext cx="2066543" cy="274320"/>
          </a:xfrm>
          <a:prstGeom prst="rect">
            <a:avLst/>
          </a:prstGeom>
          <a:noFill/>
        </p:spPr>
        <p:txBody>
          <a:bodyPr wrap="square" lIns="0" rIns="0" tIns="0" bIns="0">
            <a:spAutoFit/>
          </a:bodyPr>
          <a:lstStyle/>
          <a:p>
            <a:pPr algn="ctr"/>
            <a:r>
              <a:rPr sz="950" b="0">
                <a:solidFill>
                  <a:srgbClr val="1B2435"/>
                </a:solidFill>
                <a:latin typeface="Inter"/>
              </a:rPr>
              <a:t>R$ 1.020</a:t>
            </a:r>
          </a:p>
        </p:txBody>
      </p:sp>
      <p:sp>
        <p:nvSpPr>
          <p:cNvPr id="16" name="Rectangle 15"/>
          <p:cNvSpPr/>
          <p:nvPr/>
        </p:nvSpPr>
        <p:spPr>
          <a:xfrm>
            <a:off x="320040" y="2871215"/>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2971799"/>
            <a:ext cx="2615184" cy="274320"/>
          </a:xfrm>
          <a:prstGeom prst="rect">
            <a:avLst/>
          </a:prstGeom>
          <a:noFill/>
        </p:spPr>
        <p:txBody>
          <a:bodyPr wrap="square" lIns="0" rIns="0" tIns="0" bIns="0">
            <a:spAutoFit/>
          </a:bodyPr>
          <a:lstStyle/>
          <a:p>
            <a:pPr algn="l"/>
            <a:r>
              <a:rPr sz="950" b="0">
                <a:solidFill>
                  <a:srgbClr val="1B2435"/>
                </a:solidFill>
                <a:latin typeface="Inter"/>
              </a:rPr>
              <a:t>Hotel (2 diárias)</a:t>
            </a:r>
          </a:p>
        </p:txBody>
      </p:sp>
      <p:sp>
        <p:nvSpPr>
          <p:cNvPr id="18" name="TextBox 17"/>
          <p:cNvSpPr txBox="1"/>
          <p:nvPr/>
        </p:nvSpPr>
        <p:spPr>
          <a:xfrm>
            <a:off x="3264408" y="2971799"/>
            <a:ext cx="1609344" cy="274320"/>
          </a:xfrm>
          <a:prstGeom prst="rect">
            <a:avLst/>
          </a:prstGeom>
          <a:noFill/>
        </p:spPr>
        <p:txBody>
          <a:bodyPr wrap="square" lIns="0" rIns="0" tIns="0" bIns="0">
            <a:spAutoFit/>
          </a:bodyPr>
          <a:lstStyle/>
          <a:p>
            <a:pPr algn="ctr"/>
            <a:r>
              <a:rPr sz="950" b="0">
                <a:solidFill>
                  <a:srgbClr val="1B2435"/>
                </a:solidFill>
                <a:latin typeface="Inter"/>
              </a:rPr>
              <a:t>R$ 600</a:t>
            </a:r>
          </a:p>
        </p:txBody>
      </p:sp>
      <p:sp>
        <p:nvSpPr>
          <p:cNvPr id="19" name="TextBox 18"/>
          <p:cNvSpPr txBox="1"/>
          <p:nvPr/>
        </p:nvSpPr>
        <p:spPr>
          <a:xfrm>
            <a:off x="5093208" y="2971799"/>
            <a:ext cx="2066543" cy="274320"/>
          </a:xfrm>
          <a:prstGeom prst="rect">
            <a:avLst/>
          </a:prstGeom>
          <a:noFill/>
        </p:spPr>
        <p:txBody>
          <a:bodyPr wrap="square" lIns="0" rIns="0" tIns="0" bIns="0">
            <a:spAutoFit/>
          </a:bodyPr>
          <a:lstStyle/>
          <a:p>
            <a:pPr algn="ctr"/>
            <a:r>
              <a:rPr sz="950" b="0">
                <a:solidFill>
                  <a:srgbClr val="1B2435"/>
                </a:solidFill>
                <a:latin typeface="Inter"/>
              </a:rPr>
              <a:t>R$ 570</a:t>
            </a:r>
          </a:p>
        </p:txBody>
      </p:sp>
      <p:sp>
        <p:nvSpPr>
          <p:cNvPr id="20" name="TextBox 19"/>
          <p:cNvSpPr txBox="1"/>
          <p:nvPr/>
        </p:nvSpPr>
        <p:spPr>
          <a:xfrm>
            <a:off x="7379208" y="2971799"/>
            <a:ext cx="2066543" cy="274320"/>
          </a:xfrm>
          <a:prstGeom prst="rect">
            <a:avLst/>
          </a:prstGeom>
          <a:noFill/>
        </p:spPr>
        <p:txBody>
          <a:bodyPr wrap="square" lIns="0" rIns="0" tIns="0" bIns="0">
            <a:spAutoFit/>
          </a:bodyPr>
          <a:lstStyle/>
          <a:p>
            <a:pPr algn="ctr"/>
            <a:r>
              <a:rPr sz="950" b="0">
                <a:solidFill>
                  <a:srgbClr val="1B2435"/>
                </a:solidFill>
                <a:latin typeface="Inter"/>
              </a:rPr>
              <a:t>R$ 530</a:t>
            </a:r>
          </a:p>
        </p:txBody>
      </p:sp>
      <p:sp>
        <p:nvSpPr>
          <p:cNvPr id="21" name="TextBox 20"/>
          <p:cNvSpPr txBox="1"/>
          <p:nvPr/>
        </p:nvSpPr>
        <p:spPr>
          <a:xfrm>
            <a:off x="9665207" y="2971799"/>
            <a:ext cx="2066543" cy="274320"/>
          </a:xfrm>
          <a:prstGeom prst="rect">
            <a:avLst/>
          </a:prstGeom>
          <a:noFill/>
        </p:spPr>
        <p:txBody>
          <a:bodyPr wrap="square" lIns="0" rIns="0" tIns="0" bIns="0">
            <a:spAutoFit/>
          </a:bodyPr>
          <a:lstStyle/>
          <a:p>
            <a:pPr algn="ctr"/>
            <a:r>
              <a:rPr sz="950" b="0">
                <a:solidFill>
                  <a:srgbClr val="1B2435"/>
                </a:solidFill>
                <a:latin typeface="Inter"/>
              </a:rPr>
              <a:t>R$ 500</a:t>
            </a:r>
          </a:p>
        </p:txBody>
      </p:sp>
      <p:sp>
        <p:nvSpPr>
          <p:cNvPr id="22" name="Rectangle 21"/>
          <p:cNvSpPr/>
          <p:nvPr/>
        </p:nvSpPr>
        <p:spPr>
          <a:xfrm>
            <a:off x="320040" y="3291839"/>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 y="3392423"/>
            <a:ext cx="2615184" cy="274320"/>
          </a:xfrm>
          <a:prstGeom prst="rect">
            <a:avLst/>
          </a:prstGeom>
          <a:noFill/>
        </p:spPr>
        <p:txBody>
          <a:bodyPr wrap="square" lIns="0" rIns="0" tIns="0" bIns="0">
            <a:spAutoFit/>
          </a:bodyPr>
          <a:lstStyle/>
          <a:p>
            <a:pPr algn="l"/>
            <a:r>
              <a:rPr sz="950" b="0">
                <a:solidFill>
                  <a:srgbClr val="1B2435"/>
                </a:solidFill>
                <a:latin typeface="Inter"/>
              </a:rPr>
              <a:t>Traslado</a:t>
            </a:r>
          </a:p>
        </p:txBody>
      </p:sp>
      <p:sp>
        <p:nvSpPr>
          <p:cNvPr id="24" name="TextBox 23"/>
          <p:cNvSpPr txBox="1"/>
          <p:nvPr/>
        </p:nvSpPr>
        <p:spPr>
          <a:xfrm>
            <a:off x="3264408" y="3392423"/>
            <a:ext cx="1609344" cy="274320"/>
          </a:xfrm>
          <a:prstGeom prst="rect">
            <a:avLst/>
          </a:prstGeom>
          <a:noFill/>
        </p:spPr>
        <p:txBody>
          <a:bodyPr wrap="square" lIns="0" rIns="0" tIns="0" bIns="0">
            <a:spAutoFit/>
          </a:bodyPr>
          <a:lstStyle/>
          <a:p>
            <a:pPr algn="ctr"/>
            <a:r>
              <a:rPr sz="950" b="0">
                <a:solidFill>
                  <a:srgbClr val="1B2435"/>
                </a:solidFill>
                <a:latin typeface="Inter"/>
              </a:rPr>
              <a:t>R$ 200</a:t>
            </a:r>
          </a:p>
        </p:txBody>
      </p:sp>
      <p:sp>
        <p:nvSpPr>
          <p:cNvPr id="25" name="TextBox 24"/>
          <p:cNvSpPr txBox="1"/>
          <p:nvPr/>
        </p:nvSpPr>
        <p:spPr>
          <a:xfrm>
            <a:off x="5093208" y="3392423"/>
            <a:ext cx="2066543" cy="274320"/>
          </a:xfrm>
          <a:prstGeom prst="rect">
            <a:avLst/>
          </a:prstGeom>
          <a:noFill/>
        </p:spPr>
        <p:txBody>
          <a:bodyPr wrap="square" lIns="0" rIns="0" tIns="0" bIns="0">
            <a:spAutoFit/>
          </a:bodyPr>
          <a:lstStyle/>
          <a:p>
            <a:pPr algn="ctr"/>
            <a:r>
              <a:rPr sz="950" b="0">
                <a:solidFill>
                  <a:srgbClr val="1B2435"/>
                </a:solidFill>
                <a:latin typeface="Inter"/>
              </a:rPr>
              <a:t>R$ 200</a:t>
            </a:r>
          </a:p>
        </p:txBody>
      </p:sp>
      <p:sp>
        <p:nvSpPr>
          <p:cNvPr id="26" name="TextBox 25"/>
          <p:cNvSpPr txBox="1"/>
          <p:nvPr/>
        </p:nvSpPr>
        <p:spPr>
          <a:xfrm>
            <a:off x="7379208" y="3392423"/>
            <a:ext cx="2066543" cy="274320"/>
          </a:xfrm>
          <a:prstGeom prst="rect">
            <a:avLst/>
          </a:prstGeom>
          <a:noFill/>
        </p:spPr>
        <p:txBody>
          <a:bodyPr wrap="square" lIns="0" rIns="0" tIns="0" bIns="0">
            <a:spAutoFit/>
          </a:bodyPr>
          <a:lstStyle/>
          <a:p>
            <a:pPr algn="ctr"/>
            <a:r>
              <a:rPr sz="950" b="0">
                <a:solidFill>
                  <a:srgbClr val="1B2435"/>
                </a:solidFill>
                <a:latin typeface="Inter"/>
              </a:rPr>
              <a:t>R$ 190</a:t>
            </a:r>
          </a:p>
        </p:txBody>
      </p:sp>
      <p:sp>
        <p:nvSpPr>
          <p:cNvPr id="27" name="TextBox 26"/>
          <p:cNvSpPr txBox="1"/>
          <p:nvPr/>
        </p:nvSpPr>
        <p:spPr>
          <a:xfrm>
            <a:off x="9665207" y="3392423"/>
            <a:ext cx="2066543" cy="274320"/>
          </a:xfrm>
          <a:prstGeom prst="rect">
            <a:avLst/>
          </a:prstGeom>
          <a:noFill/>
        </p:spPr>
        <p:txBody>
          <a:bodyPr wrap="square" lIns="0" rIns="0" tIns="0" bIns="0">
            <a:spAutoFit/>
          </a:bodyPr>
          <a:lstStyle/>
          <a:p>
            <a:pPr algn="ctr"/>
            <a:r>
              <a:rPr sz="950" b="0">
                <a:solidFill>
                  <a:srgbClr val="1B2435"/>
                </a:solidFill>
                <a:latin typeface="Inter"/>
              </a:rPr>
              <a:t>R$ 180</a:t>
            </a:r>
          </a:p>
        </p:txBody>
      </p:sp>
      <p:sp>
        <p:nvSpPr>
          <p:cNvPr id="28" name="Rectangle 27"/>
          <p:cNvSpPr/>
          <p:nvPr/>
        </p:nvSpPr>
        <p:spPr>
          <a:xfrm>
            <a:off x="320040" y="3712463"/>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 y="3813048"/>
            <a:ext cx="2615184" cy="274320"/>
          </a:xfrm>
          <a:prstGeom prst="rect">
            <a:avLst/>
          </a:prstGeom>
          <a:noFill/>
        </p:spPr>
        <p:txBody>
          <a:bodyPr wrap="square" lIns="0" rIns="0" tIns="0" bIns="0">
            <a:spAutoFit/>
          </a:bodyPr>
          <a:lstStyle/>
          <a:p>
            <a:pPr algn="l"/>
            <a:r>
              <a:rPr sz="950" b="1">
                <a:solidFill>
                  <a:srgbClr val="0B1220"/>
                </a:solidFill>
                <a:latin typeface="Inter SemiBold"/>
              </a:rPr>
              <a:t>Subtotal logístico</a:t>
            </a:r>
          </a:p>
        </p:txBody>
      </p:sp>
      <p:sp>
        <p:nvSpPr>
          <p:cNvPr id="30" name="TextBox 29"/>
          <p:cNvSpPr txBox="1"/>
          <p:nvPr/>
        </p:nvSpPr>
        <p:spPr>
          <a:xfrm>
            <a:off x="3264408" y="3813048"/>
            <a:ext cx="1609344" cy="274320"/>
          </a:xfrm>
          <a:prstGeom prst="rect">
            <a:avLst/>
          </a:prstGeom>
          <a:noFill/>
        </p:spPr>
        <p:txBody>
          <a:bodyPr wrap="square" lIns="0" rIns="0" tIns="0" bIns="0">
            <a:spAutoFit/>
          </a:bodyPr>
          <a:lstStyle/>
          <a:p>
            <a:pPr algn="ctr"/>
            <a:r>
              <a:rPr sz="950" b="1">
                <a:solidFill>
                  <a:srgbClr val="0B1220"/>
                </a:solidFill>
                <a:latin typeface="Inter SemiBold"/>
              </a:rPr>
              <a:t>R$ 2.200</a:t>
            </a:r>
          </a:p>
        </p:txBody>
      </p:sp>
      <p:sp>
        <p:nvSpPr>
          <p:cNvPr id="31" name="TextBox 30"/>
          <p:cNvSpPr txBox="1"/>
          <p:nvPr/>
        </p:nvSpPr>
        <p:spPr>
          <a:xfrm>
            <a:off x="5093208"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R$ 1.920</a:t>
            </a:r>
          </a:p>
        </p:txBody>
      </p:sp>
      <p:sp>
        <p:nvSpPr>
          <p:cNvPr id="32" name="TextBox 31"/>
          <p:cNvSpPr txBox="1"/>
          <p:nvPr/>
        </p:nvSpPr>
        <p:spPr>
          <a:xfrm>
            <a:off x="7379208"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R$ 1.800</a:t>
            </a:r>
          </a:p>
        </p:txBody>
      </p:sp>
      <p:sp>
        <p:nvSpPr>
          <p:cNvPr id="33" name="TextBox 32"/>
          <p:cNvSpPr txBox="1"/>
          <p:nvPr/>
        </p:nvSpPr>
        <p:spPr>
          <a:xfrm>
            <a:off x="9665207" y="3813048"/>
            <a:ext cx="2066543" cy="274320"/>
          </a:xfrm>
          <a:prstGeom prst="rect">
            <a:avLst/>
          </a:prstGeom>
          <a:noFill/>
        </p:spPr>
        <p:txBody>
          <a:bodyPr wrap="square" lIns="0" rIns="0" tIns="0" bIns="0">
            <a:spAutoFit/>
          </a:bodyPr>
          <a:lstStyle/>
          <a:p>
            <a:pPr algn="ctr"/>
            <a:r>
              <a:rPr sz="950" b="1">
                <a:solidFill>
                  <a:srgbClr val="0B1220"/>
                </a:solidFill>
                <a:latin typeface="Inter SemiBold"/>
              </a:rPr>
              <a:t>R$ 1.700</a:t>
            </a:r>
          </a:p>
        </p:txBody>
      </p:sp>
      <p:sp>
        <p:nvSpPr>
          <p:cNvPr id="34" name="Rectangle 33"/>
          <p:cNvSpPr/>
          <p:nvPr/>
        </p:nvSpPr>
        <p:spPr>
          <a:xfrm>
            <a:off x="320040" y="4133087"/>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29768" y="4233672"/>
            <a:ext cx="2615184" cy="274320"/>
          </a:xfrm>
          <a:prstGeom prst="rect">
            <a:avLst/>
          </a:prstGeom>
          <a:noFill/>
        </p:spPr>
        <p:txBody>
          <a:bodyPr wrap="square" lIns="0" rIns="0" tIns="0" bIns="0">
            <a:spAutoFit/>
          </a:bodyPr>
          <a:lstStyle/>
          <a:p>
            <a:pPr algn="l"/>
            <a:r>
              <a:rPr sz="950" b="0">
                <a:solidFill>
                  <a:srgbClr val="1B2435"/>
                </a:solidFill>
                <a:latin typeface="Inter"/>
              </a:rPr>
              <a:t>Taxa de serviço Antévia</a:t>
            </a:r>
          </a:p>
        </p:txBody>
      </p:sp>
      <p:sp>
        <p:nvSpPr>
          <p:cNvPr id="36" name="TextBox 35"/>
          <p:cNvSpPr txBox="1"/>
          <p:nvPr/>
        </p:nvSpPr>
        <p:spPr>
          <a:xfrm>
            <a:off x="3264408" y="4233672"/>
            <a:ext cx="1609344" cy="274320"/>
          </a:xfrm>
          <a:prstGeom prst="rect">
            <a:avLst/>
          </a:prstGeom>
          <a:noFill/>
        </p:spPr>
        <p:txBody>
          <a:bodyPr wrap="square" lIns="0" rIns="0" tIns="0" bIns="0">
            <a:spAutoFit/>
          </a:bodyPr>
          <a:lstStyle/>
          <a:p>
            <a:pPr algn="ctr"/>
            <a:r>
              <a:rPr sz="950" b="0">
                <a:solidFill>
                  <a:srgbClr val="1B2435"/>
                </a:solidFill>
                <a:latin typeface="Inter"/>
              </a:rPr>
              <a:t>—</a:t>
            </a:r>
          </a:p>
        </p:txBody>
      </p:sp>
      <p:sp>
        <p:nvSpPr>
          <p:cNvPr id="37" name="TextBox 36"/>
          <p:cNvSpPr txBox="1"/>
          <p:nvPr/>
        </p:nvSpPr>
        <p:spPr>
          <a:xfrm>
            <a:off x="5093208"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38" name="TextBox 37"/>
          <p:cNvSpPr txBox="1"/>
          <p:nvPr/>
        </p:nvSpPr>
        <p:spPr>
          <a:xfrm>
            <a:off x="7379208"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39" name="TextBox 38"/>
          <p:cNvSpPr txBox="1"/>
          <p:nvPr/>
        </p:nvSpPr>
        <p:spPr>
          <a:xfrm>
            <a:off x="9665207" y="4233672"/>
            <a:ext cx="2066543" cy="274320"/>
          </a:xfrm>
          <a:prstGeom prst="rect">
            <a:avLst/>
          </a:prstGeom>
          <a:noFill/>
        </p:spPr>
        <p:txBody>
          <a:bodyPr wrap="square" lIns="0" rIns="0" tIns="0" bIns="0">
            <a:spAutoFit/>
          </a:bodyPr>
          <a:lstStyle/>
          <a:p>
            <a:pPr algn="ctr"/>
            <a:r>
              <a:rPr sz="950" b="0">
                <a:solidFill>
                  <a:srgbClr val="1B2435"/>
                </a:solidFill>
                <a:latin typeface="Inter"/>
              </a:rPr>
              <a:t>R$ 100</a:t>
            </a:r>
          </a:p>
        </p:txBody>
      </p:sp>
      <p:sp>
        <p:nvSpPr>
          <p:cNvPr id="40" name="Rectangle 39"/>
          <p:cNvSpPr/>
          <p:nvPr/>
        </p:nvSpPr>
        <p:spPr>
          <a:xfrm>
            <a:off x="320040" y="4553712"/>
            <a:ext cx="11521440" cy="420624"/>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29768" y="4654296"/>
            <a:ext cx="2615184" cy="274320"/>
          </a:xfrm>
          <a:prstGeom prst="rect">
            <a:avLst/>
          </a:prstGeom>
          <a:noFill/>
        </p:spPr>
        <p:txBody>
          <a:bodyPr wrap="square" lIns="0" rIns="0" tIns="0" bIns="0">
            <a:spAutoFit/>
          </a:bodyPr>
          <a:lstStyle/>
          <a:p>
            <a:pPr algn="l"/>
            <a:r>
              <a:rPr sz="950" b="0">
                <a:solidFill>
                  <a:srgbClr val="0B1220"/>
                </a:solidFill>
                <a:latin typeface="Inter"/>
              </a:rPr>
              <a:t>Economia líquida do aluno</a:t>
            </a:r>
          </a:p>
        </p:txBody>
      </p:sp>
      <p:sp>
        <p:nvSpPr>
          <p:cNvPr id="42" name="TextBox 41"/>
          <p:cNvSpPr txBox="1"/>
          <p:nvPr/>
        </p:nvSpPr>
        <p:spPr>
          <a:xfrm>
            <a:off x="3264408" y="4654296"/>
            <a:ext cx="1609344" cy="274320"/>
          </a:xfrm>
          <a:prstGeom prst="rect">
            <a:avLst/>
          </a:prstGeom>
          <a:noFill/>
        </p:spPr>
        <p:txBody>
          <a:bodyPr wrap="square" lIns="0" rIns="0" tIns="0" bIns="0">
            <a:spAutoFit/>
          </a:bodyPr>
          <a:lstStyle/>
          <a:p>
            <a:pPr algn="ctr"/>
            <a:r>
              <a:rPr sz="950" b="0">
                <a:solidFill>
                  <a:srgbClr val="0B1220"/>
                </a:solidFill>
                <a:latin typeface="Inter"/>
              </a:rPr>
              <a:t>—</a:t>
            </a:r>
          </a:p>
        </p:txBody>
      </p:sp>
      <p:sp>
        <p:nvSpPr>
          <p:cNvPr id="43" name="TextBox 42"/>
          <p:cNvSpPr txBox="1"/>
          <p:nvPr/>
        </p:nvSpPr>
        <p:spPr>
          <a:xfrm>
            <a:off x="5093208" y="4654296"/>
            <a:ext cx="2066543" cy="274320"/>
          </a:xfrm>
          <a:prstGeom prst="rect">
            <a:avLst/>
          </a:prstGeom>
          <a:noFill/>
        </p:spPr>
        <p:txBody>
          <a:bodyPr wrap="square" lIns="0" rIns="0" tIns="0" bIns="0">
            <a:spAutoFit/>
          </a:bodyPr>
          <a:lstStyle/>
          <a:p>
            <a:pPr algn="ctr"/>
            <a:r>
              <a:rPr sz="950" b="0">
                <a:solidFill>
                  <a:srgbClr val="0B1220"/>
                </a:solidFill>
                <a:latin typeface="Inter"/>
              </a:rPr>
              <a:t>R$ 180</a:t>
            </a:r>
          </a:p>
        </p:txBody>
      </p:sp>
      <p:sp>
        <p:nvSpPr>
          <p:cNvPr id="44" name="TextBox 43"/>
          <p:cNvSpPr txBox="1"/>
          <p:nvPr/>
        </p:nvSpPr>
        <p:spPr>
          <a:xfrm>
            <a:off x="7379208" y="4654296"/>
            <a:ext cx="2066543" cy="274320"/>
          </a:xfrm>
          <a:prstGeom prst="rect">
            <a:avLst/>
          </a:prstGeom>
          <a:noFill/>
        </p:spPr>
        <p:txBody>
          <a:bodyPr wrap="square" lIns="0" rIns="0" tIns="0" bIns="0">
            <a:spAutoFit/>
          </a:bodyPr>
          <a:lstStyle/>
          <a:p>
            <a:pPr algn="ctr"/>
            <a:r>
              <a:rPr sz="950" b="0">
                <a:solidFill>
                  <a:srgbClr val="0B1220"/>
                </a:solidFill>
                <a:latin typeface="Inter"/>
              </a:rPr>
              <a:t>R$ 300</a:t>
            </a:r>
          </a:p>
        </p:txBody>
      </p:sp>
      <p:sp>
        <p:nvSpPr>
          <p:cNvPr id="45" name="TextBox 44"/>
          <p:cNvSpPr txBox="1"/>
          <p:nvPr/>
        </p:nvSpPr>
        <p:spPr>
          <a:xfrm>
            <a:off x="9665207" y="4654296"/>
            <a:ext cx="2066543" cy="274320"/>
          </a:xfrm>
          <a:prstGeom prst="rect">
            <a:avLst/>
          </a:prstGeom>
          <a:noFill/>
        </p:spPr>
        <p:txBody>
          <a:bodyPr wrap="square" lIns="0" rIns="0" tIns="0" bIns="0">
            <a:spAutoFit/>
          </a:bodyPr>
          <a:lstStyle/>
          <a:p>
            <a:pPr algn="ctr"/>
            <a:r>
              <a:rPr sz="950" b="0">
                <a:solidFill>
                  <a:srgbClr val="0B1220"/>
                </a:solidFill>
                <a:latin typeface="Inter"/>
              </a:rPr>
              <a:t>R$ 400</a:t>
            </a:r>
          </a:p>
        </p:txBody>
      </p:sp>
      <p:sp>
        <p:nvSpPr>
          <p:cNvPr id="46" name="Rectangle 45"/>
          <p:cNvSpPr/>
          <p:nvPr/>
        </p:nvSpPr>
        <p:spPr>
          <a:xfrm>
            <a:off x="320040" y="4974336"/>
            <a:ext cx="11521440" cy="420624"/>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29768" y="5074920"/>
            <a:ext cx="2615184" cy="274320"/>
          </a:xfrm>
          <a:prstGeom prst="rect">
            <a:avLst/>
          </a:prstGeom>
          <a:noFill/>
        </p:spPr>
        <p:txBody>
          <a:bodyPr wrap="square" lIns="0" rIns="0" tIns="0" bIns="0">
            <a:spAutoFit/>
          </a:bodyPr>
          <a:lstStyle/>
          <a:p>
            <a:pPr algn="l"/>
            <a:r>
              <a:rPr sz="950" b="0">
                <a:solidFill>
                  <a:srgbClr val="1B2435"/>
                </a:solidFill>
                <a:latin typeface="Inter"/>
              </a:rPr>
              <a:t>Redução no desembolso</a:t>
            </a:r>
          </a:p>
        </p:txBody>
      </p:sp>
      <p:sp>
        <p:nvSpPr>
          <p:cNvPr id="48" name="TextBox 47"/>
          <p:cNvSpPr txBox="1"/>
          <p:nvPr/>
        </p:nvSpPr>
        <p:spPr>
          <a:xfrm>
            <a:off x="3264408" y="5074920"/>
            <a:ext cx="1609344" cy="274320"/>
          </a:xfrm>
          <a:prstGeom prst="rect">
            <a:avLst/>
          </a:prstGeom>
          <a:noFill/>
        </p:spPr>
        <p:txBody>
          <a:bodyPr wrap="square" lIns="0" rIns="0" tIns="0" bIns="0">
            <a:spAutoFit/>
          </a:bodyPr>
          <a:lstStyle/>
          <a:p>
            <a:pPr algn="ctr"/>
            <a:r>
              <a:rPr sz="950" b="0">
                <a:solidFill>
                  <a:srgbClr val="1B2435"/>
                </a:solidFill>
                <a:latin typeface="Inter"/>
              </a:rPr>
              <a:t>—</a:t>
            </a:r>
          </a:p>
        </p:txBody>
      </p:sp>
      <p:sp>
        <p:nvSpPr>
          <p:cNvPr id="49" name="TextBox 48"/>
          <p:cNvSpPr txBox="1"/>
          <p:nvPr/>
        </p:nvSpPr>
        <p:spPr>
          <a:xfrm>
            <a:off x="5093208" y="5074920"/>
            <a:ext cx="2066543" cy="274320"/>
          </a:xfrm>
          <a:prstGeom prst="rect">
            <a:avLst/>
          </a:prstGeom>
          <a:noFill/>
        </p:spPr>
        <p:txBody>
          <a:bodyPr wrap="square" lIns="0" rIns="0" tIns="0" bIns="0">
            <a:spAutoFit/>
          </a:bodyPr>
          <a:lstStyle/>
          <a:p>
            <a:pPr algn="ctr"/>
            <a:r>
              <a:rPr sz="950" b="0">
                <a:solidFill>
                  <a:srgbClr val="1B2435"/>
                </a:solidFill>
                <a:latin typeface="Inter"/>
              </a:rPr>
              <a:t>8,2%</a:t>
            </a:r>
          </a:p>
        </p:txBody>
      </p:sp>
      <p:sp>
        <p:nvSpPr>
          <p:cNvPr id="50" name="TextBox 49"/>
          <p:cNvSpPr txBox="1"/>
          <p:nvPr/>
        </p:nvSpPr>
        <p:spPr>
          <a:xfrm>
            <a:off x="7379208" y="5074920"/>
            <a:ext cx="2066543" cy="274320"/>
          </a:xfrm>
          <a:prstGeom prst="rect">
            <a:avLst/>
          </a:prstGeom>
          <a:noFill/>
        </p:spPr>
        <p:txBody>
          <a:bodyPr wrap="square" lIns="0" rIns="0" tIns="0" bIns="0">
            <a:spAutoFit/>
          </a:bodyPr>
          <a:lstStyle/>
          <a:p>
            <a:pPr algn="ctr"/>
            <a:r>
              <a:rPr sz="950" b="0">
                <a:solidFill>
                  <a:srgbClr val="1B2435"/>
                </a:solidFill>
                <a:latin typeface="Inter"/>
              </a:rPr>
              <a:t>13,6%</a:t>
            </a:r>
          </a:p>
        </p:txBody>
      </p:sp>
      <p:sp>
        <p:nvSpPr>
          <p:cNvPr id="51" name="TextBox 50"/>
          <p:cNvSpPr txBox="1"/>
          <p:nvPr/>
        </p:nvSpPr>
        <p:spPr>
          <a:xfrm>
            <a:off x="9665207" y="5074920"/>
            <a:ext cx="2066543" cy="274320"/>
          </a:xfrm>
          <a:prstGeom prst="rect">
            <a:avLst/>
          </a:prstGeom>
          <a:noFill/>
        </p:spPr>
        <p:txBody>
          <a:bodyPr wrap="square" lIns="0" rIns="0" tIns="0" bIns="0">
            <a:spAutoFit/>
          </a:bodyPr>
          <a:lstStyle/>
          <a:p>
            <a:pPr algn="ctr"/>
            <a:r>
              <a:rPr sz="950" b="0">
                <a:solidFill>
                  <a:srgbClr val="1B2435"/>
                </a:solidFill>
                <a:latin typeface="Inter"/>
              </a:rPr>
              <a:t>18,2%</a:t>
            </a:r>
          </a:p>
        </p:txBody>
      </p:sp>
      <p:sp>
        <p:nvSpPr>
          <p:cNvPr id="52" name="Rounded Rectangle 51"/>
          <p:cNvSpPr/>
          <p:nvPr/>
        </p:nvSpPr>
        <p:spPr>
          <a:xfrm>
            <a:off x="320040" y="534924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594360" y="5513832"/>
            <a:ext cx="10972800" cy="457200"/>
          </a:xfrm>
          <a:prstGeom prst="rect">
            <a:avLst/>
          </a:prstGeom>
          <a:noFill/>
        </p:spPr>
        <p:txBody>
          <a:bodyPr wrap="square" lIns="0" rIns="0" tIns="0" bIns="0">
            <a:spAutoFit/>
          </a:bodyPr>
          <a:lstStyle/>
          <a:p>
            <a:pPr algn="l">
              <a:lnSpc>
                <a:spcPct val="130000"/>
              </a:lnSpc>
            </a:pPr>
            <a:r>
              <a:rPr sz="1100" b="0">
                <a:solidFill>
                  <a:srgbClr val="E6E8F0"/>
                </a:solidFill>
                <a:latin typeface="Inter"/>
              </a:rPr>
              <a:t>A meta de −15% a −25% da Sprint 1 só é atingida na fase 3. No ano 1 o aluno economiza 8,2% — e isso precisa ser dito a ele.</a:t>
            </a:r>
          </a:p>
        </p:txBody>
      </p:sp>
      <p:sp>
        <p:nvSpPr>
          <p:cNvPr id="54" name="TextBox 53"/>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5" name="TextBox 54"/>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05  </a:t>
            </a:r>
            <a:r>
              <a:rPr sz="2300" b="1">
                <a:solidFill>
                  <a:srgbClr val="0B1220"/>
                </a:solidFill>
                <a:latin typeface="Sora"/>
              </a:rPr>
              <a:t>Como o mercado cobra hoje</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Nenhuma alternativa cobre a operação inteira de um programa. O aluno paga pouco em taxa e muito em tarifa.</a:t>
            </a:r>
          </a:p>
        </p:txBody>
      </p:sp>
      <p:sp>
        <p:nvSpPr>
          <p:cNvPr id="4" name="Rectangle 3"/>
          <p:cNvSpPr/>
          <p:nvPr/>
        </p:nvSpPr>
        <p:spPr>
          <a:xfrm>
            <a:off x="320040" y="205740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29768" y="2148840"/>
            <a:ext cx="2295144" cy="201168"/>
          </a:xfrm>
          <a:prstGeom prst="rect">
            <a:avLst/>
          </a:prstGeom>
          <a:noFill/>
        </p:spPr>
        <p:txBody>
          <a:bodyPr wrap="square" lIns="0" rIns="0" tIns="0" bIns="0">
            <a:spAutoFit/>
          </a:bodyPr>
          <a:lstStyle/>
          <a:p>
            <a:pPr algn="l"/>
            <a:r>
              <a:rPr sz="900" b="1">
                <a:solidFill>
                  <a:srgbClr val="F2B705"/>
                </a:solidFill>
                <a:latin typeface="Inter SemiBold"/>
              </a:rPr>
              <a:t>Alternativa</a:t>
            </a:r>
          </a:p>
        </p:txBody>
      </p:sp>
      <p:sp>
        <p:nvSpPr>
          <p:cNvPr id="6" name="TextBox 5"/>
          <p:cNvSpPr txBox="1"/>
          <p:nvPr/>
        </p:nvSpPr>
        <p:spPr>
          <a:xfrm>
            <a:off x="2944368" y="2148840"/>
            <a:ext cx="2569463" cy="201168"/>
          </a:xfrm>
          <a:prstGeom prst="rect">
            <a:avLst/>
          </a:prstGeom>
          <a:noFill/>
        </p:spPr>
        <p:txBody>
          <a:bodyPr wrap="square" lIns="0" rIns="0" tIns="0" bIns="0">
            <a:spAutoFit/>
          </a:bodyPr>
          <a:lstStyle/>
          <a:p>
            <a:pPr algn="l"/>
            <a:r>
              <a:rPr sz="900" b="1">
                <a:solidFill>
                  <a:srgbClr val="F2B705"/>
                </a:solidFill>
                <a:latin typeface="Inter SemiBold"/>
              </a:rPr>
              <a:t>Modelo de cobrança</a:t>
            </a:r>
          </a:p>
        </p:txBody>
      </p:sp>
      <p:sp>
        <p:nvSpPr>
          <p:cNvPr id="7" name="TextBox 6"/>
          <p:cNvSpPr txBox="1"/>
          <p:nvPr/>
        </p:nvSpPr>
        <p:spPr>
          <a:xfrm>
            <a:off x="5733288" y="2148840"/>
            <a:ext cx="2020824" cy="201168"/>
          </a:xfrm>
          <a:prstGeom prst="rect">
            <a:avLst/>
          </a:prstGeom>
          <a:noFill/>
        </p:spPr>
        <p:txBody>
          <a:bodyPr wrap="square" lIns="0" rIns="0" tIns="0" bIns="0">
            <a:spAutoFit/>
          </a:bodyPr>
          <a:lstStyle/>
          <a:p>
            <a:pPr algn="ctr"/>
            <a:r>
              <a:rPr sz="900" b="1">
                <a:solidFill>
                  <a:srgbClr val="F2B705"/>
                </a:solidFill>
                <a:latin typeface="Inter SemiBold"/>
              </a:rPr>
              <a:t>Faixa de referência</a:t>
            </a:r>
          </a:p>
        </p:txBody>
      </p:sp>
      <p:sp>
        <p:nvSpPr>
          <p:cNvPr id="8" name="TextBox 7"/>
          <p:cNvSpPr txBox="1"/>
          <p:nvPr/>
        </p:nvSpPr>
        <p:spPr>
          <a:xfrm>
            <a:off x="7973568" y="2148840"/>
            <a:ext cx="3758183" cy="201168"/>
          </a:xfrm>
          <a:prstGeom prst="rect">
            <a:avLst/>
          </a:prstGeom>
          <a:noFill/>
        </p:spPr>
        <p:txBody>
          <a:bodyPr wrap="square" lIns="0" rIns="0" tIns="0" bIns="0">
            <a:spAutoFit/>
          </a:bodyPr>
          <a:lstStyle/>
          <a:p>
            <a:pPr algn="l"/>
            <a:r>
              <a:rPr sz="900" b="1">
                <a:solidFill>
                  <a:srgbClr val="F2B705"/>
                </a:solidFill>
                <a:latin typeface="Inter SemiBold"/>
              </a:rPr>
              <a:t>Por que não resolve</a:t>
            </a:r>
          </a:p>
        </p:txBody>
      </p:sp>
      <p:sp>
        <p:nvSpPr>
          <p:cNvPr id="9" name="Rectangle 8"/>
          <p:cNvSpPr/>
          <p:nvPr/>
        </p:nvSpPr>
        <p:spPr>
          <a:xfrm>
            <a:off x="320040" y="2404872"/>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505456"/>
            <a:ext cx="2295144" cy="329184"/>
          </a:xfrm>
          <a:prstGeom prst="rect">
            <a:avLst/>
          </a:prstGeom>
          <a:noFill/>
        </p:spPr>
        <p:txBody>
          <a:bodyPr wrap="square" lIns="0" rIns="0" tIns="0" bIns="0">
            <a:spAutoFit/>
          </a:bodyPr>
          <a:lstStyle/>
          <a:p>
            <a:pPr algn="l"/>
            <a:r>
              <a:rPr sz="950" b="0">
                <a:solidFill>
                  <a:srgbClr val="1B2435"/>
                </a:solidFill>
                <a:latin typeface="Inter"/>
              </a:rPr>
              <a:t>Apps das cias</a:t>
            </a:r>
          </a:p>
        </p:txBody>
      </p:sp>
      <p:sp>
        <p:nvSpPr>
          <p:cNvPr id="11" name="TextBox 10"/>
          <p:cNvSpPr txBox="1"/>
          <p:nvPr/>
        </p:nvSpPr>
        <p:spPr>
          <a:xfrm>
            <a:off x="2944368" y="2505456"/>
            <a:ext cx="2569463" cy="329184"/>
          </a:xfrm>
          <a:prstGeom prst="rect">
            <a:avLst/>
          </a:prstGeom>
          <a:noFill/>
        </p:spPr>
        <p:txBody>
          <a:bodyPr wrap="square" lIns="0" rIns="0" tIns="0" bIns="0">
            <a:spAutoFit/>
          </a:bodyPr>
          <a:lstStyle/>
          <a:p>
            <a:pPr algn="l"/>
            <a:r>
              <a:rPr sz="950" b="0">
                <a:solidFill>
                  <a:srgbClr val="1B2435"/>
                </a:solidFill>
                <a:latin typeface="Inter"/>
              </a:rPr>
              <a:t>Sem taxa; margem no tarifário</a:t>
            </a:r>
          </a:p>
        </p:txBody>
      </p:sp>
      <p:sp>
        <p:nvSpPr>
          <p:cNvPr id="12" name="TextBox 11"/>
          <p:cNvSpPr txBox="1"/>
          <p:nvPr/>
        </p:nvSpPr>
        <p:spPr>
          <a:xfrm>
            <a:off x="5733288" y="2505456"/>
            <a:ext cx="2020824" cy="329184"/>
          </a:xfrm>
          <a:prstGeom prst="rect">
            <a:avLst/>
          </a:prstGeom>
          <a:noFill/>
        </p:spPr>
        <p:txBody>
          <a:bodyPr wrap="square" lIns="0" rIns="0" tIns="0" bIns="0">
            <a:spAutoFit/>
          </a:bodyPr>
          <a:lstStyle/>
          <a:p>
            <a:pPr algn="ctr"/>
            <a:r>
              <a:rPr sz="950" b="0">
                <a:solidFill>
                  <a:srgbClr val="1B2435"/>
                </a:solidFill>
                <a:latin typeface="Inter"/>
              </a:rPr>
              <a:t>R$ 0</a:t>
            </a:r>
          </a:p>
        </p:txBody>
      </p:sp>
      <p:sp>
        <p:nvSpPr>
          <p:cNvPr id="13" name="TextBox 12"/>
          <p:cNvSpPr txBox="1"/>
          <p:nvPr/>
        </p:nvSpPr>
        <p:spPr>
          <a:xfrm>
            <a:off x="7973568" y="2505456"/>
            <a:ext cx="3758183" cy="329184"/>
          </a:xfrm>
          <a:prstGeom prst="rect">
            <a:avLst/>
          </a:prstGeom>
          <a:noFill/>
        </p:spPr>
        <p:txBody>
          <a:bodyPr wrap="square" lIns="0" rIns="0" tIns="0" bIns="0">
            <a:spAutoFit/>
          </a:bodyPr>
          <a:lstStyle/>
          <a:p>
            <a:pPr algn="l"/>
            <a:r>
              <a:rPr sz="950" b="0">
                <a:solidFill>
                  <a:srgbClr val="1B2435"/>
                </a:solidFill>
                <a:latin typeface="Inter"/>
              </a:rPr>
              <a:t>Resolve um trecho, ignora o calendário</a:t>
            </a:r>
          </a:p>
        </p:txBody>
      </p:sp>
      <p:sp>
        <p:nvSpPr>
          <p:cNvPr id="14" name="Rectangle 13"/>
          <p:cNvSpPr/>
          <p:nvPr/>
        </p:nvSpPr>
        <p:spPr>
          <a:xfrm>
            <a:off x="320040" y="2880360"/>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9768" y="2980944"/>
            <a:ext cx="2295144" cy="329184"/>
          </a:xfrm>
          <a:prstGeom prst="rect">
            <a:avLst/>
          </a:prstGeom>
          <a:noFill/>
        </p:spPr>
        <p:txBody>
          <a:bodyPr wrap="square" lIns="0" rIns="0" tIns="0" bIns="0">
            <a:spAutoFit/>
          </a:bodyPr>
          <a:lstStyle/>
          <a:p>
            <a:pPr algn="l"/>
            <a:r>
              <a:rPr sz="950" b="0">
                <a:solidFill>
                  <a:srgbClr val="1B2435"/>
                </a:solidFill>
                <a:latin typeface="Inter"/>
              </a:rPr>
              <a:t>OTAs (Decolar, CVC)</a:t>
            </a:r>
          </a:p>
        </p:txBody>
      </p:sp>
      <p:sp>
        <p:nvSpPr>
          <p:cNvPr id="16" name="TextBox 15"/>
          <p:cNvSpPr txBox="1"/>
          <p:nvPr/>
        </p:nvSpPr>
        <p:spPr>
          <a:xfrm>
            <a:off x="2944368" y="2980944"/>
            <a:ext cx="2569463" cy="329184"/>
          </a:xfrm>
          <a:prstGeom prst="rect">
            <a:avLst/>
          </a:prstGeom>
          <a:noFill/>
        </p:spPr>
        <p:txBody>
          <a:bodyPr wrap="square" lIns="0" rIns="0" tIns="0" bIns="0">
            <a:spAutoFit/>
          </a:bodyPr>
          <a:lstStyle/>
          <a:p>
            <a:pPr algn="l"/>
            <a:r>
              <a:rPr sz="950" b="0">
                <a:solidFill>
                  <a:srgbClr val="1B2435"/>
                </a:solidFill>
                <a:latin typeface="Inter"/>
              </a:rPr>
              <a:t>Conveniência + comissão</a:t>
            </a:r>
          </a:p>
        </p:txBody>
      </p:sp>
      <p:sp>
        <p:nvSpPr>
          <p:cNvPr id="17" name="TextBox 16"/>
          <p:cNvSpPr txBox="1"/>
          <p:nvPr/>
        </p:nvSpPr>
        <p:spPr>
          <a:xfrm>
            <a:off x="5733288" y="2980944"/>
            <a:ext cx="2020824" cy="329184"/>
          </a:xfrm>
          <a:prstGeom prst="rect">
            <a:avLst/>
          </a:prstGeom>
          <a:noFill/>
        </p:spPr>
        <p:txBody>
          <a:bodyPr wrap="square" lIns="0" rIns="0" tIns="0" bIns="0">
            <a:spAutoFit/>
          </a:bodyPr>
          <a:lstStyle/>
          <a:p>
            <a:pPr algn="ctr"/>
            <a:r>
              <a:rPr sz="950" b="0">
                <a:solidFill>
                  <a:srgbClr val="1B2435"/>
                </a:solidFill>
                <a:latin typeface="Inter"/>
              </a:rPr>
              <a:t>R$ 0–80 / emissão</a:t>
            </a:r>
          </a:p>
        </p:txBody>
      </p:sp>
      <p:sp>
        <p:nvSpPr>
          <p:cNvPr id="18" name="TextBox 17"/>
          <p:cNvSpPr txBox="1"/>
          <p:nvPr/>
        </p:nvSpPr>
        <p:spPr>
          <a:xfrm>
            <a:off x="7973568" y="2980944"/>
            <a:ext cx="3758183" cy="329184"/>
          </a:xfrm>
          <a:prstGeom prst="rect">
            <a:avLst/>
          </a:prstGeom>
          <a:noFill/>
        </p:spPr>
        <p:txBody>
          <a:bodyPr wrap="square" lIns="0" rIns="0" tIns="0" bIns="0">
            <a:spAutoFit/>
          </a:bodyPr>
          <a:lstStyle/>
          <a:p>
            <a:pPr algn="l"/>
            <a:r>
              <a:rPr sz="950" b="0">
                <a:solidFill>
                  <a:srgbClr val="1B2435"/>
                </a:solidFill>
                <a:latin typeface="Inter"/>
              </a:rPr>
              <a:t>Viagem a viagem, sob demanda</a:t>
            </a:r>
          </a:p>
        </p:txBody>
      </p:sp>
      <p:sp>
        <p:nvSpPr>
          <p:cNvPr id="19" name="Rectangle 18"/>
          <p:cNvSpPr/>
          <p:nvPr/>
        </p:nvSpPr>
        <p:spPr>
          <a:xfrm>
            <a:off x="320040" y="3355848"/>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29768" y="3456432"/>
            <a:ext cx="2295144" cy="329184"/>
          </a:xfrm>
          <a:prstGeom prst="rect">
            <a:avLst/>
          </a:prstGeom>
          <a:noFill/>
        </p:spPr>
        <p:txBody>
          <a:bodyPr wrap="square" lIns="0" rIns="0" tIns="0" bIns="0">
            <a:spAutoFit/>
          </a:bodyPr>
          <a:lstStyle/>
          <a:p>
            <a:pPr algn="l"/>
            <a:r>
              <a:rPr sz="950" b="0">
                <a:solidFill>
                  <a:srgbClr val="1B2435"/>
                </a:solidFill>
                <a:latin typeface="Inter"/>
              </a:rPr>
              <a:t>Agência tradicional</a:t>
            </a:r>
          </a:p>
        </p:txBody>
      </p:sp>
      <p:sp>
        <p:nvSpPr>
          <p:cNvPr id="21" name="TextBox 20"/>
          <p:cNvSpPr txBox="1"/>
          <p:nvPr/>
        </p:nvSpPr>
        <p:spPr>
          <a:xfrm>
            <a:off x="2944368" y="3456432"/>
            <a:ext cx="2569463" cy="329184"/>
          </a:xfrm>
          <a:prstGeom prst="rect">
            <a:avLst/>
          </a:prstGeom>
          <a:noFill/>
        </p:spPr>
        <p:txBody>
          <a:bodyPr wrap="square" lIns="0" rIns="0" tIns="0" bIns="0">
            <a:spAutoFit/>
          </a:bodyPr>
          <a:lstStyle/>
          <a:p>
            <a:pPr algn="l"/>
            <a:r>
              <a:rPr sz="950" b="0">
                <a:solidFill>
                  <a:srgbClr val="1B2435"/>
                </a:solidFill>
                <a:latin typeface="Inter"/>
              </a:rPr>
              <a:t>Fee por emissão</a:t>
            </a:r>
          </a:p>
        </p:txBody>
      </p:sp>
      <p:sp>
        <p:nvSpPr>
          <p:cNvPr id="22" name="TextBox 21"/>
          <p:cNvSpPr txBox="1"/>
          <p:nvPr/>
        </p:nvSpPr>
        <p:spPr>
          <a:xfrm>
            <a:off x="5733288" y="3456432"/>
            <a:ext cx="2020824" cy="329184"/>
          </a:xfrm>
          <a:prstGeom prst="rect">
            <a:avLst/>
          </a:prstGeom>
          <a:noFill/>
        </p:spPr>
        <p:txBody>
          <a:bodyPr wrap="square" lIns="0" rIns="0" tIns="0" bIns="0">
            <a:spAutoFit/>
          </a:bodyPr>
          <a:lstStyle/>
          <a:p>
            <a:pPr algn="ctr"/>
            <a:r>
              <a:rPr sz="950" b="0">
                <a:solidFill>
                  <a:srgbClr val="1B2435"/>
                </a:solidFill>
                <a:latin typeface="Inter"/>
              </a:rPr>
              <a:t>R$ 40–120 / bilhete</a:t>
            </a:r>
          </a:p>
        </p:txBody>
      </p:sp>
      <p:sp>
        <p:nvSpPr>
          <p:cNvPr id="23" name="TextBox 22"/>
          <p:cNvSpPr txBox="1"/>
          <p:nvPr/>
        </p:nvSpPr>
        <p:spPr>
          <a:xfrm>
            <a:off x="7973568" y="3456432"/>
            <a:ext cx="3758183" cy="329184"/>
          </a:xfrm>
          <a:prstGeom prst="rect">
            <a:avLst/>
          </a:prstGeom>
          <a:noFill/>
        </p:spPr>
        <p:txBody>
          <a:bodyPr wrap="square" lIns="0" rIns="0" tIns="0" bIns="0">
            <a:spAutoFit/>
          </a:bodyPr>
          <a:lstStyle/>
          <a:p>
            <a:pPr algn="l"/>
            <a:r>
              <a:rPr sz="950" b="0">
                <a:solidFill>
                  <a:srgbClr val="1B2435"/>
                </a:solidFill>
                <a:latin typeface="Inter"/>
              </a:rPr>
              <a:t>Cotação reativa, sem integração</a:t>
            </a:r>
          </a:p>
        </p:txBody>
      </p:sp>
      <p:sp>
        <p:nvSpPr>
          <p:cNvPr id="24" name="Rectangle 23"/>
          <p:cNvSpPr/>
          <p:nvPr/>
        </p:nvSpPr>
        <p:spPr>
          <a:xfrm>
            <a:off x="320040" y="3831335"/>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29768" y="3931920"/>
            <a:ext cx="2295144" cy="329184"/>
          </a:xfrm>
          <a:prstGeom prst="rect">
            <a:avLst/>
          </a:prstGeom>
          <a:noFill/>
        </p:spPr>
        <p:txBody>
          <a:bodyPr wrap="square" lIns="0" rIns="0" tIns="0" bIns="0">
            <a:spAutoFit/>
          </a:bodyPr>
          <a:lstStyle/>
          <a:p>
            <a:pPr algn="l"/>
            <a:r>
              <a:rPr sz="950" b="0">
                <a:solidFill>
                  <a:srgbClr val="1B2435"/>
                </a:solidFill>
                <a:latin typeface="Inter"/>
              </a:rPr>
              <a:t>Plataformas B2B</a:t>
            </a:r>
          </a:p>
        </p:txBody>
      </p:sp>
      <p:sp>
        <p:nvSpPr>
          <p:cNvPr id="26" name="TextBox 25"/>
          <p:cNvSpPr txBox="1"/>
          <p:nvPr/>
        </p:nvSpPr>
        <p:spPr>
          <a:xfrm>
            <a:off x="2944368" y="3931920"/>
            <a:ext cx="2569463" cy="329184"/>
          </a:xfrm>
          <a:prstGeom prst="rect">
            <a:avLst/>
          </a:prstGeom>
          <a:noFill/>
        </p:spPr>
        <p:txBody>
          <a:bodyPr wrap="square" lIns="0" rIns="0" tIns="0" bIns="0">
            <a:spAutoFit/>
          </a:bodyPr>
          <a:lstStyle/>
          <a:p>
            <a:pPr algn="l"/>
            <a:r>
              <a:rPr sz="950" b="0">
                <a:solidFill>
                  <a:srgbClr val="1B2435"/>
                </a:solidFill>
                <a:latin typeface="Inter"/>
              </a:rPr>
              <a:t>SaaS + fee por transação</a:t>
            </a:r>
          </a:p>
        </p:txBody>
      </p:sp>
      <p:sp>
        <p:nvSpPr>
          <p:cNvPr id="27" name="TextBox 26"/>
          <p:cNvSpPr txBox="1"/>
          <p:nvPr/>
        </p:nvSpPr>
        <p:spPr>
          <a:xfrm>
            <a:off x="5733288" y="3931920"/>
            <a:ext cx="2020824" cy="329184"/>
          </a:xfrm>
          <a:prstGeom prst="rect">
            <a:avLst/>
          </a:prstGeom>
          <a:noFill/>
        </p:spPr>
        <p:txBody>
          <a:bodyPr wrap="square" lIns="0" rIns="0" tIns="0" bIns="0">
            <a:spAutoFit/>
          </a:bodyPr>
          <a:lstStyle/>
          <a:p>
            <a:pPr algn="ctr"/>
            <a:r>
              <a:rPr sz="950" b="0">
                <a:solidFill>
                  <a:srgbClr val="1B2435"/>
                </a:solidFill>
                <a:latin typeface="Inter"/>
              </a:rPr>
              <a:t>R$ 20–60 / usuário/mês</a:t>
            </a:r>
          </a:p>
        </p:txBody>
      </p:sp>
      <p:sp>
        <p:nvSpPr>
          <p:cNvPr id="28" name="TextBox 27"/>
          <p:cNvSpPr txBox="1"/>
          <p:nvPr/>
        </p:nvSpPr>
        <p:spPr>
          <a:xfrm>
            <a:off x="7973568" y="3931920"/>
            <a:ext cx="3758183" cy="329184"/>
          </a:xfrm>
          <a:prstGeom prst="rect">
            <a:avLst/>
          </a:prstGeom>
          <a:noFill/>
        </p:spPr>
        <p:txBody>
          <a:bodyPr wrap="square" lIns="0" rIns="0" tIns="0" bIns="0">
            <a:spAutoFit/>
          </a:bodyPr>
          <a:lstStyle/>
          <a:p>
            <a:pPr algn="l"/>
            <a:r>
              <a:rPr sz="950" b="0">
                <a:solidFill>
                  <a:srgbClr val="1B2435"/>
                </a:solidFill>
                <a:latin typeface="Inter"/>
              </a:rPr>
              <a:t>Exige CNPJ — o aluno PF fica fora</a:t>
            </a:r>
          </a:p>
        </p:txBody>
      </p:sp>
      <p:sp>
        <p:nvSpPr>
          <p:cNvPr id="29" name="Rectangle 28"/>
          <p:cNvSpPr/>
          <p:nvPr/>
        </p:nvSpPr>
        <p:spPr>
          <a:xfrm>
            <a:off x="320040" y="4306823"/>
            <a:ext cx="11521440" cy="475488"/>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9768" y="4407407"/>
            <a:ext cx="2295144" cy="329184"/>
          </a:xfrm>
          <a:prstGeom prst="rect">
            <a:avLst/>
          </a:prstGeom>
          <a:noFill/>
        </p:spPr>
        <p:txBody>
          <a:bodyPr wrap="square" lIns="0" rIns="0" tIns="0" bIns="0">
            <a:spAutoFit/>
          </a:bodyPr>
          <a:lstStyle/>
          <a:p>
            <a:pPr algn="l"/>
            <a:r>
              <a:rPr sz="950" b="0">
                <a:solidFill>
                  <a:srgbClr val="1B2435"/>
                </a:solidFill>
                <a:latin typeface="Inter"/>
              </a:rPr>
              <a:t>Concierge premium</a:t>
            </a:r>
          </a:p>
        </p:txBody>
      </p:sp>
      <p:sp>
        <p:nvSpPr>
          <p:cNvPr id="31" name="TextBox 30"/>
          <p:cNvSpPr txBox="1"/>
          <p:nvPr/>
        </p:nvSpPr>
        <p:spPr>
          <a:xfrm>
            <a:off x="2944368" y="4407407"/>
            <a:ext cx="2569463" cy="329184"/>
          </a:xfrm>
          <a:prstGeom prst="rect">
            <a:avLst/>
          </a:prstGeom>
          <a:noFill/>
        </p:spPr>
        <p:txBody>
          <a:bodyPr wrap="square" lIns="0" rIns="0" tIns="0" bIns="0">
            <a:spAutoFit/>
          </a:bodyPr>
          <a:lstStyle/>
          <a:p>
            <a:pPr algn="l"/>
            <a:r>
              <a:rPr sz="950" b="0">
                <a:solidFill>
                  <a:srgbClr val="1B2435"/>
                </a:solidFill>
                <a:latin typeface="Inter"/>
              </a:rPr>
              <a:t>Mensalidade ou % da viagem</a:t>
            </a:r>
          </a:p>
        </p:txBody>
      </p:sp>
      <p:sp>
        <p:nvSpPr>
          <p:cNvPr id="32" name="TextBox 31"/>
          <p:cNvSpPr txBox="1"/>
          <p:nvPr/>
        </p:nvSpPr>
        <p:spPr>
          <a:xfrm>
            <a:off x="5733288" y="4407407"/>
            <a:ext cx="2020824" cy="329184"/>
          </a:xfrm>
          <a:prstGeom prst="rect">
            <a:avLst/>
          </a:prstGeom>
          <a:noFill/>
        </p:spPr>
        <p:txBody>
          <a:bodyPr wrap="square" lIns="0" rIns="0" tIns="0" bIns="0">
            <a:spAutoFit/>
          </a:bodyPr>
          <a:lstStyle/>
          <a:p>
            <a:pPr algn="ctr"/>
            <a:r>
              <a:rPr sz="950" b="0">
                <a:solidFill>
                  <a:srgbClr val="1B2435"/>
                </a:solidFill>
                <a:latin typeface="Inter"/>
              </a:rPr>
              <a:t>5–15% da viagem</a:t>
            </a:r>
          </a:p>
        </p:txBody>
      </p:sp>
      <p:sp>
        <p:nvSpPr>
          <p:cNvPr id="33" name="TextBox 32"/>
          <p:cNvSpPr txBox="1"/>
          <p:nvPr/>
        </p:nvSpPr>
        <p:spPr>
          <a:xfrm>
            <a:off x="7973568" y="4407407"/>
            <a:ext cx="3758183" cy="329184"/>
          </a:xfrm>
          <a:prstGeom prst="rect">
            <a:avLst/>
          </a:prstGeom>
          <a:noFill/>
        </p:spPr>
        <p:txBody>
          <a:bodyPr wrap="square" lIns="0" rIns="0" tIns="0" bIns="0">
            <a:spAutoFit/>
          </a:bodyPr>
          <a:lstStyle/>
          <a:p>
            <a:pPr algn="l"/>
            <a:r>
              <a:rPr sz="950" b="0">
                <a:solidFill>
                  <a:srgbClr val="1B2435"/>
                </a:solidFill>
                <a:latin typeface="Inter"/>
              </a:rPr>
              <a:t>Não existe recorte para aluno-executivo</a:t>
            </a:r>
          </a:p>
        </p:txBody>
      </p:sp>
      <p:sp>
        <p:nvSpPr>
          <p:cNvPr id="34" name="Rounded Rectangle 33"/>
          <p:cNvSpPr/>
          <p:nvPr/>
        </p:nvSpPr>
        <p:spPr>
          <a:xfrm>
            <a:off x="320040" y="5074920"/>
            <a:ext cx="11521440" cy="868680"/>
          </a:xfrm>
          <a:prstGeom prst="roundRect">
            <a:avLst>
              <a:gd name="adj" fmla="val 5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4360" y="5285232"/>
            <a:ext cx="10972800" cy="502920"/>
          </a:xfrm>
          <a:prstGeom prst="rect">
            <a:avLst/>
          </a:prstGeom>
          <a:noFill/>
        </p:spPr>
        <p:txBody>
          <a:bodyPr wrap="square" lIns="0" rIns="0" tIns="0" bIns="0">
            <a:spAutoFit/>
          </a:bodyPr>
          <a:lstStyle/>
          <a:p>
            <a:pPr algn="l"/>
            <a:r>
              <a:rPr sz="1300" b="1">
                <a:solidFill>
                  <a:srgbClr val="0B1220"/>
                </a:solidFill>
                <a:latin typeface="Sora"/>
              </a:rPr>
              <a:t>O custo real da decisão tardia é invisível para o aluno: não aparece como taxa, aparece como preço da passagem.</a:t>
            </a:r>
          </a:p>
        </p:txBody>
      </p:sp>
      <p:sp>
        <p:nvSpPr>
          <p:cNvPr id="36" name="TextBox 35"/>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37" name="TextBox 36"/>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06  </a:t>
            </a:r>
            <a:r>
              <a:rPr sz="2300" b="1">
                <a:solidFill>
                  <a:srgbClr val="0B1220"/>
                </a:solidFill>
                <a:latin typeface="Sora"/>
              </a:rPr>
              <a:t>O preço se paga — mas a folga cresce com o tempo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A taxa foi ancorada na economia entregue, não em disposição a pagar declarada. Só que a economia muda por fase.</a:t>
            </a:r>
          </a:p>
        </p:txBody>
      </p:sp>
      <p:sp>
        <p:nvSpPr>
          <p:cNvPr id="4" name="Rounded Rectangle 3"/>
          <p:cNvSpPr/>
          <p:nvPr/>
        </p:nvSpPr>
        <p:spPr>
          <a:xfrm>
            <a:off x="32004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59152"/>
            <a:ext cx="2395728" cy="640080"/>
          </a:xfrm>
          <a:prstGeom prst="rect">
            <a:avLst/>
          </a:prstGeom>
          <a:noFill/>
        </p:spPr>
        <p:txBody>
          <a:bodyPr wrap="square" lIns="0" rIns="0" tIns="0" bIns="0">
            <a:spAutoFit/>
          </a:bodyPr>
          <a:lstStyle/>
          <a:p>
            <a:pPr algn="l"/>
            <a:r>
              <a:rPr sz="3000" b="1">
                <a:solidFill>
                  <a:srgbClr val="B85042"/>
                </a:solidFill>
                <a:latin typeface="Sora"/>
              </a:rPr>
              <a:t>1,8×</a:t>
            </a:r>
          </a:p>
        </p:txBody>
      </p:sp>
      <p:sp>
        <p:nvSpPr>
          <p:cNvPr id="6" name="TextBox 5"/>
          <p:cNvSpPr txBox="1"/>
          <p:nvPr/>
        </p:nvSpPr>
        <p:spPr>
          <a:xfrm>
            <a:off x="50292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1</a:t>
            </a:r>
          </a:p>
        </p:txBody>
      </p:sp>
      <p:sp>
        <p:nvSpPr>
          <p:cNvPr id="7" name="TextBox 6"/>
          <p:cNvSpPr txBox="1"/>
          <p:nvPr/>
        </p:nvSpPr>
        <p:spPr>
          <a:xfrm>
            <a:off x="502920"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Paga R$ 100, recebe R$ 180. O serviço se paga, com folga apertada.</a:t>
            </a:r>
          </a:p>
        </p:txBody>
      </p:sp>
      <p:sp>
        <p:nvSpPr>
          <p:cNvPr id="8" name="Rounded Rectangle 7"/>
          <p:cNvSpPr/>
          <p:nvPr/>
        </p:nvSpPr>
        <p:spPr>
          <a:xfrm>
            <a:off x="3246120"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29000" y="2359152"/>
            <a:ext cx="2395728" cy="640080"/>
          </a:xfrm>
          <a:prstGeom prst="rect">
            <a:avLst/>
          </a:prstGeom>
          <a:noFill/>
        </p:spPr>
        <p:txBody>
          <a:bodyPr wrap="square" lIns="0" rIns="0" tIns="0" bIns="0">
            <a:spAutoFit/>
          </a:bodyPr>
          <a:lstStyle/>
          <a:p>
            <a:pPr algn="l"/>
            <a:r>
              <a:rPr sz="3000" b="1">
                <a:solidFill>
                  <a:srgbClr val="F2B705"/>
                </a:solidFill>
                <a:latin typeface="Sora"/>
              </a:rPr>
              <a:t>3,0×</a:t>
            </a:r>
          </a:p>
        </p:txBody>
      </p:sp>
      <p:sp>
        <p:nvSpPr>
          <p:cNvPr id="10" name="TextBox 9"/>
          <p:cNvSpPr txBox="1"/>
          <p:nvPr/>
        </p:nvSpPr>
        <p:spPr>
          <a:xfrm>
            <a:off x="3429000"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2</a:t>
            </a:r>
          </a:p>
        </p:txBody>
      </p:sp>
      <p:sp>
        <p:nvSpPr>
          <p:cNvPr id="11" name="TextBox 10"/>
          <p:cNvSpPr txBox="1"/>
          <p:nvPr/>
        </p:nvSpPr>
        <p:spPr>
          <a:xfrm>
            <a:off x="3429000"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Bloqueios pontuais elevam a economia para R$ 300 líquidos.</a:t>
            </a:r>
          </a:p>
        </p:txBody>
      </p:sp>
      <p:sp>
        <p:nvSpPr>
          <p:cNvPr id="12" name="Rounded Rectangle 11"/>
          <p:cNvSpPr/>
          <p:nvPr/>
        </p:nvSpPr>
        <p:spPr>
          <a:xfrm>
            <a:off x="618134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2359152"/>
            <a:ext cx="2395728" cy="640080"/>
          </a:xfrm>
          <a:prstGeom prst="rect">
            <a:avLst/>
          </a:prstGeom>
          <a:noFill/>
        </p:spPr>
        <p:txBody>
          <a:bodyPr wrap="square" lIns="0" rIns="0" tIns="0" bIns="0">
            <a:spAutoFit/>
          </a:bodyPr>
          <a:lstStyle/>
          <a:p>
            <a:pPr algn="l"/>
            <a:r>
              <a:rPr sz="3000" b="1">
                <a:solidFill>
                  <a:srgbClr val="2D6A4F"/>
                </a:solidFill>
                <a:latin typeface="Sora"/>
              </a:rPr>
              <a:t>4,0×</a:t>
            </a:r>
          </a:p>
        </p:txBody>
      </p:sp>
      <p:sp>
        <p:nvSpPr>
          <p:cNvPr id="14" name="TextBox 13"/>
          <p:cNvSpPr txBox="1"/>
          <p:nvPr/>
        </p:nvSpPr>
        <p:spPr>
          <a:xfrm>
            <a:off x="636422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Retorno no ano 3</a:t>
            </a:r>
          </a:p>
        </p:txBody>
      </p:sp>
      <p:sp>
        <p:nvSpPr>
          <p:cNvPr id="15" name="TextBox 14"/>
          <p:cNvSpPr txBox="1"/>
          <p:nvPr/>
        </p:nvSpPr>
        <p:spPr>
          <a:xfrm>
            <a:off x="6364224"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Convênio próprio: paga R$ 100, recebe R$ 400 de volta.</a:t>
            </a:r>
          </a:p>
        </p:txBody>
      </p:sp>
      <p:sp>
        <p:nvSpPr>
          <p:cNvPr id="16" name="Rounded Rectangle 15"/>
          <p:cNvSpPr/>
          <p:nvPr/>
        </p:nvSpPr>
        <p:spPr>
          <a:xfrm>
            <a:off x="9107424" y="2103120"/>
            <a:ext cx="2761488" cy="2606040"/>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90304" y="2359152"/>
            <a:ext cx="2395728" cy="640080"/>
          </a:xfrm>
          <a:prstGeom prst="rect">
            <a:avLst/>
          </a:prstGeom>
          <a:noFill/>
        </p:spPr>
        <p:txBody>
          <a:bodyPr wrap="square" lIns="0" rIns="0" tIns="0" bIns="0">
            <a:spAutoFit/>
          </a:bodyPr>
          <a:lstStyle/>
          <a:p>
            <a:pPr algn="l"/>
            <a:r>
              <a:rPr sz="2400" b="1">
                <a:solidFill>
                  <a:srgbClr val="F2B705"/>
                </a:solidFill>
                <a:latin typeface="Sora"/>
              </a:rPr>
              <a:t>63% → 48%</a:t>
            </a:r>
          </a:p>
        </p:txBody>
      </p:sp>
      <p:sp>
        <p:nvSpPr>
          <p:cNvPr id="18" name="TextBox 17"/>
          <p:cNvSpPr txBox="1"/>
          <p:nvPr/>
        </p:nvSpPr>
        <p:spPr>
          <a:xfrm>
            <a:off x="9290304" y="3127248"/>
            <a:ext cx="2395728" cy="502920"/>
          </a:xfrm>
          <a:prstGeom prst="rect">
            <a:avLst/>
          </a:prstGeom>
          <a:noFill/>
        </p:spPr>
        <p:txBody>
          <a:bodyPr wrap="square" lIns="0" rIns="0" tIns="0" bIns="0">
            <a:spAutoFit/>
          </a:bodyPr>
          <a:lstStyle/>
          <a:p>
            <a:pPr algn="l"/>
            <a:r>
              <a:rPr sz="1150" b="1">
                <a:solidFill>
                  <a:srgbClr val="0B1220"/>
                </a:solidFill>
                <a:latin typeface="Inter SemiBold"/>
              </a:rPr>
              <a:t>Peso da taxa</a:t>
            </a:r>
          </a:p>
        </p:txBody>
      </p:sp>
      <p:sp>
        <p:nvSpPr>
          <p:cNvPr id="19" name="TextBox 18"/>
          <p:cNvSpPr txBox="1"/>
          <p:nvPr/>
        </p:nvSpPr>
        <p:spPr>
          <a:xfrm>
            <a:off x="9290304" y="3584448"/>
            <a:ext cx="2395728" cy="1014983"/>
          </a:xfrm>
          <a:prstGeom prst="rect">
            <a:avLst/>
          </a:prstGeom>
          <a:noFill/>
        </p:spPr>
        <p:txBody>
          <a:bodyPr wrap="square" lIns="0" rIns="0" tIns="0" bIns="0">
            <a:spAutoFit/>
          </a:bodyPr>
          <a:lstStyle/>
          <a:p>
            <a:pPr algn="l">
              <a:lnSpc>
                <a:spcPct val="130000"/>
              </a:lnSpc>
            </a:pPr>
            <a:r>
              <a:rPr sz="950" b="0">
                <a:solidFill>
                  <a:srgbClr val="1B2435"/>
                </a:solidFill>
                <a:latin typeface="Inter"/>
              </a:rPr>
              <a:t>A dependência do bolso do aluno cai conforme a comissão cresce.</a:t>
            </a:r>
          </a:p>
        </p:txBody>
      </p:sp>
      <p:sp>
        <p:nvSpPr>
          <p:cNvPr id="20" name="Rounded Rectangle 19"/>
          <p:cNvSpPr/>
          <p:nvPr/>
        </p:nvSpPr>
        <p:spPr>
          <a:xfrm>
            <a:off x="320040" y="5120640"/>
            <a:ext cx="11521440" cy="77724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5303520"/>
            <a:ext cx="10972800" cy="502920"/>
          </a:xfrm>
          <a:prstGeom prst="rect">
            <a:avLst/>
          </a:prstGeom>
          <a:noFill/>
        </p:spPr>
        <p:txBody>
          <a:bodyPr wrap="square" lIns="0" rIns="0" tIns="0" bIns="0">
            <a:spAutoFit/>
          </a:bodyPr>
          <a:lstStyle/>
          <a:p>
            <a:pPr algn="l">
              <a:lnSpc>
                <a:spcPct val="130000"/>
              </a:lnSpc>
            </a:pPr>
            <a:r>
              <a:rPr sz="1100" b="0">
                <a:solidFill>
                  <a:srgbClr val="E6E8F0"/>
                </a:solidFill>
                <a:latin typeface="Inter"/>
              </a:rPr>
              <a:t>Consequência comercial: no primeiro ano a venda não se sustenta só no desconto. Apoia-se no tempo devolvido e em não orquestrar três plataformas por módulo.</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07  </a:t>
            </a:r>
            <a:r>
              <a:rPr sz="2300" b="1">
                <a:solidFill>
                  <a:srgbClr val="0B1220"/>
                </a:solidFill>
                <a:latin typeface="Sora"/>
              </a:rPr>
              <a:t>Potencial de mercado</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Construído de baixo para cima a partir da base do IBGE usada na Sprint 1.</a:t>
            </a:r>
          </a:p>
        </p:txBody>
      </p:sp>
      <p:sp>
        <p:nvSpPr>
          <p:cNvPr id="4" name="Rounded Rectangle 3"/>
          <p:cNvSpPr/>
          <p:nvPr/>
        </p:nvSpPr>
        <p:spPr>
          <a:xfrm>
            <a:off x="320040" y="1938528"/>
            <a:ext cx="11521440" cy="896112"/>
          </a:xfrm>
          <a:prstGeom prst="roundRect">
            <a:avLst>
              <a:gd name="adj" fmla="val 6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76072" y="2066544"/>
            <a:ext cx="2834640" cy="274320"/>
          </a:xfrm>
          <a:prstGeom prst="rect">
            <a:avLst/>
          </a:prstGeom>
          <a:noFill/>
        </p:spPr>
        <p:txBody>
          <a:bodyPr wrap="square" lIns="0" rIns="0" tIns="0" bIns="0">
            <a:spAutoFit/>
          </a:bodyPr>
          <a:lstStyle/>
          <a:p>
            <a:pPr algn="l"/>
            <a:r>
              <a:rPr sz="1550" b="1">
                <a:solidFill>
                  <a:srgbClr val="0B1220"/>
                </a:solidFill>
                <a:latin typeface="Sora"/>
              </a:rPr>
              <a:t>Quantos existem</a:t>
            </a:r>
          </a:p>
        </p:txBody>
      </p:sp>
      <p:sp>
        <p:nvSpPr>
          <p:cNvPr id="6" name="TextBox 5"/>
          <p:cNvSpPr txBox="1"/>
          <p:nvPr/>
        </p:nvSpPr>
        <p:spPr>
          <a:xfrm>
            <a:off x="576072" y="2432304"/>
            <a:ext cx="2834640" cy="237744"/>
          </a:xfrm>
          <a:prstGeom prst="rect">
            <a:avLst/>
          </a:prstGeom>
          <a:noFill/>
        </p:spPr>
        <p:txBody>
          <a:bodyPr wrap="square" lIns="0" rIns="0" tIns="0" bIns="0">
            <a:spAutoFit/>
          </a:bodyPr>
          <a:lstStyle/>
          <a:p>
            <a:pPr algn="l"/>
            <a:r>
              <a:rPr sz="1000" b="0">
                <a:solidFill>
                  <a:srgbClr val="0B1220"/>
                </a:solidFill>
                <a:latin typeface="Inter"/>
              </a:rPr>
              <a:t>no Brasil inteiro</a:t>
            </a:r>
          </a:p>
        </p:txBody>
      </p:sp>
      <p:sp>
        <p:nvSpPr>
          <p:cNvPr id="7" name="TextBox 6"/>
          <p:cNvSpPr txBox="1"/>
          <p:nvPr/>
        </p:nvSpPr>
        <p:spPr>
          <a:xfrm>
            <a:off x="3566160" y="2084832"/>
            <a:ext cx="7223759" cy="274320"/>
          </a:xfrm>
          <a:prstGeom prst="rect">
            <a:avLst/>
          </a:prstGeom>
          <a:noFill/>
        </p:spPr>
        <p:txBody>
          <a:bodyPr wrap="square" lIns="0" rIns="0" tIns="0" bIns="0">
            <a:spAutoFit/>
          </a:bodyPr>
          <a:lstStyle/>
          <a:p>
            <a:pPr algn="l"/>
            <a:r>
              <a:rPr sz="1350" b="1">
                <a:solidFill>
                  <a:srgbClr val="0B1220"/>
                </a:solidFill>
                <a:latin typeface="Inter SemiBold"/>
              </a:rPr>
              <a:t>42.000 alunos-viajantes</a:t>
            </a:r>
          </a:p>
        </p:txBody>
      </p:sp>
      <p:sp>
        <p:nvSpPr>
          <p:cNvPr id="8" name="TextBox 7"/>
          <p:cNvSpPr txBox="1"/>
          <p:nvPr/>
        </p:nvSpPr>
        <p:spPr>
          <a:xfrm>
            <a:off x="3566160" y="2441448"/>
            <a:ext cx="7223759" cy="256032"/>
          </a:xfrm>
          <a:prstGeom prst="rect">
            <a:avLst/>
          </a:prstGeom>
          <a:noFill/>
        </p:spPr>
        <p:txBody>
          <a:bodyPr wrap="square" lIns="0" rIns="0" tIns="0" bIns="0">
            <a:spAutoFit/>
          </a:bodyPr>
          <a:lstStyle/>
          <a:p>
            <a:pPr algn="l"/>
            <a:r>
              <a:rPr sz="1100" b="0">
                <a:solidFill>
                  <a:srgbClr val="0B1220"/>
                </a:solidFill>
                <a:latin typeface="Inter"/>
              </a:rPr>
              <a:t>R$ 63,1 mi por ano</a:t>
            </a:r>
          </a:p>
        </p:txBody>
      </p:sp>
      <p:sp>
        <p:nvSpPr>
          <p:cNvPr id="9" name="TextBox 8"/>
          <p:cNvSpPr txBox="1"/>
          <p:nvPr/>
        </p:nvSpPr>
        <p:spPr>
          <a:xfrm>
            <a:off x="11018519" y="2267712"/>
            <a:ext cx="566928" cy="237744"/>
          </a:xfrm>
          <a:prstGeom prst="rect">
            <a:avLst/>
          </a:prstGeom>
          <a:noFill/>
        </p:spPr>
        <p:txBody>
          <a:bodyPr wrap="square" lIns="0" rIns="0" tIns="0" bIns="0">
            <a:spAutoFit/>
          </a:bodyPr>
          <a:lstStyle/>
          <a:p>
            <a:pPr algn="r"/>
            <a:r>
              <a:rPr sz="1000" b="1" spc="140">
                <a:solidFill>
                  <a:srgbClr val="0B1220"/>
                </a:solidFill>
                <a:latin typeface="Inter SemiBold"/>
              </a:rPr>
              <a:t>TAM</a:t>
            </a:r>
          </a:p>
        </p:txBody>
      </p:sp>
      <p:sp>
        <p:nvSpPr>
          <p:cNvPr id="10" name="Rounded Rectangle 9"/>
          <p:cNvSpPr/>
          <p:nvPr/>
        </p:nvSpPr>
        <p:spPr>
          <a:xfrm>
            <a:off x="1828799" y="2944368"/>
            <a:ext cx="8503920" cy="896112"/>
          </a:xfrm>
          <a:prstGeom prst="roundRect">
            <a:avLst>
              <a:gd name="adj" fmla="val 6000"/>
            </a:avLst>
          </a:prstGeom>
          <a:solidFill>
            <a:srgbClr val="D9A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84831" y="3072384"/>
            <a:ext cx="2834640" cy="274320"/>
          </a:xfrm>
          <a:prstGeom prst="rect">
            <a:avLst/>
          </a:prstGeom>
          <a:noFill/>
        </p:spPr>
        <p:txBody>
          <a:bodyPr wrap="square" lIns="0" rIns="0" tIns="0" bIns="0">
            <a:spAutoFit/>
          </a:bodyPr>
          <a:lstStyle/>
          <a:p>
            <a:pPr algn="l"/>
            <a:r>
              <a:rPr sz="1550" b="1">
                <a:solidFill>
                  <a:srgbClr val="0B1220"/>
                </a:solidFill>
                <a:latin typeface="Sora"/>
              </a:rPr>
              <a:t>Quantos podemos atender</a:t>
            </a:r>
          </a:p>
        </p:txBody>
      </p:sp>
      <p:sp>
        <p:nvSpPr>
          <p:cNvPr id="12" name="TextBox 11"/>
          <p:cNvSpPr txBox="1"/>
          <p:nvPr/>
        </p:nvSpPr>
        <p:spPr>
          <a:xfrm>
            <a:off x="2084831" y="3438144"/>
            <a:ext cx="2834640" cy="237744"/>
          </a:xfrm>
          <a:prstGeom prst="rect">
            <a:avLst/>
          </a:prstGeom>
          <a:noFill/>
        </p:spPr>
        <p:txBody>
          <a:bodyPr wrap="square" lIns="0" rIns="0" tIns="0" bIns="0">
            <a:spAutoFit/>
          </a:bodyPr>
          <a:lstStyle/>
          <a:p>
            <a:pPr algn="l"/>
            <a:r>
              <a:rPr sz="1000" b="0">
                <a:solidFill>
                  <a:srgbClr val="0B1220"/>
                </a:solidFill>
                <a:latin typeface="Inter"/>
              </a:rPr>
              <a:t>Nova Lima, São Paulo e Rio</a:t>
            </a:r>
          </a:p>
        </p:txBody>
      </p:sp>
      <p:sp>
        <p:nvSpPr>
          <p:cNvPr id="13" name="TextBox 12"/>
          <p:cNvSpPr txBox="1"/>
          <p:nvPr/>
        </p:nvSpPr>
        <p:spPr>
          <a:xfrm>
            <a:off x="5074919" y="3090672"/>
            <a:ext cx="4206240" cy="274320"/>
          </a:xfrm>
          <a:prstGeom prst="rect">
            <a:avLst/>
          </a:prstGeom>
          <a:noFill/>
        </p:spPr>
        <p:txBody>
          <a:bodyPr wrap="square" lIns="0" rIns="0" tIns="0" bIns="0">
            <a:spAutoFit/>
          </a:bodyPr>
          <a:lstStyle/>
          <a:p>
            <a:pPr algn="l"/>
            <a:r>
              <a:rPr sz="1350" b="1">
                <a:solidFill>
                  <a:srgbClr val="0B1220"/>
                </a:solidFill>
                <a:latin typeface="Inter SemiBold"/>
              </a:rPr>
              <a:t>10.500 alunos</a:t>
            </a:r>
          </a:p>
        </p:txBody>
      </p:sp>
      <p:sp>
        <p:nvSpPr>
          <p:cNvPr id="14" name="TextBox 13"/>
          <p:cNvSpPr txBox="1"/>
          <p:nvPr/>
        </p:nvSpPr>
        <p:spPr>
          <a:xfrm>
            <a:off x="5074919" y="3447288"/>
            <a:ext cx="4206240" cy="256032"/>
          </a:xfrm>
          <a:prstGeom prst="rect">
            <a:avLst/>
          </a:prstGeom>
          <a:noFill/>
        </p:spPr>
        <p:txBody>
          <a:bodyPr wrap="square" lIns="0" rIns="0" tIns="0" bIns="0">
            <a:spAutoFit/>
          </a:bodyPr>
          <a:lstStyle/>
          <a:p>
            <a:pPr algn="l"/>
            <a:r>
              <a:rPr sz="1100" b="0">
                <a:solidFill>
                  <a:srgbClr val="0B1220"/>
                </a:solidFill>
                <a:latin typeface="Inter"/>
              </a:rPr>
              <a:t>R$ 15,8 mi por ano</a:t>
            </a:r>
          </a:p>
        </p:txBody>
      </p:sp>
      <p:sp>
        <p:nvSpPr>
          <p:cNvPr id="15" name="TextBox 14"/>
          <p:cNvSpPr txBox="1"/>
          <p:nvPr/>
        </p:nvSpPr>
        <p:spPr>
          <a:xfrm>
            <a:off x="9509760" y="3273552"/>
            <a:ext cx="566928" cy="237744"/>
          </a:xfrm>
          <a:prstGeom prst="rect">
            <a:avLst/>
          </a:prstGeom>
          <a:noFill/>
        </p:spPr>
        <p:txBody>
          <a:bodyPr wrap="square" lIns="0" rIns="0" tIns="0" bIns="0">
            <a:spAutoFit/>
          </a:bodyPr>
          <a:lstStyle/>
          <a:p>
            <a:pPr algn="r"/>
            <a:r>
              <a:rPr sz="1000" b="1" spc="140">
                <a:solidFill>
                  <a:srgbClr val="0B1220"/>
                </a:solidFill>
                <a:latin typeface="Inter SemiBold"/>
              </a:rPr>
              <a:t>SAM</a:t>
            </a:r>
          </a:p>
        </p:txBody>
      </p:sp>
      <p:sp>
        <p:nvSpPr>
          <p:cNvPr id="16" name="Rounded Rectangle 15"/>
          <p:cNvSpPr/>
          <p:nvPr/>
        </p:nvSpPr>
        <p:spPr>
          <a:xfrm>
            <a:off x="2857500" y="3950208"/>
            <a:ext cx="6446520" cy="896112"/>
          </a:xfrm>
          <a:prstGeom prst="roundRect">
            <a:avLst>
              <a:gd name="adj" fmla="val 6000"/>
            </a:avLst>
          </a:prstGeom>
          <a:solidFill>
            <a:srgbClr val="B886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3532" y="4078224"/>
            <a:ext cx="2834640" cy="274320"/>
          </a:xfrm>
          <a:prstGeom prst="rect">
            <a:avLst/>
          </a:prstGeom>
          <a:noFill/>
        </p:spPr>
        <p:txBody>
          <a:bodyPr wrap="square" lIns="0" rIns="0" tIns="0" bIns="0">
            <a:spAutoFit/>
          </a:bodyPr>
          <a:lstStyle/>
          <a:p>
            <a:pPr algn="l"/>
            <a:r>
              <a:rPr sz="1550" b="1">
                <a:solidFill>
                  <a:srgbClr val="0B1220"/>
                </a:solidFill>
                <a:latin typeface="Sora"/>
              </a:rPr>
              <a:t>Quantos vamos atender</a:t>
            </a:r>
          </a:p>
        </p:txBody>
      </p:sp>
      <p:sp>
        <p:nvSpPr>
          <p:cNvPr id="18" name="TextBox 17"/>
          <p:cNvSpPr txBox="1"/>
          <p:nvPr/>
        </p:nvSpPr>
        <p:spPr>
          <a:xfrm>
            <a:off x="3113532" y="4443984"/>
            <a:ext cx="2834640" cy="237744"/>
          </a:xfrm>
          <a:prstGeom prst="rect">
            <a:avLst/>
          </a:prstGeom>
          <a:noFill/>
        </p:spPr>
        <p:txBody>
          <a:bodyPr wrap="square" lIns="0" rIns="0" tIns="0" bIns="0">
            <a:spAutoFit/>
          </a:bodyPr>
          <a:lstStyle/>
          <a:p>
            <a:pPr algn="l"/>
            <a:r>
              <a:rPr sz="1000" b="0">
                <a:solidFill>
                  <a:srgbClr val="0B1220"/>
                </a:solidFill>
                <a:latin typeface="Inter"/>
              </a:rPr>
              <a:t>nossa meta em 3 anos</a:t>
            </a:r>
          </a:p>
        </p:txBody>
      </p:sp>
      <p:sp>
        <p:nvSpPr>
          <p:cNvPr id="19" name="TextBox 18"/>
          <p:cNvSpPr txBox="1"/>
          <p:nvPr/>
        </p:nvSpPr>
        <p:spPr>
          <a:xfrm>
            <a:off x="6103620" y="4096512"/>
            <a:ext cx="2148839" cy="274320"/>
          </a:xfrm>
          <a:prstGeom prst="rect">
            <a:avLst/>
          </a:prstGeom>
          <a:noFill/>
        </p:spPr>
        <p:txBody>
          <a:bodyPr wrap="square" lIns="0" rIns="0" tIns="0" bIns="0">
            <a:spAutoFit/>
          </a:bodyPr>
          <a:lstStyle/>
          <a:p>
            <a:pPr algn="l"/>
            <a:r>
              <a:rPr sz="1350" b="1">
                <a:solidFill>
                  <a:srgbClr val="0B1220"/>
                </a:solidFill>
                <a:latin typeface="Inter SemiBold"/>
              </a:rPr>
              <a:t>650 alunos ativos</a:t>
            </a:r>
          </a:p>
        </p:txBody>
      </p:sp>
      <p:sp>
        <p:nvSpPr>
          <p:cNvPr id="20" name="TextBox 19"/>
          <p:cNvSpPr txBox="1"/>
          <p:nvPr/>
        </p:nvSpPr>
        <p:spPr>
          <a:xfrm>
            <a:off x="6103620" y="4453128"/>
            <a:ext cx="2148839" cy="256032"/>
          </a:xfrm>
          <a:prstGeom prst="rect">
            <a:avLst/>
          </a:prstGeom>
          <a:noFill/>
        </p:spPr>
        <p:txBody>
          <a:bodyPr wrap="square" lIns="0" rIns="0" tIns="0" bIns="0">
            <a:spAutoFit/>
          </a:bodyPr>
          <a:lstStyle/>
          <a:p>
            <a:pPr algn="l"/>
            <a:r>
              <a:rPr sz="1100" b="0">
                <a:solidFill>
                  <a:srgbClr val="0B1220"/>
                </a:solidFill>
                <a:latin typeface="Inter"/>
              </a:rPr>
              <a:t>R$ 977 mil por ano</a:t>
            </a:r>
          </a:p>
        </p:txBody>
      </p:sp>
      <p:sp>
        <p:nvSpPr>
          <p:cNvPr id="21" name="TextBox 20"/>
          <p:cNvSpPr txBox="1"/>
          <p:nvPr/>
        </p:nvSpPr>
        <p:spPr>
          <a:xfrm>
            <a:off x="8481060" y="4279392"/>
            <a:ext cx="566928" cy="237744"/>
          </a:xfrm>
          <a:prstGeom prst="rect">
            <a:avLst/>
          </a:prstGeom>
          <a:noFill/>
        </p:spPr>
        <p:txBody>
          <a:bodyPr wrap="square" lIns="0" rIns="0" tIns="0" bIns="0">
            <a:spAutoFit/>
          </a:bodyPr>
          <a:lstStyle/>
          <a:p>
            <a:pPr algn="r"/>
            <a:r>
              <a:rPr sz="1000" b="1" spc="140">
                <a:solidFill>
                  <a:srgbClr val="0B1220"/>
                </a:solidFill>
                <a:latin typeface="Inter SemiBold"/>
              </a:rPr>
              <a:t>SOM</a:t>
            </a:r>
          </a:p>
        </p:txBody>
      </p:sp>
      <p:sp>
        <p:nvSpPr>
          <p:cNvPr id="22" name="Rectangle 21"/>
          <p:cNvSpPr/>
          <p:nvPr/>
        </p:nvSpPr>
        <p:spPr>
          <a:xfrm>
            <a:off x="320040" y="5010912"/>
            <a:ext cx="11521440" cy="292608"/>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9768" y="5102352"/>
            <a:ext cx="2660904" cy="201168"/>
          </a:xfrm>
          <a:prstGeom prst="rect">
            <a:avLst/>
          </a:prstGeom>
          <a:noFill/>
        </p:spPr>
        <p:txBody>
          <a:bodyPr wrap="square" lIns="0" rIns="0" tIns="0" bIns="0">
            <a:spAutoFit/>
          </a:bodyPr>
          <a:lstStyle/>
          <a:p>
            <a:pPr algn="l"/>
            <a:r>
              <a:rPr sz="900" b="1">
                <a:solidFill>
                  <a:srgbClr val="F2B705"/>
                </a:solidFill>
                <a:latin typeface="Inter SemiBold"/>
              </a:rPr>
              <a:t>Fim do ano</a:t>
            </a:r>
          </a:p>
        </p:txBody>
      </p:sp>
      <p:sp>
        <p:nvSpPr>
          <p:cNvPr id="24" name="TextBox 23"/>
          <p:cNvSpPr txBox="1"/>
          <p:nvPr/>
        </p:nvSpPr>
        <p:spPr>
          <a:xfrm>
            <a:off x="3310128" y="5102352"/>
            <a:ext cx="2660904" cy="201168"/>
          </a:xfrm>
          <a:prstGeom prst="rect">
            <a:avLst/>
          </a:prstGeom>
          <a:noFill/>
        </p:spPr>
        <p:txBody>
          <a:bodyPr wrap="square" lIns="0" rIns="0" tIns="0" bIns="0">
            <a:spAutoFit/>
          </a:bodyPr>
          <a:lstStyle/>
          <a:p>
            <a:pPr algn="ctr"/>
            <a:r>
              <a:rPr sz="900" b="1">
                <a:solidFill>
                  <a:srgbClr val="F2B705"/>
                </a:solidFill>
                <a:latin typeface="Inter SemiBold"/>
              </a:rPr>
              <a:t>Alunos ativos</a:t>
            </a:r>
          </a:p>
        </p:txBody>
      </p:sp>
      <p:sp>
        <p:nvSpPr>
          <p:cNvPr id="25" name="TextBox 24"/>
          <p:cNvSpPr txBox="1"/>
          <p:nvPr/>
        </p:nvSpPr>
        <p:spPr>
          <a:xfrm>
            <a:off x="6190488" y="5102352"/>
            <a:ext cx="2660904" cy="201168"/>
          </a:xfrm>
          <a:prstGeom prst="rect">
            <a:avLst/>
          </a:prstGeom>
          <a:noFill/>
        </p:spPr>
        <p:txBody>
          <a:bodyPr wrap="square" lIns="0" rIns="0" tIns="0" bIns="0">
            <a:spAutoFit/>
          </a:bodyPr>
          <a:lstStyle/>
          <a:p>
            <a:pPr algn="ctr"/>
            <a:r>
              <a:rPr sz="900" b="1">
                <a:solidFill>
                  <a:srgbClr val="F2B705"/>
                </a:solidFill>
                <a:latin typeface="Inter SemiBold"/>
              </a:rPr>
              <a:t>Receita anualizada</a:t>
            </a:r>
          </a:p>
        </p:txBody>
      </p:sp>
      <p:sp>
        <p:nvSpPr>
          <p:cNvPr id="26" name="TextBox 25"/>
          <p:cNvSpPr txBox="1"/>
          <p:nvPr/>
        </p:nvSpPr>
        <p:spPr>
          <a:xfrm>
            <a:off x="9070848" y="5102352"/>
            <a:ext cx="2660904" cy="201168"/>
          </a:xfrm>
          <a:prstGeom prst="rect">
            <a:avLst/>
          </a:prstGeom>
          <a:noFill/>
        </p:spPr>
        <p:txBody>
          <a:bodyPr wrap="square" lIns="0" rIns="0" tIns="0" bIns="0">
            <a:spAutoFit/>
          </a:bodyPr>
          <a:lstStyle/>
          <a:p>
            <a:pPr algn="ctr"/>
            <a:r>
              <a:rPr sz="900" b="1">
                <a:solidFill>
                  <a:srgbClr val="F2B705"/>
                </a:solidFill>
                <a:latin typeface="Inter SemiBold"/>
              </a:rPr>
              <a:t>% dos 10.500</a:t>
            </a:r>
          </a:p>
        </p:txBody>
      </p:sp>
      <p:sp>
        <p:nvSpPr>
          <p:cNvPr id="27" name="Rectangle 26"/>
          <p:cNvSpPr/>
          <p:nvPr/>
        </p:nvSpPr>
        <p:spPr>
          <a:xfrm>
            <a:off x="320040" y="5303520"/>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9768" y="5404104"/>
            <a:ext cx="2660904" cy="164592"/>
          </a:xfrm>
          <a:prstGeom prst="rect">
            <a:avLst/>
          </a:prstGeom>
          <a:noFill/>
        </p:spPr>
        <p:txBody>
          <a:bodyPr wrap="square" lIns="0" rIns="0" tIns="0" bIns="0">
            <a:spAutoFit/>
          </a:bodyPr>
          <a:lstStyle/>
          <a:p>
            <a:pPr algn="l"/>
            <a:r>
              <a:rPr sz="950" b="0">
                <a:solidFill>
                  <a:srgbClr val="1B2435"/>
                </a:solidFill>
                <a:latin typeface="Inter"/>
              </a:rPr>
              <a:t>Ano 1</a:t>
            </a:r>
          </a:p>
        </p:txBody>
      </p:sp>
      <p:sp>
        <p:nvSpPr>
          <p:cNvPr id="29" name="TextBox 28"/>
          <p:cNvSpPr txBox="1"/>
          <p:nvPr/>
        </p:nvSpPr>
        <p:spPr>
          <a:xfrm>
            <a:off x="3310128" y="5404104"/>
            <a:ext cx="2660904" cy="164592"/>
          </a:xfrm>
          <a:prstGeom prst="rect">
            <a:avLst/>
          </a:prstGeom>
          <a:noFill/>
        </p:spPr>
        <p:txBody>
          <a:bodyPr wrap="square" lIns="0" rIns="0" tIns="0" bIns="0">
            <a:spAutoFit/>
          </a:bodyPr>
          <a:lstStyle/>
          <a:p>
            <a:pPr algn="ctr"/>
            <a:r>
              <a:rPr sz="950" b="0">
                <a:solidFill>
                  <a:srgbClr val="1B2435"/>
                </a:solidFill>
                <a:latin typeface="Inter"/>
              </a:rPr>
              <a:t>100</a:t>
            </a:r>
          </a:p>
        </p:txBody>
      </p:sp>
      <p:sp>
        <p:nvSpPr>
          <p:cNvPr id="30" name="TextBox 29"/>
          <p:cNvSpPr txBox="1"/>
          <p:nvPr/>
        </p:nvSpPr>
        <p:spPr>
          <a:xfrm>
            <a:off x="6190488" y="5404104"/>
            <a:ext cx="2660904" cy="164592"/>
          </a:xfrm>
          <a:prstGeom prst="rect">
            <a:avLst/>
          </a:prstGeom>
          <a:noFill/>
        </p:spPr>
        <p:txBody>
          <a:bodyPr wrap="square" lIns="0" rIns="0" tIns="0" bIns="0">
            <a:spAutoFit/>
          </a:bodyPr>
          <a:lstStyle/>
          <a:p>
            <a:pPr algn="ctr"/>
            <a:r>
              <a:rPr sz="950" b="0">
                <a:solidFill>
                  <a:srgbClr val="1B2435"/>
                </a:solidFill>
                <a:latin typeface="Inter"/>
              </a:rPr>
              <a:t>R$ 113 mil</a:t>
            </a:r>
          </a:p>
        </p:txBody>
      </p:sp>
      <p:sp>
        <p:nvSpPr>
          <p:cNvPr id="31" name="TextBox 30"/>
          <p:cNvSpPr txBox="1"/>
          <p:nvPr/>
        </p:nvSpPr>
        <p:spPr>
          <a:xfrm>
            <a:off x="9070848" y="5404104"/>
            <a:ext cx="2660904" cy="164592"/>
          </a:xfrm>
          <a:prstGeom prst="rect">
            <a:avLst/>
          </a:prstGeom>
          <a:noFill/>
        </p:spPr>
        <p:txBody>
          <a:bodyPr wrap="square" lIns="0" rIns="0" tIns="0" bIns="0">
            <a:spAutoFit/>
          </a:bodyPr>
          <a:lstStyle/>
          <a:p>
            <a:pPr algn="ctr"/>
            <a:r>
              <a:rPr sz="950" b="0">
                <a:solidFill>
                  <a:srgbClr val="1B2435"/>
                </a:solidFill>
                <a:latin typeface="Inter"/>
              </a:rPr>
              <a:t>1,0%</a:t>
            </a:r>
          </a:p>
        </p:txBody>
      </p:sp>
      <p:sp>
        <p:nvSpPr>
          <p:cNvPr id="32" name="Rectangle 31"/>
          <p:cNvSpPr/>
          <p:nvPr/>
        </p:nvSpPr>
        <p:spPr>
          <a:xfrm>
            <a:off x="320040" y="5614416"/>
            <a:ext cx="11521440" cy="310896"/>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 y="5715000"/>
            <a:ext cx="2660904" cy="164592"/>
          </a:xfrm>
          <a:prstGeom prst="rect">
            <a:avLst/>
          </a:prstGeom>
          <a:noFill/>
        </p:spPr>
        <p:txBody>
          <a:bodyPr wrap="square" lIns="0" rIns="0" tIns="0" bIns="0">
            <a:spAutoFit/>
          </a:bodyPr>
          <a:lstStyle/>
          <a:p>
            <a:pPr algn="l"/>
            <a:r>
              <a:rPr sz="950" b="0">
                <a:solidFill>
                  <a:srgbClr val="1B2435"/>
                </a:solidFill>
                <a:latin typeface="Inter"/>
              </a:rPr>
              <a:t>Ano 2</a:t>
            </a:r>
          </a:p>
        </p:txBody>
      </p:sp>
      <p:sp>
        <p:nvSpPr>
          <p:cNvPr id="34" name="TextBox 33"/>
          <p:cNvSpPr txBox="1"/>
          <p:nvPr/>
        </p:nvSpPr>
        <p:spPr>
          <a:xfrm>
            <a:off x="3310128" y="5715000"/>
            <a:ext cx="2660904" cy="164592"/>
          </a:xfrm>
          <a:prstGeom prst="rect">
            <a:avLst/>
          </a:prstGeom>
          <a:noFill/>
        </p:spPr>
        <p:txBody>
          <a:bodyPr wrap="square" lIns="0" rIns="0" tIns="0" bIns="0">
            <a:spAutoFit/>
          </a:bodyPr>
          <a:lstStyle/>
          <a:p>
            <a:pPr algn="ctr"/>
            <a:r>
              <a:rPr sz="950" b="0">
                <a:solidFill>
                  <a:srgbClr val="1B2435"/>
                </a:solidFill>
                <a:latin typeface="Inter"/>
              </a:rPr>
              <a:t>280</a:t>
            </a:r>
          </a:p>
        </p:txBody>
      </p:sp>
      <p:sp>
        <p:nvSpPr>
          <p:cNvPr id="35" name="TextBox 34"/>
          <p:cNvSpPr txBox="1"/>
          <p:nvPr/>
        </p:nvSpPr>
        <p:spPr>
          <a:xfrm>
            <a:off x="6190488" y="5715000"/>
            <a:ext cx="2660904" cy="164592"/>
          </a:xfrm>
          <a:prstGeom prst="rect">
            <a:avLst/>
          </a:prstGeom>
          <a:noFill/>
        </p:spPr>
        <p:txBody>
          <a:bodyPr wrap="square" lIns="0" rIns="0" tIns="0" bIns="0">
            <a:spAutoFit/>
          </a:bodyPr>
          <a:lstStyle/>
          <a:p>
            <a:pPr algn="ctr"/>
            <a:r>
              <a:rPr sz="950" b="0">
                <a:solidFill>
                  <a:srgbClr val="1B2435"/>
                </a:solidFill>
                <a:latin typeface="Inter"/>
              </a:rPr>
              <a:t>R$ 383 mil</a:t>
            </a:r>
          </a:p>
        </p:txBody>
      </p:sp>
      <p:sp>
        <p:nvSpPr>
          <p:cNvPr id="36" name="TextBox 35"/>
          <p:cNvSpPr txBox="1"/>
          <p:nvPr/>
        </p:nvSpPr>
        <p:spPr>
          <a:xfrm>
            <a:off x="9070848" y="5715000"/>
            <a:ext cx="2660904" cy="164592"/>
          </a:xfrm>
          <a:prstGeom prst="rect">
            <a:avLst/>
          </a:prstGeom>
          <a:noFill/>
        </p:spPr>
        <p:txBody>
          <a:bodyPr wrap="square" lIns="0" rIns="0" tIns="0" bIns="0">
            <a:spAutoFit/>
          </a:bodyPr>
          <a:lstStyle/>
          <a:p>
            <a:pPr algn="ctr"/>
            <a:r>
              <a:rPr sz="950" b="0">
                <a:solidFill>
                  <a:srgbClr val="1B2435"/>
                </a:solidFill>
                <a:latin typeface="Inter"/>
              </a:rPr>
              <a:t>2,7%</a:t>
            </a:r>
          </a:p>
        </p:txBody>
      </p:sp>
      <p:sp>
        <p:nvSpPr>
          <p:cNvPr id="37" name="Rectangle 36"/>
          <p:cNvSpPr/>
          <p:nvPr/>
        </p:nvSpPr>
        <p:spPr>
          <a:xfrm>
            <a:off x="320040" y="5925312"/>
            <a:ext cx="11521440" cy="310896"/>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6025896"/>
            <a:ext cx="2660904" cy="164592"/>
          </a:xfrm>
          <a:prstGeom prst="rect">
            <a:avLst/>
          </a:prstGeom>
          <a:noFill/>
        </p:spPr>
        <p:txBody>
          <a:bodyPr wrap="square" lIns="0" rIns="0" tIns="0" bIns="0">
            <a:spAutoFit/>
          </a:bodyPr>
          <a:lstStyle/>
          <a:p>
            <a:pPr algn="l"/>
            <a:r>
              <a:rPr sz="950" b="0">
                <a:solidFill>
                  <a:srgbClr val="0B1220"/>
                </a:solidFill>
                <a:latin typeface="Inter"/>
              </a:rPr>
              <a:t>Ano 3</a:t>
            </a:r>
          </a:p>
        </p:txBody>
      </p:sp>
      <p:sp>
        <p:nvSpPr>
          <p:cNvPr id="39" name="TextBox 38"/>
          <p:cNvSpPr txBox="1"/>
          <p:nvPr/>
        </p:nvSpPr>
        <p:spPr>
          <a:xfrm>
            <a:off x="3310128" y="6025896"/>
            <a:ext cx="2660904" cy="164592"/>
          </a:xfrm>
          <a:prstGeom prst="rect">
            <a:avLst/>
          </a:prstGeom>
          <a:noFill/>
        </p:spPr>
        <p:txBody>
          <a:bodyPr wrap="square" lIns="0" rIns="0" tIns="0" bIns="0">
            <a:spAutoFit/>
          </a:bodyPr>
          <a:lstStyle/>
          <a:p>
            <a:pPr algn="ctr"/>
            <a:r>
              <a:rPr sz="950" b="0">
                <a:solidFill>
                  <a:srgbClr val="0B1220"/>
                </a:solidFill>
                <a:latin typeface="Inter"/>
              </a:rPr>
              <a:t>650</a:t>
            </a:r>
          </a:p>
        </p:txBody>
      </p:sp>
      <p:sp>
        <p:nvSpPr>
          <p:cNvPr id="40" name="TextBox 39"/>
          <p:cNvSpPr txBox="1"/>
          <p:nvPr/>
        </p:nvSpPr>
        <p:spPr>
          <a:xfrm>
            <a:off x="6190488" y="6025896"/>
            <a:ext cx="2660904" cy="164592"/>
          </a:xfrm>
          <a:prstGeom prst="rect">
            <a:avLst/>
          </a:prstGeom>
          <a:noFill/>
        </p:spPr>
        <p:txBody>
          <a:bodyPr wrap="square" lIns="0" rIns="0" tIns="0" bIns="0">
            <a:spAutoFit/>
          </a:bodyPr>
          <a:lstStyle/>
          <a:p>
            <a:pPr algn="ctr"/>
            <a:r>
              <a:rPr sz="950" b="0">
                <a:solidFill>
                  <a:srgbClr val="0B1220"/>
                </a:solidFill>
                <a:latin typeface="Inter"/>
              </a:rPr>
              <a:t>R$ 977 mil</a:t>
            </a:r>
          </a:p>
        </p:txBody>
      </p:sp>
      <p:sp>
        <p:nvSpPr>
          <p:cNvPr id="41" name="TextBox 40"/>
          <p:cNvSpPr txBox="1"/>
          <p:nvPr/>
        </p:nvSpPr>
        <p:spPr>
          <a:xfrm>
            <a:off x="9070848" y="6025896"/>
            <a:ext cx="2660904" cy="164592"/>
          </a:xfrm>
          <a:prstGeom prst="rect">
            <a:avLst/>
          </a:prstGeom>
          <a:noFill/>
        </p:spPr>
        <p:txBody>
          <a:bodyPr wrap="square" lIns="0" rIns="0" tIns="0" bIns="0">
            <a:spAutoFit/>
          </a:bodyPr>
          <a:lstStyle/>
          <a:p>
            <a:pPr algn="ctr"/>
            <a:r>
              <a:rPr sz="950" b="0">
                <a:solidFill>
                  <a:srgbClr val="0B1220"/>
                </a:solidFill>
                <a:latin typeface="Inter"/>
              </a:rPr>
              <a:t>6,2%</a:t>
            </a:r>
          </a:p>
        </p:txBody>
      </p:sp>
      <p:sp>
        <p:nvSpPr>
          <p:cNvPr id="42" name="TextBox 41"/>
          <p:cNvSpPr txBox="1"/>
          <p:nvPr/>
        </p:nvSpPr>
        <p:spPr>
          <a:xfrm>
            <a:off x="320040" y="6364224"/>
            <a:ext cx="11521440" cy="228600"/>
          </a:xfrm>
          <a:prstGeom prst="rect">
            <a:avLst/>
          </a:prstGeom>
          <a:noFill/>
        </p:spPr>
        <p:txBody>
          <a:bodyPr wrap="square" lIns="0" rIns="0" tIns="0" bIns="0">
            <a:spAutoFit/>
          </a:bodyPr>
          <a:lstStyle/>
          <a:p>
            <a:pPr algn="l"/>
            <a:r>
              <a:rPr sz="800" b="0">
                <a:solidFill>
                  <a:srgbClr val="6B7280"/>
                </a:solidFill>
                <a:latin typeface="Inter"/>
              </a:rPr>
              <a:t>TAM, SAM e SOM são as siglas do framework, à direita de cada faixa. A primeira versão projetava 24% do mercado atendível, assumindo turma de 100 alunos e adesão de 60% desde o T1.</a:t>
            </a:r>
          </a:p>
        </p:txBody>
      </p:sp>
      <p:sp>
        <p:nvSpPr>
          <p:cNvPr id="43" name="TextBox 42"/>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44" name="TextBox 43"/>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08  </a:t>
            </a:r>
            <a:r>
              <a:rPr sz="2300" b="1">
                <a:solidFill>
                  <a:srgbClr val="0B1220"/>
                </a:solidFill>
                <a:latin typeface="Sora"/>
              </a:rPr>
              <a:t>Três cenários de receita</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O que separa os cenários é quantos alunos a operação capta. As fases de negociação são as mesmas nos três.</a:t>
            </a:r>
          </a:p>
        </p:txBody>
      </p:sp>
      <p:sp>
        <p:nvSpPr>
          <p:cNvPr id="4" name="Rounded Rectangle 3"/>
          <p:cNvSpPr/>
          <p:nvPr/>
        </p:nvSpPr>
        <p:spPr>
          <a:xfrm>
            <a:off x="320040"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2313432"/>
            <a:ext cx="3383279" cy="640080"/>
          </a:xfrm>
          <a:prstGeom prst="rect">
            <a:avLst/>
          </a:prstGeom>
          <a:noFill/>
        </p:spPr>
        <p:txBody>
          <a:bodyPr wrap="square" lIns="0" rIns="0" tIns="0" bIns="0">
            <a:spAutoFit/>
          </a:bodyPr>
          <a:lstStyle/>
          <a:p>
            <a:pPr algn="l"/>
            <a:r>
              <a:rPr sz="2700" b="1">
                <a:solidFill>
                  <a:srgbClr val="C9CFDA"/>
                </a:solidFill>
                <a:latin typeface="Sora"/>
              </a:rPr>
              <a:t>R$ 551 mil</a:t>
            </a:r>
          </a:p>
        </p:txBody>
      </p:sp>
      <p:sp>
        <p:nvSpPr>
          <p:cNvPr id="6" name="TextBox 5"/>
          <p:cNvSpPr txBox="1"/>
          <p:nvPr/>
        </p:nvSpPr>
        <p:spPr>
          <a:xfrm>
            <a:off x="502920"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Pessimista</a:t>
            </a:r>
          </a:p>
        </p:txBody>
      </p:sp>
      <p:sp>
        <p:nvSpPr>
          <p:cNvPr id="7" name="TextBox 6"/>
          <p:cNvSpPr txBox="1"/>
          <p:nvPr/>
        </p:nvSpPr>
        <p:spPr>
          <a:xfrm>
            <a:off x="502920"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50 alunos no ano 1 · 320 no T12 · ano 1 de R$ 38 mil</a:t>
            </a:r>
          </a:p>
        </p:txBody>
      </p:sp>
      <p:sp>
        <p:nvSpPr>
          <p:cNvPr id="8" name="Rounded Rectangle 7"/>
          <p:cNvSpPr/>
          <p:nvPr/>
        </p:nvSpPr>
        <p:spPr>
          <a:xfrm>
            <a:off x="4224528"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07408" y="2313432"/>
            <a:ext cx="3383279" cy="640080"/>
          </a:xfrm>
          <a:prstGeom prst="rect">
            <a:avLst/>
          </a:prstGeom>
          <a:noFill/>
        </p:spPr>
        <p:txBody>
          <a:bodyPr wrap="square" lIns="0" rIns="0" tIns="0" bIns="0">
            <a:spAutoFit/>
          </a:bodyPr>
          <a:lstStyle/>
          <a:p>
            <a:pPr algn="l"/>
            <a:r>
              <a:rPr sz="2700" b="1">
                <a:solidFill>
                  <a:srgbClr val="F2B705"/>
                </a:solidFill>
                <a:latin typeface="Sora"/>
              </a:rPr>
              <a:t>R$ 1,10 mi</a:t>
            </a:r>
          </a:p>
        </p:txBody>
      </p:sp>
      <p:sp>
        <p:nvSpPr>
          <p:cNvPr id="10" name="TextBox 9"/>
          <p:cNvSpPr txBox="1"/>
          <p:nvPr/>
        </p:nvSpPr>
        <p:spPr>
          <a:xfrm>
            <a:off x="4407408"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Tendencial</a:t>
            </a:r>
          </a:p>
        </p:txBody>
      </p:sp>
      <p:sp>
        <p:nvSpPr>
          <p:cNvPr id="11" name="TextBox 10"/>
          <p:cNvSpPr txBox="1"/>
          <p:nvPr/>
        </p:nvSpPr>
        <p:spPr>
          <a:xfrm>
            <a:off x="4407408"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100 alunos no ano 1 · 650 no T12 · ano 1 de R$ 71 mil</a:t>
            </a:r>
          </a:p>
        </p:txBody>
      </p:sp>
      <p:sp>
        <p:nvSpPr>
          <p:cNvPr id="12" name="Rounded Rectangle 11"/>
          <p:cNvSpPr/>
          <p:nvPr/>
        </p:nvSpPr>
        <p:spPr>
          <a:xfrm>
            <a:off x="8119872" y="2057400"/>
            <a:ext cx="3749039" cy="1874519"/>
          </a:xfrm>
          <a:prstGeom prst="roundRect">
            <a:avLst>
              <a:gd name="adj" fmla="val 3500"/>
            </a:avLst>
          </a:prstGeom>
          <a:solidFill>
            <a:srgbClr val="FFFFFF"/>
          </a:solidFill>
          <a:ln w="9525">
            <a:solidFill>
              <a:srgbClr val="E3E6E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313432"/>
            <a:ext cx="3383279" cy="640080"/>
          </a:xfrm>
          <a:prstGeom prst="rect">
            <a:avLst/>
          </a:prstGeom>
          <a:noFill/>
        </p:spPr>
        <p:txBody>
          <a:bodyPr wrap="square" lIns="0" rIns="0" tIns="0" bIns="0">
            <a:spAutoFit/>
          </a:bodyPr>
          <a:lstStyle/>
          <a:p>
            <a:pPr algn="l"/>
            <a:r>
              <a:rPr sz="2700" b="1">
                <a:solidFill>
                  <a:srgbClr val="2D6A4F"/>
                </a:solidFill>
                <a:latin typeface="Sora"/>
              </a:rPr>
              <a:t>R$ 1,83 mi</a:t>
            </a:r>
          </a:p>
        </p:txBody>
      </p:sp>
      <p:sp>
        <p:nvSpPr>
          <p:cNvPr id="14" name="TextBox 13"/>
          <p:cNvSpPr txBox="1"/>
          <p:nvPr/>
        </p:nvSpPr>
        <p:spPr>
          <a:xfrm>
            <a:off x="8302752" y="3081528"/>
            <a:ext cx="3383279" cy="502920"/>
          </a:xfrm>
          <a:prstGeom prst="rect">
            <a:avLst/>
          </a:prstGeom>
          <a:noFill/>
        </p:spPr>
        <p:txBody>
          <a:bodyPr wrap="square" lIns="0" rIns="0" tIns="0" bIns="0">
            <a:spAutoFit/>
          </a:bodyPr>
          <a:lstStyle/>
          <a:p>
            <a:pPr algn="l"/>
            <a:r>
              <a:rPr sz="1150" b="1">
                <a:solidFill>
                  <a:srgbClr val="0B1220"/>
                </a:solidFill>
                <a:latin typeface="Inter SemiBold"/>
              </a:rPr>
              <a:t>Otimista</a:t>
            </a:r>
          </a:p>
        </p:txBody>
      </p:sp>
      <p:sp>
        <p:nvSpPr>
          <p:cNvPr id="15" name="TextBox 14"/>
          <p:cNvSpPr txBox="1"/>
          <p:nvPr/>
        </p:nvSpPr>
        <p:spPr>
          <a:xfrm>
            <a:off x="8302752" y="3538728"/>
            <a:ext cx="3383279" cy="283463"/>
          </a:xfrm>
          <a:prstGeom prst="rect">
            <a:avLst/>
          </a:prstGeom>
          <a:noFill/>
        </p:spPr>
        <p:txBody>
          <a:bodyPr wrap="square" lIns="0" rIns="0" tIns="0" bIns="0">
            <a:spAutoFit/>
          </a:bodyPr>
          <a:lstStyle/>
          <a:p>
            <a:pPr algn="l">
              <a:lnSpc>
                <a:spcPct val="130000"/>
              </a:lnSpc>
            </a:pPr>
            <a:r>
              <a:rPr sz="950" b="0">
                <a:solidFill>
                  <a:srgbClr val="1B2435"/>
                </a:solidFill>
                <a:latin typeface="Inter"/>
              </a:rPr>
              <a:t>160 alunos no ano 1 · 1.100 no T12 · ano 1 de R$ 113 mil</a:t>
            </a:r>
          </a:p>
        </p:txBody>
      </p:sp>
      <p:sp>
        <p:nvSpPr>
          <p:cNvPr id="16" name="Rectangle 15"/>
          <p:cNvSpPr/>
          <p:nvPr/>
        </p:nvSpPr>
        <p:spPr>
          <a:xfrm>
            <a:off x="320040" y="4160520"/>
            <a:ext cx="11521440" cy="347472"/>
          </a:xfrm>
          <a:prstGeom prst="rect">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4251959"/>
            <a:ext cx="1655063" cy="201168"/>
          </a:xfrm>
          <a:prstGeom prst="rect">
            <a:avLst/>
          </a:prstGeom>
          <a:noFill/>
        </p:spPr>
        <p:txBody>
          <a:bodyPr wrap="square" lIns="0" rIns="0" tIns="0" bIns="0">
            <a:spAutoFit/>
          </a:bodyPr>
          <a:lstStyle/>
          <a:p>
            <a:pPr algn="l"/>
            <a:r>
              <a:rPr sz="900" b="1">
                <a:solidFill>
                  <a:srgbClr val="F2B705"/>
                </a:solidFill>
                <a:latin typeface="Inter SemiBold"/>
              </a:rPr>
              <a:t>Cenário</a:t>
            </a:r>
          </a:p>
        </p:txBody>
      </p:sp>
      <p:sp>
        <p:nvSpPr>
          <p:cNvPr id="18" name="TextBox 17"/>
          <p:cNvSpPr txBox="1"/>
          <p:nvPr/>
        </p:nvSpPr>
        <p:spPr>
          <a:xfrm>
            <a:off x="2304288" y="4251959"/>
            <a:ext cx="1289304" cy="201168"/>
          </a:xfrm>
          <a:prstGeom prst="rect">
            <a:avLst/>
          </a:prstGeom>
          <a:noFill/>
        </p:spPr>
        <p:txBody>
          <a:bodyPr wrap="square" lIns="0" rIns="0" tIns="0" bIns="0">
            <a:spAutoFit/>
          </a:bodyPr>
          <a:lstStyle/>
          <a:p>
            <a:pPr algn="ctr"/>
            <a:r>
              <a:rPr sz="900" b="1">
                <a:solidFill>
                  <a:srgbClr val="F2B705"/>
                </a:solidFill>
                <a:latin typeface="Inter SemiBold"/>
              </a:rPr>
              <a:t>Ano 1</a:t>
            </a:r>
          </a:p>
        </p:txBody>
      </p:sp>
      <p:sp>
        <p:nvSpPr>
          <p:cNvPr id="19" name="TextBox 18"/>
          <p:cNvSpPr txBox="1"/>
          <p:nvPr/>
        </p:nvSpPr>
        <p:spPr>
          <a:xfrm>
            <a:off x="3813048" y="4251959"/>
            <a:ext cx="1380744" cy="201168"/>
          </a:xfrm>
          <a:prstGeom prst="rect">
            <a:avLst/>
          </a:prstGeom>
          <a:noFill/>
        </p:spPr>
        <p:txBody>
          <a:bodyPr wrap="square" lIns="0" rIns="0" tIns="0" bIns="0">
            <a:spAutoFit/>
          </a:bodyPr>
          <a:lstStyle/>
          <a:p>
            <a:pPr algn="ctr"/>
            <a:r>
              <a:rPr sz="900" b="1">
                <a:solidFill>
                  <a:srgbClr val="F2B705"/>
                </a:solidFill>
                <a:latin typeface="Inter SemiBold"/>
              </a:rPr>
              <a:t>Ano 2</a:t>
            </a:r>
          </a:p>
        </p:txBody>
      </p:sp>
      <p:sp>
        <p:nvSpPr>
          <p:cNvPr id="20" name="TextBox 19"/>
          <p:cNvSpPr txBox="1"/>
          <p:nvPr/>
        </p:nvSpPr>
        <p:spPr>
          <a:xfrm>
            <a:off x="5413248" y="4251959"/>
            <a:ext cx="1426464" cy="201168"/>
          </a:xfrm>
          <a:prstGeom prst="rect">
            <a:avLst/>
          </a:prstGeom>
          <a:noFill/>
        </p:spPr>
        <p:txBody>
          <a:bodyPr wrap="square" lIns="0" rIns="0" tIns="0" bIns="0">
            <a:spAutoFit/>
          </a:bodyPr>
          <a:lstStyle/>
          <a:p>
            <a:pPr algn="ctr"/>
            <a:r>
              <a:rPr sz="900" b="1">
                <a:solidFill>
                  <a:srgbClr val="F2B705"/>
                </a:solidFill>
                <a:latin typeface="Inter SemiBold"/>
              </a:rPr>
              <a:t>Ano 3</a:t>
            </a:r>
          </a:p>
        </p:txBody>
      </p:sp>
      <p:sp>
        <p:nvSpPr>
          <p:cNvPr id="21" name="TextBox 20"/>
          <p:cNvSpPr txBox="1"/>
          <p:nvPr/>
        </p:nvSpPr>
        <p:spPr>
          <a:xfrm>
            <a:off x="7059168" y="4251959"/>
            <a:ext cx="1563624" cy="201168"/>
          </a:xfrm>
          <a:prstGeom prst="rect">
            <a:avLst/>
          </a:prstGeom>
          <a:noFill/>
        </p:spPr>
        <p:txBody>
          <a:bodyPr wrap="square" lIns="0" rIns="0" tIns="0" bIns="0">
            <a:spAutoFit/>
          </a:bodyPr>
          <a:lstStyle/>
          <a:p>
            <a:pPr algn="ctr"/>
            <a:r>
              <a:rPr sz="900" b="1">
                <a:solidFill>
                  <a:srgbClr val="F2B705"/>
                </a:solidFill>
                <a:latin typeface="Inter SemiBold"/>
              </a:rPr>
              <a:t>Total 3 anos</a:t>
            </a:r>
          </a:p>
        </p:txBody>
      </p:sp>
      <p:sp>
        <p:nvSpPr>
          <p:cNvPr id="22" name="TextBox 21"/>
          <p:cNvSpPr txBox="1"/>
          <p:nvPr/>
        </p:nvSpPr>
        <p:spPr>
          <a:xfrm>
            <a:off x="8842247" y="4251959"/>
            <a:ext cx="1197864" cy="201168"/>
          </a:xfrm>
          <a:prstGeom prst="rect">
            <a:avLst/>
          </a:prstGeom>
          <a:noFill/>
        </p:spPr>
        <p:txBody>
          <a:bodyPr wrap="square" lIns="0" rIns="0" tIns="0" bIns="0">
            <a:spAutoFit/>
          </a:bodyPr>
          <a:lstStyle/>
          <a:p>
            <a:pPr algn="ctr"/>
            <a:r>
              <a:rPr sz="900" b="1">
                <a:solidFill>
                  <a:srgbClr val="F2B705"/>
                </a:solidFill>
                <a:latin typeface="Inter SemiBold"/>
              </a:rPr>
              <a:t>Viagens</a:t>
            </a:r>
          </a:p>
        </p:txBody>
      </p:sp>
      <p:sp>
        <p:nvSpPr>
          <p:cNvPr id="23" name="TextBox 22"/>
          <p:cNvSpPr txBox="1"/>
          <p:nvPr/>
        </p:nvSpPr>
        <p:spPr>
          <a:xfrm>
            <a:off x="10259567" y="4251959"/>
            <a:ext cx="1472184" cy="201168"/>
          </a:xfrm>
          <a:prstGeom prst="rect">
            <a:avLst/>
          </a:prstGeom>
          <a:noFill/>
        </p:spPr>
        <p:txBody>
          <a:bodyPr wrap="square" lIns="0" rIns="0" tIns="0" bIns="0">
            <a:spAutoFit/>
          </a:bodyPr>
          <a:lstStyle/>
          <a:p>
            <a:pPr algn="ctr"/>
            <a:r>
              <a:rPr sz="900" b="1">
                <a:solidFill>
                  <a:srgbClr val="F2B705"/>
                </a:solidFill>
                <a:latin typeface="Inter SemiBold"/>
              </a:rPr>
              <a:t>Economia alunos</a:t>
            </a:r>
          </a:p>
        </p:txBody>
      </p:sp>
      <p:sp>
        <p:nvSpPr>
          <p:cNvPr id="24" name="Rectangle 23"/>
          <p:cNvSpPr/>
          <p:nvPr/>
        </p:nvSpPr>
        <p:spPr>
          <a:xfrm>
            <a:off x="320040" y="450799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29768" y="4608576"/>
            <a:ext cx="1655063" cy="219456"/>
          </a:xfrm>
          <a:prstGeom prst="rect">
            <a:avLst/>
          </a:prstGeom>
          <a:noFill/>
        </p:spPr>
        <p:txBody>
          <a:bodyPr wrap="square" lIns="0" rIns="0" tIns="0" bIns="0">
            <a:spAutoFit/>
          </a:bodyPr>
          <a:lstStyle/>
          <a:p>
            <a:pPr algn="l"/>
            <a:r>
              <a:rPr sz="950" b="0">
                <a:solidFill>
                  <a:srgbClr val="1B2435"/>
                </a:solidFill>
                <a:latin typeface="Inter"/>
              </a:rPr>
              <a:t>Pessimista</a:t>
            </a:r>
          </a:p>
        </p:txBody>
      </p:sp>
      <p:sp>
        <p:nvSpPr>
          <p:cNvPr id="26" name="TextBox 25"/>
          <p:cNvSpPr txBox="1"/>
          <p:nvPr/>
        </p:nvSpPr>
        <p:spPr>
          <a:xfrm>
            <a:off x="2304288" y="4608576"/>
            <a:ext cx="1289304" cy="219456"/>
          </a:xfrm>
          <a:prstGeom prst="rect">
            <a:avLst/>
          </a:prstGeom>
          <a:noFill/>
        </p:spPr>
        <p:txBody>
          <a:bodyPr wrap="square" lIns="0" rIns="0" tIns="0" bIns="0">
            <a:spAutoFit/>
          </a:bodyPr>
          <a:lstStyle/>
          <a:p>
            <a:pPr algn="ctr"/>
            <a:r>
              <a:rPr sz="950" b="0">
                <a:solidFill>
                  <a:srgbClr val="1B2435"/>
                </a:solidFill>
                <a:latin typeface="Inter"/>
              </a:rPr>
              <a:t>R$ 38 mil</a:t>
            </a:r>
          </a:p>
        </p:txBody>
      </p:sp>
      <p:sp>
        <p:nvSpPr>
          <p:cNvPr id="27" name="TextBox 26"/>
          <p:cNvSpPr txBox="1"/>
          <p:nvPr/>
        </p:nvSpPr>
        <p:spPr>
          <a:xfrm>
            <a:off x="3813048" y="4608576"/>
            <a:ext cx="1380744" cy="219456"/>
          </a:xfrm>
          <a:prstGeom prst="rect">
            <a:avLst/>
          </a:prstGeom>
          <a:noFill/>
        </p:spPr>
        <p:txBody>
          <a:bodyPr wrap="square" lIns="0" rIns="0" tIns="0" bIns="0">
            <a:spAutoFit/>
          </a:bodyPr>
          <a:lstStyle/>
          <a:p>
            <a:pPr algn="ctr"/>
            <a:r>
              <a:rPr sz="950" b="0">
                <a:solidFill>
                  <a:srgbClr val="1B2435"/>
                </a:solidFill>
                <a:latin typeface="Inter"/>
              </a:rPr>
              <a:t>R$ 140 mil</a:t>
            </a:r>
          </a:p>
        </p:txBody>
      </p:sp>
      <p:sp>
        <p:nvSpPr>
          <p:cNvPr id="28" name="TextBox 27"/>
          <p:cNvSpPr txBox="1"/>
          <p:nvPr/>
        </p:nvSpPr>
        <p:spPr>
          <a:xfrm>
            <a:off x="5413248" y="4608576"/>
            <a:ext cx="1426464" cy="219456"/>
          </a:xfrm>
          <a:prstGeom prst="rect">
            <a:avLst/>
          </a:prstGeom>
          <a:noFill/>
        </p:spPr>
        <p:txBody>
          <a:bodyPr wrap="square" lIns="0" rIns="0" tIns="0" bIns="0">
            <a:spAutoFit/>
          </a:bodyPr>
          <a:lstStyle/>
          <a:p>
            <a:pPr algn="ctr"/>
            <a:r>
              <a:rPr sz="950" b="0">
                <a:solidFill>
                  <a:srgbClr val="1B2435"/>
                </a:solidFill>
                <a:latin typeface="Inter"/>
              </a:rPr>
              <a:t>R$ 372 mil</a:t>
            </a:r>
          </a:p>
        </p:txBody>
      </p:sp>
      <p:sp>
        <p:nvSpPr>
          <p:cNvPr id="29" name="TextBox 28"/>
          <p:cNvSpPr txBox="1"/>
          <p:nvPr/>
        </p:nvSpPr>
        <p:spPr>
          <a:xfrm>
            <a:off x="7059168" y="4608576"/>
            <a:ext cx="1563624" cy="219456"/>
          </a:xfrm>
          <a:prstGeom prst="rect">
            <a:avLst/>
          </a:prstGeom>
          <a:noFill/>
        </p:spPr>
        <p:txBody>
          <a:bodyPr wrap="square" lIns="0" rIns="0" tIns="0" bIns="0">
            <a:spAutoFit/>
          </a:bodyPr>
          <a:lstStyle/>
          <a:p>
            <a:pPr algn="ctr"/>
            <a:r>
              <a:rPr sz="950" b="0">
                <a:solidFill>
                  <a:srgbClr val="1B2435"/>
                </a:solidFill>
                <a:latin typeface="Inter"/>
              </a:rPr>
              <a:t>R$ 551 mil</a:t>
            </a:r>
          </a:p>
        </p:txBody>
      </p:sp>
      <p:sp>
        <p:nvSpPr>
          <p:cNvPr id="30" name="TextBox 29"/>
          <p:cNvSpPr txBox="1"/>
          <p:nvPr/>
        </p:nvSpPr>
        <p:spPr>
          <a:xfrm>
            <a:off x="8842247" y="4608576"/>
            <a:ext cx="1197864" cy="219456"/>
          </a:xfrm>
          <a:prstGeom prst="rect">
            <a:avLst/>
          </a:prstGeom>
          <a:noFill/>
        </p:spPr>
        <p:txBody>
          <a:bodyPr wrap="square" lIns="0" rIns="0" tIns="0" bIns="0">
            <a:spAutoFit/>
          </a:bodyPr>
          <a:lstStyle/>
          <a:p>
            <a:pPr algn="ctr"/>
            <a:r>
              <a:rPr sz="950" b="0">
                <a:solidFill>
                  <a:srgbClr val="1B2435"/>
                </a:solidFill>
                <a:latin typeface="Inter"/>
              </a:rPr>
              <a:t>2.763</a:t>
            </a:r>
          </a:p>
        </p:txBody>
      </p:sp>
      <p:sp>
        <p:nvSpPr>
          <p:cNvPr id="31" name="TextBox 30"/>
          <p:cNvSpPr txBox="1"/>
          <p:nvPr/>
        </p:nvSpPr>
        <p:spPr>
          <a:xfrm>
            <a:off x="10259567" y="4608576"/>
            <a:ext cx="1472184" cy="219456"/>
          </a:xfrm>
          <a:prstGeom prst="rect">
            <a:avLst/>
          </a:prstGeom>
          <a:noFill/>
        </p:spPr>
        <p:txBody>
          <a:bodyPr wrap="square" lIns="0" rIns="0" tIns="0" bIns="0">
            <a:spAutoFit/>
          </a:bodyPr>
          <a:lstStyle/>
          <a:p>
            <a:pPr algn="ctr"/>
            <a:r>
              <a:rPr sz="950" b="0">
                <a:solidFill>
                  <a:srgbClr val="1B2435"/>
                </a:solidFill>
                <a:latin typeface="Inter"/>
              </a:rPr>
              <a:t>R$ 978 mil</a:t>
            </a:r>
          </a:p>
        </p:txBody>
      </p:sp>
      <p:sp>
        <p:nvSpPr>
          <p:cNvPr id="32" name="Rectangle 31"/>
          <p:cNvSpPr/>
          <p:nvPr/>
        </p:nvSpPr>
        <p:spPr>
          <a:xfrm>
            <a:off x="320040" y="4873752"/>
            <a:ext cx="11521440" cy="365760"/>
          </a:xfrm>
          <a:prstGeom prst="rect">
            <a:avLst/>
          </a:prstGeom>
          <a:solidFill>
            <a:srgbClr val="FDF1CB"/>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 y="4974336"/>
            <a:ext cx="1655063" cy="219456"/>
          </a:xfrm>
          <a:prstGeom prst="rect">
            <a:avLst/>
          </a:prstGeom>
          <a:noFill/>
        </p:spPr>
        <p:txBody>
          <a:bodyPr wrap="square" lIns="0" rIns="0" tIns="0" bIns="0">
            <a:spAutoFit/>
          </a:bodyPr>
          <a:lstStyle/>
          <a:p>
            <a:pPr algn="l"/>
            <a:r>
              <a:rPr sz="950" b="0">
                <a:solidFill>
                  <a:srgbClr val="0B1220"/>
                </a:solidFill>
                <a:latin typeface="Inter"/>
              </a:rPr>
              <a:t>Tendencial</a:t>
            </a:r>
          </a:p>
        </p:txBody>
      </p:sp>
      <p:sp>
        <p:nvSpPr>
          <p:cNvPr id="34" name="TextBox 33"/>
          <p:cNvSpPr txBox="1"/>
          <p:nvPr/>
        </p:nvSpPr>
        <p:spPr>
          <a:xfrm>
            <a:off x="2304288" y="4974336"/>
            <a:ext cx="1289304" cy="219456"/>
          </a:xfrm>
          <a:prstGeom prst="rect">
            <a:avLst/>
          </a:prstGeom>
          <a:noFill/>
        </p:spPr>
        <p:txBody>
          <a:bodyPr wrap="square" lIns="0" rIns="0" tIns="0" bIns="0">
            <a:spAutoFit/>
          </a:bodyPr>
          <a:lstStyle/>
          <a:p>
            <a:pPr algn="ctr"/>
            <a:r>
              <a:rPr sz="950" b="0">
                <a:solidFill>
                  <a:srgbClr val="0B1220"/>
                </a:solidFill>
                <a:latin typeface="Inter"/>
              </a:rPr>
              <a:t>R$ 71 mil</a:t>
            </a:r>
          </a:p>
        </p:txBody>
      </p:sp>
      <p:sp>
        <p:nvSpPr>
          <p:cNvPr id="35" name="TextBox 34"/>
          <p:cNvSpPr txBox="1"/>
          <p:nvPr/>
        </p:nvSpPr>
        <p:spPr>
          <a:xfrm>
            <a:off x="3813048" y="4974336"/>
            <a:ext cx="1380744" cy="219456"/>
          </a:xfrm>
          <a:prstGeom prst="rect">
            <a:avLst/>
          </a:prstGeom>
          <a:noFill/>
        </p:spPr>
        <p:txBody>
          <a:bodyPr wrap="square" lIns="0" rIns="0" tIns="0" bIns="0">
            <a:spAutoFit/>
          </a:bodyPr>
          <a:lstStyle/>
          <a:p>
            <a:pPr algn="ctr"/>
            <a:r>
              <a:rPr sz="950" b="0">
                <a:solidFill>
                  <a:srgbClr val="0B1220"/>
                </a:solidFill>
                <a:latin typeface="Inter"/>
              </a:rPr>
              <a:t>R$ 284 mil</a:t>
            </a:r>
          </a:p>
        </p:txBody>
      </p:sp>
      <p:sp>
        <p:nvSpPr>
          <p:cNvPr id="36" name="TextBox 35"/>
          <p:cNvSpPr txBox="1"/>
          <p:nvPr/>
        </p:nvSpPr>
        <p:spPr>
          <a:xfrm>
            <a:off x="5413248" y="4974336"/>
            <a:ext cx="1426464" cy="219456"/>
          </a:xfrm>
          <a:prstGeom prst="rect">
            <a:avLst/>
          </a:prstGeom>
          <a:noFill/>
        </p:spPr>
        <p:txBody>
          <a:bodyPr wrap="square" lIns="0" rIns="0" tIns="0" bIns="0">
            <a:spAutoFit/>
          </a:bodyPr>
          <a:lstStyle/>
          <a:p>
            <a:pPr algn="ctr"/>
            <a:r>
              <a:rPr sz="950" b="0">
                <a:solidFill>
                  <a:srgbClr val="0B1220"/>
                </a:solidFill>
                <a:latin typeface="Inter"/>
              </a:rPr>
              <a:t>R$ 744 mil</a:t>
            </a:r>
          </a:p>
        </p:txBody>
      </p:sp>
      <p:sp>
        <p:nvSpPr>
          <p:cNvPr id="37" name="TextBox 36"/>
          <p:cNvSpPr txBox="1"/>
          <p:nvPr/>
        </p:nvSpPr>
        <p:spPr>
          <a:xfrm>
            <a:off x="7059168" y="4974336"/>
            <a:ext cx="1563624" cy="219456"/>
          </a:xfrm>
          <a:prstGeom prst="rect">
            <a:avLst/>
          </a:prstGeom>
          <a:noFill/>
        </p:spPr>
        <p:txBody>
          <a:bodyPr wrap="square" lIns="0" rIns="0" tIns="0" bIns="0">
            <a:spAutoFit/>
          </a:bodyPr>
          <a:lstStyle/>
          <a:p>
            <a:pPr algn="ctr"/>
            <a:r>
              <a:rPr sz="950" b="0">
                <a:solidFill>
                  <a:srgbClr val="0B1220"/>
                </a:solidFill>
                <a:latin typeface="Inter"/>
              </a:rPr>
              <a:t>R$ 1,10 mi</a:t>
            </a:r>
          </a:p>
        </p:txBody>
      </p:sp>
      <p:sp>
        <p:nvSpPr>
          <p:cNvPr id="38" name="TextBox 37"/>
          <p:cNvSpPr txBox="1"/>
          <p:nvPr/>
        </p:nvSpPr>
        <p:spPr>
          <a:xfrm>
            <a:off x="8842247" y="4974336"/>
            <a:ext cx="1197864" cy="219456"/>
          </a:xfrm>
          <a:prstGeom prst="rect">
            <a:avLst/>
          </a:prstGeom>
          <a:noFill/>
        </p:spPr>
        <p:txBody>
          <a:bodyPr wrap="square" lIns="0" rIns="0" tIns="0" bIns="0">
            <a:spAutoFit/>
          </a:bodyPr>
          <a:lstStyle/>
          <a:p>
            <a:pPr algn="ctr"/>
            <a:r>
              <a:rPr sz="950" b="0">
                <a:solidFill>
                  <a:srgbClr val="0B1220"/>
                </a:solidFill>
                <a:latin typeface="Inter"/>
              </a:rPr>
              <a:t>5.508</a:t>
            </a:r>
          </a:p>
        </p:txBody>
      </p:sp>
      <p:sp>
        <p:nvSpPr>
          <p:cNvPr id="39" name="TextBox 38"/>
          <p:cNvSpPr txBox="1"/>
          <p:nvPr/>
        </p:nvSpPr>
        <p:spPr>
          <a:xfrm>
            <a:off x="10259567" y="4974336"/>
            <a:ext cx="1472184" cy="219456"/>
          </a:xfrm>
          <a:prstGeom prst="rect">
            <a:avLst/>
          </a:prstGeom>
          <a:noFill/>
        </p:spPr>
        <p:txBody>
          <a:bodyPr wrap="square" lIns="0" rIns="0" tIns="0" bIns="0">
            <a:spAutoFit/>
          </a:bodyPr>
          <a:lstStyle/>
          <a:p>
            <a:pPr algn="ctr"/>
            <a:r>
              <a:rPr sz="950" b="0">
                <a:solidFill>
                  <a:srgbClr val="0B1220"/>
                </a:solidFill>
                <a:latin typeface="Inter"/>
              </a:rPr>
              <a:t>R$ 1,95 mi</a:t>
            </a:r>
          </a:p>
        </p:txBody>
      </p:sp>
      <p:sp>
        <p:nvSpPr>
          <p:cNvPr id="40" name="Rectangle 39"/>
          <p:cNvSpPr/>
          <p:nvPr/>
        </p:nvSpPr>
        <p:spPr>
          <a:xfrm>
            <a:off x="320040" y="5239512"/>
            <a:ext cx="11521440" cy="365760"/>
          </a:xfrm>
          <a:prstGeom prst="rect">
            <a:avLst/>
          </a:prstGeom>
          <a:solidFill>
            <a:srgbClr val="FFFFFF"/>
          </a:solidFill>
          <a:ln w="9525">
            <a:solidFill>
              <a:srgbClr val="E3E6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29768" y="5340096"/>
            <a:ext cx="1655063" cy="219456"/>
          </a:xfrm>
          <a:prstGeom prst="rect">
            <a:avLst/>
          </a:prstGeom>
          <a:noFill/>
        </p:spPr>
        <p:txBody>
          <a:bodyPr wrap="square" lIns="0" rIns="0" tIns="0" bIns="0">
            <a:spAutoFit/>
          </a:bodyPr>
          <a:lstStyle/>
          <a:p>
            <a:pPr algn="l"/>
            <a:r>
              <a:rPr sz="950" b="0">
                <a:solidFill>
                  <a:srgbClr val="1B2435"/>
                </a:solidFill>
                <a:latin typeface="Inter"/>
              </a:rPr>
              <a:t>Otimista</a:t>
            </a:r>
          </a:p>
        </p:txBody>
      </p:sp>
      <p:sp>
        <p:nvSpPr>
          <p:cNvPr id="42" name="TextBox 41"/>
          <p:cNvSpPr txBox="1"/>
          <p:nvPr/>
        </p:nvSpPr>
        <p:spPr>
          <a:xfrm>
            <a:off x="2304288" y="5340096"/>
            <a:ext cx="1289304" cy="219456"/>
          </a:xfrm>
          <a:prstGeom prst="rect">
            <a:avLst/>
          </a:prstGeom>
          <a:noFill/>
        </p:spPr>
        <p:txBody>
          <a:bodyPr wrap="square" lIns="0" rIns="0" tIns="0" bIns="0">
            <a:spAutoFit/>
          </a:bodyPr>
          <a:lstStyle/>
          <a:p>
            <a:pPr algn="ctr"/>
            <a:r>
              <a:rPr sz="950" b="0">
                <a:solidFill>
                  <a:srgbClr val="1B2435"/>
                </a:solidFill>
                <a:latin typeface="Inter"/>
              </a:rPr>
              <a:t>R$ 113 mil</a:t>
            </a:r>
          </a:p>
        </p:txBody>
      </p:sp>
      <p:sp>
        <p:nvSpPr>
          <p:cNvPr id="43" name="TextBox 42"/>
          <p:cNvSpPr txBox="1"/>
          <p:nvPr/>
        </p:nvSpPr>
        <p:spPr>
          <a:xfrm>
            <a:off x="3813048" y="5340096"/>
            <a:ext cx="1380744" cy="219456"/>
          </a:xfrm>
          <a:prstGeom prst="rect">
            <a:avLst/>
          </a:prstGeom>
          <a:noFill/>
        </p:spPr>
        <p:txBody>
          <a:bodyPr wrap="square" lIns="0" rIns="0" tIns="0" bIns="0">
            <a:spAutoFit/>
          </a:bodyPr>
          <a:lstStyle/>
          <a:p>
            <a:pPr algn="ctr"/>
            <a:r>
              <a:rPr sz="950" b="0">
                <a:solidFill>
                  <a:srgbClr val="1B2435"/>
                </a:solidFill>
                <a:latin typeface="Inter"/>
              </a:rPr>
              <a:t>R$ 455 mil</a:t>
            </a:r>
          </a:p>
        </p:txBody>
      </p:sp>
      <p:sp>
        <p:nvSpPr>
          <p:cNvPr id="44" name="TextBox 43"/>
          <p:cNvSpPr txBox="1"/>
          <p:nvPr/>
        </p:nvSpPr>
        <p:spPr>
          <a:xfrm>
            <a:off x="5413248" y="5340096"/>
            <a:ext cx="1426464" cy="219456"/>
          </a:xfrm>
          <a:prstGeom prst="rect">
            <a:avLst/>
          </a:prstGeom>
          <a:noFill/>
        </p:spPr>
        <p:txBody>
          <a:bodyPr wrap="square" lIns="0" rIns="0" tIns="0" bIns="0">
            <a:spAutoFit/>
          </a:bodyPr>
          <a:lstStyle/>
          <a:p>
            <a:pPr algn="ctr"/>
            <a:r>
              <a:rPr sz="950" b="0">
                <a:solidFill>
                  <a:srgbClr val="1B2435"/>
                </a:solidFill>
                <a:latin typeface="Inter"/>
              </a:rPr>
              <a:t>R$ 1,27 mi</a:t>
            </a:r>
          </a:p>
        </p:txBody>
      </p:sp>
      <p:sp>
        <p:nvSpPr>
          <p:cNvPr id="45" name="TextBox 44"/>
          <p:cNvSpPr txBox="1"/>
          <p:nvPr/>
        </p:nvSpPr>
        <p:spPr>
          <a:xfrm>
            <a:off x="7059168" y="5340096"/>
            <a:ext cx="1563624" cy="219456"/>
          </a:xfrm>
          <a:prstGeom prst="rect">
            <a:avLst/>
          </a:prstGeom>
          <a:noFill/>
        </p:spPr>
        <p:txBody>
          <a:bodyPr wrap="square" lIns="0" rIns="0" tIns="0" bIns="0">
            <a:spAutoFit/>
          </a:bodyPr>
          <a:lstStyle/>
          <a:p>
            <a:pPr algn="ctr"/>
            <a:r>
              <a:rPr sz="950" b="0">
                <a:solidFill>
                  <a:srgbClr val="1B2435"/>
                </a:solidFill>
                <a:latin typeface="Inter"/>
              </a:rPr>
              <a:t>R$ 1,83 mi</a:t>
            </a:r>
          </a:p>
        </p:txBody>
      </p:sp>
      <p:sp>
        <p:nvSpPr>
          <p:cNvPr id="46" name="TextBox 45"/>
          <p:cNvSpPr txBox="1"/>
          <p:nvPr/>
        </p:nvSpPr>
        <p:spPr>
          <a:xfrm>
            <a:off x="8842247" y="5340096"/>
            <a:ext cx="1197864" cy="219456"/>
          </a:xfrm>
          <a:prstGeom prst="rect">
            <a:avLst/>
          </a:prstGeom>
          <a:noFill/>
        </p:spPr>
        <p:txBody>
          <a:bodyPr wrap="square" lIns="0" rIns="0" tIns="0" bIns="0">
            <a:spAutoFit/>
          </a:bodyPr>
          <a:lstStyle/>
          <a:p>
            <a:pPr algn="ctr"/>
            <a:r>
              <a:rPr sz="950" b="0">
                <a:solidFill>
                  <a:srgbClr val="1B2435"/>
                </a:solidFill>
                <a:latin typeface="Inter"/>
              </a:rPr>
              <a:t>9.180</a:t>
            </a:r>
          </a:p>
        </p:txBody>
      </p:sp>
      <p:sp>
        <p:nvSpPr>
          <p:cNvPr id="47" name="TextBox 46"/>
          <p:cNvSpPr txBox="1"/>
          <p:nvPr/>
        </p:nvSpPr>
        <p:spPr>
          <a:xfrm>
            <a:off x="10259567" y="5340096"/>
            <a:ext cx="1472184" cy="219456"/>
          </a:xfrm>
          <a:prstGeom prst="rect">
            <a:avLst/>
          </a:prstGeom>
          <a:noFill/>
        </p:spPr>
        <p:txBody>
          <a:bodyPr wrap="square" lIns="0" rIns="0" tIns="0" bIns="0">
            <a:spAutoFit/>
          </a:bodyPr>
          <a:lstStyle/>
          <a:p>
            <a:pPr algn="ctr"/>
            <a:r>
              <a:rPr sz="950" b="0">
                <a:solidFill>
                  <a:srgbClr val="1B2435"/>
                </a:solidFill>
                <a:latin typeface="Inter"/>
              </a:rPr>
              <a:t>R$ 3,27 mi</a:t>
            </a:r>
          </a:p>
        </p:txBody>
      </p:sp>
      <p:sp>
        <p:nvSpPr>
          <p:cNvPr id="48" name="Rounded Rectangle 47"/>
          <p:cNvSpPr/>
          <p:nvPr/>
        </p:nvSpPr>
        <p:spPr>
          <a:xfrm>
            <a:off x="320040" y="5669280"/>
            <a:ext cx="11521440" cy="411480"/>
          </a:xfrm>
          <a:prstGeom prst="roundRect">
            <a:avLst>
              <a:gd name="adj" fmla="val 8000"/>
            </a:avLst>
          </a:prstGeom>
          <a:solidFill>
            <a:srgbClr val="FDF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94360" y="5769864"/>
            <a:ext cx="10972800" cy="256032"/>
          </a:xfrm>
          <a:prstGeom prst="rect">
            <a:avLst/>
          </a:prstGeom>
          <a:noFill/>
        </p:spPr>
        <p:txBody>
          <a:bodyPr wrap="square" lIns="0" rIns="0" tIns="0" bIns="0">
            <a:spAutoFit/>
          </a:bodyPr>
          <a:lstStyle/>
          <a:p>
            <a:pPr algn="l"/>
            <a:r>
              <a:rPr sz="1050" b="1">
                <a:solidFill>
                  <a:srgbClr val="0B1220"/>
                </a:solidFill>
                <a:latin typeface="Inter SemiBold"/>
              </a:rPr>
              <a:t>Em todos os cenários a economia devolvida aos alunos é quase o dobro da receita da empresa.</a:t>
            </a:r>
          </a:p>
        </p:txBody>
      </p:sp>
      <p:sp>
        <p:nvSpPr>
          <p:cNvPr id="50" name="TextBox 4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51" name="TextBox 5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09  </a:t>
            </a:r>
            <a:r>
              <a:rPr sz="2300" b="1">
                <a:solidFill>
                  <a:srgbClr val="0B1220"/>
                </a:solidFill>
                <a:latin typeface="Sora"/>
              </a:rPr>
              <a:t>Sobraram três variáveis — e a dominante é nossa</a:t>
            </a:r>
          </a:p>
        </p:txBody>
      </p:sp>
      <p:sp>
        <p:nvSpPr>
          <p:cNvPr id="3" name="TextBox 2"/>
          <p:cNvSpPr txBox="1"/>
          <p:nvPr/>
        </p:nvSpPr>
        <p:spPr>
          <a:xfrm>
            <a:off x="640080" y="960120"/>
            <a:ext cx="10881360" cy="685800"/>
          </a:xfrm>
          <a:prstGeom prst="rect">
            <a:avLst/>
          </a:prstGeom>
          <a:noFill/>
        </p:spPr>
        <p:txBody>
          <a:bodyPr wrap="square" lIns="0" rIns="0" tIns="0" bIns="0">
            <a:spAutoFit/>
          </a:bodyPr>
          <a:lstStyle/>
          <a:p>
            <a:pPr algn="l">
              <a:lnSpc>
                <a:spcPct val="125000"/>
              </a:lnSpc>
            </a:pPr>
            <a:r>
              <a:rPr sz="1500" b="0">
                <a:solidFill>
                  <a:srgbClr val="1B2435"/>
                </a:solidFill>
                <a:latin typeface="Inter"/>
              </a:rPr>
              <a:t>Cada variável movida isoladamente, com as demais no cenário tendencial. Base: R$ 1,10 mi em 3 anos.</a:t>
            </a:r>
          </a:p>
        </p:txBody>
      </p:sp>
      <p:sp>
        <p:nvSpPr>
          <p:cNvPr id="4" name="Rectangle 3"/>
          <p:cNvSpPr/>
          <p:nvPr/>
        </p:nvSpPr>
        <p:spPr>
          <a:xfrm>
            <a:off x="5760720" y="2240279"/>
            <a:ext cx="10972" cy="3017520"/>
          </a:xfrm>
          <a:prstGeom prst="rect">
            <a:avLst/>
          </a:prstGeom>
          <a:solidFill>
            <a:srgbClr val="E3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56616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760720" y="2459736"/>
            <a:ext cx="2194560" cy="384048"/>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20040" y="2532888"/>
            <a:ext cx="5257800" cy="256032"/>
          </a:xfrm>
          <a:prstGeom prst="rect">
            <a:avLst/>
          </a:prstGeom>
          <a:noFill/>
        </p:spPr>
        <p:txBody>
          <a:bodyPr wrap="square" lIns="0" rIns="0" tIns="0" bIns="0">
            <a:spAutoFit/>
          </a:bodyPr>
          <a:lstStyle/>
          <a:p>
            <a:pPr algn="l"/>
            <a:r>
              <a:rPr sz="1050" b="1">
                <a:solidFill>
                  <a:srgbClr val="0B1220"/>
                </a:solidFill>
                <a:latin typeface="Inter SemiBold"/>
              </a:rPr>
              <a:t>Alunos captados por ano (±30%)</a:t>
            </a:r>
          </a:p>
        </p:txBody>
      </p:sp>
      <p:sp>
        <p:nvSpPr>
          <p:cNvPr id="8" name="TextBox 7"/>
          <p:cNvSpPr txBox="1"/>
          <p:nvPr/>
        </p:nvSpPr>
        <p:spPr>
          <a:xfrm>
            <a:off x="8229600" y="2532888"/>
            <a:ext cx="2926080" cy="256032"/>
          </a:xfrm>
          <a:prstGeom prst="rect">
            <a:avLst/>
          </a:prstGeom>
          <a:noFill/>
        </p:spPr>
        <p:txBody>
          <a:bodyPr wrap="square" lIns="0" rIns="0" tIns="0" bIns="0">
            <a:spAutoFit/>
          </a:bodyPr>
          <a:lstStyle/>
          <a:p>
            <a:pPr algn="l"/>
            <a:r>
              <a:rPr sz="1000" b="1">
                <a:solidFill>
                  <a:srgbClr val="0B1220"/>
                </a:solidFill>
                <a:latin typeface="Inter SemiBold"/>
              </a:rPr>
              <a:t>−30,0% / +30,0%</a:t>
            </a:r>
          </a:p>
        </p:txBody>
      </p:sp>
      <p:sp>
        <p:nvSpPr>
          <p:cNvPr id="9" name="Rectangle 8"/>
          <p:cNvSpPr/>
          <p:nvPr/>
        </p:nvSpPr>
        <p:spPr>
          <a:xfrm>
            <a:off x="3924604"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760720" y="3419856"/>
            <a:ext cx="1836115"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20040" y="3493008"/>
            <a:ext cx="5257800" cy="256032"/>
          </a:xfrm>
          <a:prstGeom prst="rect">
            <a:avLst/>
          </a:prstGeom>
          <a:noFill/>
        </p:spPr>
        <p:txBody>
          <a:bodyPr wrap="square" lIns="0" rIns="0" tIns="0" bIns="0">
            <a:spAutoFit/>
          </a:bodyPr>
          <a:lstStyle/>
          <a:p>
            <a:pPr algn="l"/>
            <a:r>
              <a:rPr sz="1050" b="0">
                <a:solidFill>
                  <a:srgbClr val="1B2435"/>
                </a:solidFill>
                <a:latin typeface="Inter"/>
              </a:rPr>
              <a:t>Taxa de serviço (R$ 50 / R$ 150)</a:t>
            </a:r>
          </a:p>
        </p:txBody>
      </p:sp>
      <p:sp>
        <p:nvSpPr>
          <p:cNvPr id="12" name="TextBox 11"/>
          <p:cNvSpPr txBox="1"/>
          <p:nvPr/>
        </p:nvSpPr>
        <p:spPr>
          <a:xfrm>
            <a:off x="8229600" y="3493008"/>
            <a:ext cx="2926080" cy="256032"/>
          </a:xfrm>
          <a:prstGeom prst="rect">
            <a:avLst/>
          </a:prstGeom>
          <a:noFill/>
        </p:spPr>
        <p:txBody>
          <a:bodyPr wrap="square" lIns="0" rIns="0" tIns="0" bIns="0">
            <a:spAutoFit/>
          </a:bodyPr>
          <a:lstStyle/>
          <a:p>
            <a:pPr algn="l"/>
            <a:r>
              <a:rPr sz="1000" b="0">
                <a:solidFill>
                  <a:srgbClr val="6B7280"/>
                </a:solidFill>
                <a:latin typeface="Inter"/>
              </a:rPr>
              <a:t>−25,1% / +25,1%</a:t>
            </a:r>
          </a:p>
        </p:txBody>
      </p:sp>
      <p:sp>
        <p:nvSpPr>
          <p:cNvPr id="13" name="Rectangle 12"/>
          <p:cNvSpPr/>
          <p:nvPr/>
        </p:nvSpPr>
        <p:spPr>
          <a:xfrm>
            <a:off x="4663440" y="4379975"/>
            <a:ext cx="1097280"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760720" y="4379975"/>
            <a:ext cx="2106777" cy="384048"/>
          </a:xfrm>
          <a:prstGeom prst="rect">
            <a:avLst/>
          </a:prstGeom>
          <a:solidFill>
            <a:srgbClr val="C9C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0040" y="4453127"/>
            <a:ext cx="5257800" cy="256032"/>
          </a:xfrm>
          <a:prstGeom prst="rect">
            <a:avLst/>
          </a:prstGeom>
          <a:noFill/>
        </p:spPr>
        <p:txBody>
          <a:bodyPr wrap="square" lIns="0" rIns="0" tIns="0" bIns="0">
            <a:spAutoFit/>
          </a:bodyPr>
          <a:lstStyle/>
          <a:p>
            <a:pPr algn="l"/>
            <a:r>
              <a:rPr sz="1050" b="0">
                <a:solidFill>
                  <a:srgbClr val="1B2435"/>
                </a:solidFill>
                <a:latin typeface="Inter"/>
              </a:rPr>
              <a:t>Comissão (uma faixa abaixo / acima)</a:t>
            </a:r>
          </a:p>
        </p:txBody>
      </p:sp>
      <p:sp>
        <p:nvSpPr>
          <p:cNvPr id="16" name="TextBox 15"/>
          <p:cNvSpPr txBox="1"/>
          <p:nvPr/>
        </p:nvSpPr>
        <p:spPr>
          <a:xfrm>
            <a:off x="8229600" y="4453127"/>
            <a:ext cx="2926080" cy="256032"/>
          </a:xfrm>
          <a:prstGeom prst="rect">
            <a:avLst/>
          </a:prstGeom>
          <a:noFill/>
        </p:spPr>
        <p:txBody>
          <a:bodyPr wrap="square" lIns="0" rIns="0" tIns="0" bIns="0">
            <a:spAutoFit/>
          </a:bodyPr>
          <a:lstStyle/>
          <a:p>
            <a:pPr algn="l"/>
            <a:r>
              <a:rPr sz="1000" b="0">
                <a:solidFill>
                  <a:srgbClr val="6B7280"/>
                </a:solidFill>
                <a:latin typeface="Inter"/>
              </a:rPr>
              <a:t>−15,0% / +28,8%</a:t>
            </a:r>
          </a:p>
        </p:txBody>
      </p:sp>
      <p:sp>
        <p:nvSpPr>
          <p:cNvPr id="17" name="TextBox 16"/>
          <p:cNvSpPr txBox="1"/>
          <p:nvPr/>
        </p:nvSpPr>
        <p:spPr>
          <a:xfrm>
            <a:off x="5212080" y="5349240"/>
            <a:ext cx="1097280" cy="201168"/>
          </a:xfrm>
          <a:prstGeom prst="rect">
            <a:avLst/>
          </a:prstGeom>
          <a:noFill/>
        </p:spPr>
        <p:txBody>
          <a:bodyPr wrap="square" lIns="0" rIns="0" tIns="0" bIns="0">
            <a:spAutoFit/>
          </a:bodyPr>
          <a:lstStyle/>
          <a:p>
            <a:pPr algn="ctr"/>
            <a:r>
              <a:rPr sz="800" b="0">
                <a:solidFill>
                  <a:srgbClr val="6B7280"/>
                </a:solidFill>
                <a:latin typeface="Inter"/>
              </a:rPr>
              <a:t>base</a:t>
            </a:r>
          </a:p>
        </p:txBody>
      </p:sp>
      <p:sp>
        <p:nvSpPr>
          <p:cNvPr id="18" name="Rounded Rectangle 17"/>
          <p:cNvSpPr/>
          <p:nvPr/>
        </p:nvSpPr>
        <p:spPr>
          <a:xfrm>
            <a:off x="320040" y="5715000"/>
            <a:ext cx="11521440" cy="731520"/>
          </a:xfrm>
          <a:prstGeom prst="roundRect">
            <a:avLst>
              <a:gd name="adj" fmla="val 6000"/>
            </a:avLst>
          </a:prstGeom>
          <a:solidFill>
            <a:srgbClr val="1B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5870448"/>
            <a:ext cx="10972800" cy="475488"/>
          </a:xfrm>
          <a:prstGeom prst="rect">
            <a:avLst/>
          </a:prstGeom>
          <a:noFill/>
        </p:spPr>
        <p:txBody>
          <a:bodyPr wrap="square" lIns="0" rIns="0" tIns="0" bIns="0">
            <a:spAutoFit/>
          </a:bodyPr>
          <a:lstStyle/>
          <a:p>
            <a:pPr algn="l">
              <a:lnSpc>
                <a:spcPct val="130000"/>
              </a:lnSpc>
            </a:pPr>
            <a:r>
              <a:rPr sz="1050" b="0">
                <a:solidFill>
                  <a:srgbClr val="E6E8F0"/>
                </a:solidFill>
                <a:latin typeface="Inter"/>
              </a:rPr>
              <a:t>As versões anteriores tinham cinco variáveis, duas delas frágeis: tamanho da turma e adesão dentro dela. As duas saíram ao adotar o aluno captado como unidade. O que sobrou é direto de defender — e a variável dominante é a que o grupo controla.</a:t>
            </a:r>
          </a:p>
        </p:txBody>
      </p:sp>
      <p:sp>
        <p:nvSpPr>
          <p:cNvPr id="20" name="TextBox 19"/>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9AA1AD"/>
                </a:solidFill>
                <a:latin typeface="Inter"/>
              </a:rPr>
              <a:t>GRUPO KAIRÓS · BUSINESS DESIGN · SPRINT 04</a:t>
            </a:r>
          </a:p>
        </p:txBody>
      </p:sp>
      <p:sp>
        <p:nvSpPr>
          <p:cNvPr id="21" name="TextBox 20"/>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9AA1AD"/>
                </a:solidFill>
                <a:latin typeface="Inter"/>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320040" y="201168"/>
            <a:ext cx="11521440" cy="502920"/>
          </a:xfrm>
          <a:prstGeom prst="rect">
            <a:avLst/>
          </a:prstGeom>
          <a:noFill/>
        </p:spPr>
        <p:txBody>
          <a:bodyPr wrap="square" lIns="0" rIns="0" tIns="0" bIns="0">
            <a:spAutoFit/>
          </a:bodyPr>
          <a:lstStyle/>
          <a:p>
            <a:pPr algn="l"/>
            <a:r>
              <a:rPr sz="2300" b="1">
                <a:solidFill>
                  <a:srgbClr val="F2B705"/>
                </a:solidFill>
                <a:latin typeface="Sora"/>
              </a:rPr>
              <a:t>10  </a:t>
            </a:r>
            <a:r>
              <a:rPr sz="2300" b="1">
                <a:solidFill>
                  <a:srgbClr val="FFFFFF"/>
                </a:solidFill>
                <a:latin typeface="Sora"/>
              </a:rPr>
              <a:t>O primeiro ano é o desafio</a:t>
            </a:r>
          </a:p>
        </p:txBody>
      </p:sp>
      <p:sp>
        <p:nvSpPr>
          <p:cNvPr id="3" name="TextBox 2"/>
          <p:cNvSpPr txBox="1"/>
          <p:nvPr/>
        </p:nvSpPr>
        <p:spPr>
          <a:xfrm>
            <a:off x="1097280" y="1234440"/>
            <a:ext cx="9966960" cy="457200"/>
          </a:xfrm>
          <a:prstGeom prst="rect">
            <a:avLst/>
          </a:prstGeom>
          <a:noFill/>
        </p:spPr>
        <p:txBody>
          <a:bodyPr wrap="square" lIns="0" rIns="0" tIns="0" bIns="0">
            <a:spAutoFit/>
          </a:bodyPr>
          <a:lstStyle/>
          <a:p>
            <a:pPr algn="ctr"/>
            <a:r>
              <a:rPr sz="1300" b="0">
                <a:solidFill>
                  <a:srgbClr val="E6E8F0"/>
                </a:solidFill>
                <a:latin typeface="Inter"/>
              </a:rPr>
              <a:t>Em 3 anos, no cenário tendencial</a:t>
            </a:r>
          </a:p>
        </p:txBody>
      </p:sp>
      <p:sp>
        <p:nvSpPr>
          <p:cNvPr id="4" name="TextBox 3"/>
          <p:cNvSpPr txBox="1"/>
          <p:nvPr/>
        </p:nvSpPr>
        <p:spPr>
          <a:xfrm>
            <a:off x="1097280" y="1645920"/>
            <a:ext cx="9966960" cy="731520"/>
          </a:xfrm>
          <a:prstGeom prst="rect">
            <a:avLst/>
          </a:prstGeom>
          <a:noFill/>
        </p:spPr>
        <p:txBody>
          <a:bodyPr wrap="square" lIns="0" rIns="0" tIns="0" bIns="0">
            <a:spAutoFit/>
          </a:bodyPr>
          <a:lstStyle/>
          <a:p>
            <a:pPr algn="ctr"/>
            <a:r>
              <a:rPr sz="2500" b="1">
                <a:solidFill>
                  <a:srgbClr val="F2B705"/>
                </a:solidFill>
                <a:latin typeface="Sora"/>
              </a:rPr>
              <a:t>R$ 1,10 mi</a:t>
            </a:r>
            <a:r>
              <a:rPr sz="2500" b="1">
                <a:solidFill>
                  <a:srgbClr val="FFFFFF"/>
                </a:solidFill>
                <a:latin typeface="Sora"/>
              </a:rPr>
              <a:t> de receita — e um ano 1 de </a:t>
            </a:r>
            <a:r>
              <a:rPr sz="2500" b="1">
                <a:solidFill>
                  <a:srgbClr val="F2B705"/>
                </a:solidFill>
                <a:latin typeface="Sora"/>
              </a:rPr>
              <a:t>R$ 71 mil</a:t>
            </a:r>
          </a:p>
        </p:txBody>
      </p:sp>
      <p:sp>
        <p:nvSpPr>
          <p:cNvPr id="5" name="TextBox 4"/>
          <p:cNvSpPr txBox="1"/>
          <p:nvPr/>
        </p:nvSpPr>
        <p:spPr>
          <a:xfrm>
            <a:off x="1097280" y="2331720"/>
            <a:ext cx="9966960" cy="365760"/>
          </a:xfrm>
          <a:prstGeom prst="rect">
            <a:avLst/>
          </a:prstGeom>
          <a:noFill/>
        </p:spPr>
        <p:txBody>
          <a:bodyPr wrap="square" lIns="0" rIns="0" tIns="0" bIns="0">
            <a:spAutoFit/>
          </a:bodyPr>
          <a:lstStyle/>
          <a:p>
            <a:pPr algn="ctr"/>
            <a:r>
              <a:rPr sz="1500" b="1">
                <a:solidFill>
                  <a:srgbClr val="FFFFFF"/>
                </a:solidFill>
                <a:latin typeface="Sora"/>
              </a:rPr>
              <a:t>menos de R$ 6 mil por mês: não paga equipe</a:t>
            </a:r>
          </a:p>
        </p:txBody>
      </p:sp>
      <p:sp>
        <p:nvSpPr>
          <p:cNvPr id="6" name="Rounded Rectangle 5"/>
          <p:cNvSpPr/>
          <p:nvPr/>
        </p:nvSpPr>
        <p:spPr>
          <a:xfrm>
            <a:off x="32004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3200400"/>
            <a:ext cx="2395728" cy="502920"/>
          </a:xfrm>
          <a:prstGeom prst="rect">
            <a:avLst/>
          </a:prstGeom>
          <a:noFill/>
        </p:spPr>
        <p:txBody>
          <a:bodyPr wrap="square" lIns="0" rIns="0" tIns="0" bIns="0">
            <a:spAutoFit/>
          </a:bodyPr>
          <a:lstStyle/>
          <a:p>
            <a:pPr algn="ctr"/>
            <a:r>
              <a:rPr sz="2300" b="1">
                <a:solidFill>
                  <a:srgbClr val="F2B705"/>
                </a:solidFill>
                <a:latin typeface="Sora"/>
              </a:rPr>
              <a:t>5.508</a:t>
            </a:r>
          </a:p>
        </p:txBody>
      </p:sp>
      <p:sp>
        <p:nvSpPr>
          <p:cNvPr id="8" name="TextBox 7"/>
          <p:cNvSpPr txBox="1"/>
          <p:nvPr/>
        </p:nvSpPr>
        <p:spPr>
          <a:xfrm>
            <a:off x="502920" y="3730752"/>
            <a:ext cx="2395728" cy="274320"/>
          </a:xfrm>
          <a:prstGeom prst="rect">
            <a:avLst/>
          </a:prstGeom>
          <a:noFill/>
        </p:spPr>
        <p:txBody>
          <a:bodyPr wrap="square" lIns="0" rIns="0" tIns="0" bIns="0">
            <a:spAutoFit/>
          </a:bodyPr>
          <a:lstStyle/>
          <a:p>
            <a:pPr algn="ctr"/>
            <a:r>
              <a:rPr sz="1000" b="0">
                <a:solidFill>
                  <a:srgbClr val="E6E8F0"/>
                </a:solidFill>
                <a:latin typeface="Inter"/>
              </a:rPr>
              <a:t>viagens em 3 anos</a:t>
            </a:r>
          </a:p>
        </p:txBody>
      </p:sp>
      <p:sp>
        <p:nvSpPr>
          <p:cNvPr id="9" name="Rounded Rectangle 8"/>
          <p:cNvSpPr/>
          <p:nvPr/>
        </p:nvSpPr>
        <p:spPr>
          <a:xfrm>
            <a:off x="3246120"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3200400"/>
            <a:ext cx="2395728" cy="502920"/>
          </a:xfrm>
          <a:prstGeom prst="rect">
            <a:avLst/>
          </a:prstGeom>
          <a:noFill/>
        </p:spPr>
        <p:txBody>
          <a:bodyPr wrap="square" lIns="0" rIns="0" tIns="0" bIns="0">
            <a:spAutoFit/>
          </a:bodyPr>
          <a:lstStyle/>
          <a:p>
            <a:pPr algn="ctr"/>
            <a:r>
              <a:rPr sz="2300" b="1">
                <a:solidFill>
                  <a:srgbClr val="F2B705"/>
                </a:solidFill>
                <a:latin typeface="Sora"/>
              </a:rPr>
              <a:t>R$ 1,95 mi</a:t>
            </a:r>
          </a:p>
        </p:txBody>
      </p:sp>
      <p:sp>
        <p:nvSpPr>
          <p:cNvPr id="11" name="TextBox 10"/>
          <p:cNvSpPr txBox="1"/>
          <p:nvPr/>
        </p:nvSpPr>
        <p:spPr>
          <a:xfrm>
            <a:off x="3429000" y="3730752"/>
            <a:ext cx="2395728" cy="274320"/>
          </a:xfrm>
          <a:prstGeom prst="rect">
            <a:avLst/>
          </a:prstGeom>
          <a:noFill/>
        </p:spPr>
        <p:txBody>
          <a:bodyPr wrap="square" lIns="0" rIns="0" tIns="0" bIns="0">
            <a:spAutoFit/>
          </a:bodyPr>
          <a:lstStyle/>
          <a:p>
            <a:pPr algn="ctr"/>
            <a:r>
              <a:rPr sz="1000" b="0">
                <a:solidFill>
                  <a:srgbClr val="E6E8F0"/>
                </a:solidFill>
                <a:latin typeface="Inter"/>
              </a:rPr>
              <a:t>devolvidos aos alunos</a:t>
            </a:r>
          </a:p>
        </p:txBody>
      </p:sp>
      <p:sp>
        <p:nvSpPr>
          <p:cNvPr id="12" name="Rounded Rectangle 11"/>
          <p:cNvSpPr/>
          <p:nvPr/>
        </p:nvSpPr>
        <p:spPr>
          <a:xfrm>
            <a:off x="618134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64224" y="3200400"/>
            <a:ext cx="2395728" cy="502920"/>
          </a:xfrm>
          <a:prstGeom prst="rect">
            <a:avLst/>
          </a:prstGeom>
          <a:noFill/>
        </p:spPr>
        <p:txBody>
          <a:bodyPr wrap="square" lIns="0" rIns="0" tIns="0" bIns="0">
            <a:spAutoFit/>
          </a:bodyPr>
          <a:lstStyle/>
          <a:p>
            <a:pPr algn="ctr"/>
            <a:r>
              <a:rPr sz="2300" b="1">
                <a:solidFill>
                  <a:srgbClr val="F2B705"/>
                </a:solidFill>
                <a:latin typeface="Sora"/>
              </a:rPr>
              <a:t>650</a:t>
            </a:r>
          </a:p>
        </p:txBody>
      </p:sp>
      <p:sp>
        <p:nvSpPr>
          <p:cNvPr id="14" name="TextBox 13"/>
          <p:cNvSpPr txBox="1"/>
          <p:nvPr/>
        </p:nvSpPr>
        <p:spPr>
          <a:xfrm>
            <a:off x="6364224" y="3730752"/>
            <a:ext cx="2395728" cy="274320"/>
          </a:xfrm>
          <a:prstGeom prst="rect">
            <a:avLst/>
          </a:prstGeom>
          <a:noFill/>
        </p:spPr>
        <p:txBody>
          <a:bodyPr wrap="square" lIns="0" rIns="0" tIns="0" bIns="0">
            <a:spAutoFit/>
          </a:bodyPr>
          <a:lstStyle/>
          <a:p>
            <a:pPr algn="ctr"/>
            <a:r>
              <a:rPr sz="1000" b="0">
                <a:solidFill>
                  <a:srgbClr val="E6E8F0"/>
                </a:solidFill>
                <a:latin typeface="Inter"/>
              </a:rPr>
              <a:t>alunos ativos no T12</a:t>
            </a:r>
          </a:p>
        </p:txBody>
      </p:sp>
      <p:sp>
        <p:nvSpPr>
          <p:cNvPr id="15" name="Rounded Rectangle 14"/>
          <p:cNvSpPr/>
          <p:nvPr/>
        </p:nvSpPr>
        <p:spPr>
          <a:xfrm>
            <a:off x="9107424" y="3017520"/>
            <a:ext cx="2761488" cy="1143000"/>
          </a:xfrm>
          <a:prstGeom prst="roundRect">
            <a:avLst>
              <a:gd name="adj" fmla="val 6000"/>
            </a:avLst>
          </a:prstGeom>
          <a:solidFill>
            <a:srgbClr val="1B2435"/>
          </a:solidFill>
          <a:ln w="9525">
            <a:solidFill>
              <a:srgbClr val="2A355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90304" y="3200400"/>
            <a:ext cx="2395728" cy="502920"/>
          </a:xfrm>
          <a:prstGeom prst="rect">
            <a:avLst/>
          </a:prstGeom>
          <a:noFill/>
        </p:spPr>
        <p:txBody>
          <a:bodyPr wrap="square" lIns="0" rIns="0" tIns="0" bIns="0">
            <a:spAutoFit/>
          </a:bodyPr>
          <a:lstStyle/>
          <a:p>
            <a:pPr algn="ctr"/>
            <a:r>
              <a:rPr sz="2300" b="1">
                <a:solidFill>
                  <a:srgbClr val="F2B705"/>
                </a:solidFill>
                <a:latin typeface="Sora"/>
              </a:rPr>
              <a:t>6,2%</a:t>
            </a:r>
          </a:p>
        </p:txBody>
      </p:sp>
      <p:sp>
        <p:nvSpPr>
          <p:cNvPr id="17" name="TextBox 16"/>
          <p:cNvSpPr txBox="1"/>
          <p:nvPr/>
        </p:nvSpPr>
        <p:spPr>
          <a:xfrm>
            <a:off x="9290304" y="3730752"/>
            <a:ext cx="2395728" cy="274320"/>
          </a:xfrm>
          <a:prstGeom prst="rect">
            <a:avLst/>
          </a:prstGeom>
          <a:noFill/>
        </p:spPr>
        <p:txBody>
          <a:bodyPr wrap="square" lIns="0" rIns="0" tIns="0" bIns="0">
            <a:spAutoFit/>
          </a:bodyPr>
          <a:lstStyle/>
          <a:p>
            <a:pPr algn="ctr"/>
            <a:r>
              <a:rPr sz="1000" b="0">
                <a:solidFill>
                  <a:srgbClr val="E6E8F0"/>
                </a:solidFill>
                <a:latin typeface="Inter"/>
              </a:rPr>
              <a:t>do SAM alcançado</a:t>
            </a:r>
          </a:p>
        </p:txBody>
      </p:sp>
      <p:sp>
        <p:nvSpPr>
          <p:cNvPr id="18" name="TextBox 17"/>
          <p:cNvSpPr txBox="1"/>
          <p:nvPr/>
        </p:nvSpPr>
        <p:spPr>
          <a:xfrm>
            <a:off x="320040" y="4434840"/>
            <a:ext cx="11521440" cy="274320"/>
          </a:xfrm>
          <a:prstGeom prst="rect">
            <a:avLst/>
          </a:prstGeom>
          <a:noFill/>
        </p:spPr>
        <p:txBody>
          <a:bodyPr wrap="square" lIns="0" rIns="0" tIns="0" bIns="0">
            <a:spAutoFit/>
          </a:bodyPr>
          <a:lstStyle/>
          <a:p>
            <a:pPr algn="ctr"/>
            <a:r>
              <a:rPr sz="850" b="1" spc="150">
                <a:solidFill>
                  <a:srgbClr val="F2B705"/>
                </a:solidFill>
                <a:latin typeface="Inter SemiBold"/>
              </a:rPr>
              <a:t>O ANO 1 NÃO É MEDIDO POR RECEITA</a:t>
            </a:r>
          </a:p>
        </p:txBody>
      </p:sp>
      <p:sp>
        <p:nvSpPr>
          <p:cNvPr id="19" name="TextBox 18"/>
          <p:cNvSpPr txBox="1"/>
          <p:nvPr/>
        </p:nvSpPr>
        <p:spPr>
          <a:xfrm>
            <a:off x="1097280" y="4754880"/>
            <a:ext cx="9966960" cy="548640"/>
          </a:xfrm>
          <a:prstGeom prst="rect">
            <a:avLst/>
          </a:prstGeom>
          <a:noFill/>
        </p:spPr>
        <p:txBody>
          <a:bodyPr wrap="square" lIns="0" rIns="0" tIns="0" bIns="0">
            <a:spAutoFit/>
          </a:bodyPr>
          <a:lstStyle/>
          <a:p>
            <a:pPr algn="ctr">
              <a:lnSpc>
                <a:spcPct val="130000"/>
              </a:lnSpc>
            </a:pPr>
            <a:r>
              <a:rPr sz="1200" b="0">
                <a:solidFill>
                  <a:srgbClr val="E6E8F0"/>
                </a:solidFill>
                <a:latin typeface="Inter"/>
              </a:rPr>
              <a:t>Ele existe para produzir prova de execução, volume acumulado e concentração de campus — os três ativos que destravam a fase 2. A métrica é alunos captados, não faturamento.</a:t>
            </a:r>
          </a:p>
        </p:txBody>
      </p:sp>
      <p:sp>
        <p:nvSpPr>
          <p:cNvPr id="20" name="TextBox 19"/>
          <p:cNvSpPr txBox="1"/>
          <p:nvPr/>
        </p:nvSpPr>
        <p:spPr>
          <a:xfrm>
            <a:off x="4480560" y="5623560"/>
            <a:ext cx="3227832" cy="502920"/>
          </a:xfrm>
          <a:prstGeom prst="rect">
            <a:avLst/>
          </a:prstGeom>
          <a:noFill/>
        </p:spPr>
        <p:txBody>
          <a:bodyPr wrap="square" lIns="0" rIns="0" tIns="0" bIns="0">
            <a:spAutoFit/>
          </a:bodyPr>
          <a:lstStyle/>
          <a:p>
            <a:pPr algn="ctr"/>
            <a:r>
              <a:rPr sz="2200" b="1">
                <a:solidFill>
                  <a:srgbClr val="FFFFFF"/>
                </a:solidFill>
                <a:latin typeface="Sora"/>
              </a:rPr>
              <a:t>Ant</a:t>
            </a:r>
            <a:r>
              <a:rPr sz="2200" b="1">
                <a:solidFill>
                  <a:srgbClr val="F2B705"/>
                </a:solidFill>
                <a:latin typeface="Sora"/>
              </a:rPr>
              <a:t>é</a:t>
            </a:r>
            <a:r>
              <a:rPr sz="2200" b="1">
                <a:solidFill>
                  <a:srgbClr val="FFFFFF"/>
                </a:solidFill>
                <a:latin typeface="Sora"/>
              </a:rPr>
              <a:t>via</a:t>
            </a:r>
          </a:p>
        </p:txBody>
      </p:sp>
      <p:sp>
        <p:nvSpPr>
          <p:cNvPr id="21" name="TextBox 20"/>
          <p:cNvSpPr txBox="1"/>
          <p:nvPr/>
        </p:nvSpPr>
        <p:spPr>
          <a:xfrm>
            <a:off x="3566160" y="6108192"/>
            <a:ext cx="5056632" cy="201168"/>
          </a:xfrm>
          <a:prstGeom prst="rect">
            <a:avLst/>
          </a:prstGeom>
          <a:noFill/>
        </p:spPr>
        <p:txBody>
          <a:bodyPr wrap="square" lIns="0" rIns="0" tIns="0" bIns="0">
            <a:spAutoFit/>
          </a:bodyPr>
          <a:lstStyle/>
          <a:p>
            <a:pPr algn="ctr"/>
            <a:r>
              <a:rPr sz="750" b="0" spc="200">
                <a:solidFill>
                  <a:srgbClr val="E6E8F0"/>
                </a:solidFill>
                <a:latin typeface="Inter"/>
              </a:rPr>
              <a:t>A LOGÍSTICA DA SUA FORMAÇÃO, NO TEMPO CERTO</a:t>
            </a:r>
          </a:p>
        </p:txBody>
      </p:sp>
      <p:sp>
        <p:nvSpPr>
          <p:cNvPr id="22" name="TextBox 21"/>
          <p:cNvSpPr txBox="1"/>
          <p:nvPr/>
        </p:nvSpPr>
        <p:spPr>
          <a:xfrm>
            <a:off x="320040" y="6638544"/>
            <a:ext cx="5943600" cy="182880"/>
          </a:xfrm>
          <a:prstGeom prst="rect">
            <a:avLst/>
          </a:prstGeom>
          <a:noFill/>
        </p:spPr>
        <p:txBody>
          <a:bodyPr wrap="square" lIns="0" rIns="0" tIns="0" bIns="0">
            <a:spAutoFit/>
          </a:bodyPr>
          <a:lstStyle/>
          <a:p>
            <a:pPr algn="l"/>
            <a:r>
              <a:rPr sz="650" b="0" spc="60">
                <a:solidFill>
                  <a:srgbClr val="8A93A6"/>
                </a:solidFill>
                <a:latin typeface="Inter"/>
              </a:rPr>
              <a:t>GRUPO KAIRÓS · BUSINESS DESIGN · SPRINT 04</a:t>
            </a:r>
          </a:p>
        </p:txBody>
      </p:sp>
      <p:sp>
        <p:nvSpPr>
          <p:cNvPr id="23" name="TextBox 22"/>
          <p:cNvSpPr txBox="1"/>
          <p:nvPr/>
        </p:nvSpPr>
        <p:spPr>
          <a:xfrm>
            <a:off x="10954512" y="6638544"/>
            <a:ext cx="914400" cy="182880"/>
          </a:xfrm>
          <a:prstGeom prst="rect">
            <a:avLst/>
          </a:prstGeom>
          <a:noFill/>
        </p:spPr>
        <p:txBody>
          <a:bodyPr wrap="square" lIns="0" rIns="0" tIns="0" bIns="0">
            <a:spAutoFit/>
          </a:bodyPr>
          <a:lstStyle/>
          <a:p>
            <a:pPr algn="r"/>
            <a:r>
              <a:rPr sz="650" b="0">
                <a:solidFill>
                  <a:srgbClr val="8A93A6"/>
                </a:solidFill>
                <a:latin typeface="Inter"/>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