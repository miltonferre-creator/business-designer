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capa traz dois números, e é bom você saber de onde vêm antes de abrir a boca.</a:t>
            </a:r>
          </a:p>
          <a:p/>
          <a:p>
            <a:r>
              <a:t>R$ 1,10 milhão é a soma dos doze trimestres do cenário tendencial. Não é faturamento</a:t>
            </a:r>
          </a:p>
          <a:p>
            <a:r>
              <a:t>bruto: é o que fica com a Antévia, porque nós não compramos e revendemos passagem —</a:t>
            </a:r>
          </a:p>
          <a:p>
            <a:r>
              <a:t>o aluno paga o fornecedor e nós intermediamos. O dinheiro que passa pelas mãos dele</a:t>
            </a:r>
          </a:p>
          <a:p>
            <a:r>
              <a:t>é bem maior, R$ 9,61 milhões, e isso aparece mais adiante.</a:t>
            </a:r>
          </a:p>
          <a:p/>
          <a:p>
            <a:r>
              <a:t>R$ 71 mil é só o ano um, ou seja, os quatro primeiros trimestres. É 6% do total de</a:t>
            </a:r>
          </a:p>
          <a:p>
            <a:r>
              <a:t>três anos. Essa desproporção não é acidente nem erro de projeção: é a descrição de um</a:t>
            </a:r>
          </a:p>
          <a:p>
            <a:r>
              <a:t>negócio que precisa de volume para ter margem e não tem volume no começo. É a tese da</a:t>
            </a:r>
          </a:p>
          <a:p>
            <a:r>
              <a:t>apresentação inteira.</a:t>
            </a:r>
          </a:p>
          <a:p/>
          <a:p>
            <a:r>
              <a:t>Ao abrir, não leia a capa. Diga que vocês vieram falar de viabilidade, que o número</a:t>
            </a:r>
          </a:p>
          <a:p>
            <a:r>
              <a:t>de três anos é 1,10 milhão, e que o assunto real de hoje é o primeiro ano.</a:t>
            </a:r>
          </a:p>
          <a:p/>
          <a:p>
            <a:r>
              <a:t>E avise logo que esta sprint trata só de receita. Se vier pergunta sobre margem ou</a:t>
            </a:r>
          </a:p>
          <a:p>
            <a:r>
              <a:t>lucro, a resposta honesta é que custos e investimentos são a Sprint 5 — não é fuga,</a:t>
            </a:r>
          </a:p>
          <a:p>
            <a:r>
              <a:t>é o recorte que o Encontro 5 pediu.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Quatro números nos cartões. Vale entender cada um, porque três deles voltam depois.</a:t>
            </a:r>
          </a:p>
          <a:p/>
          <a:p>
            <a:r>
              <a:t>R$ 100 é a taxa por módulo. Ela não saiu de uma pesquisa de disposição a pagar: saiu</a:t>
            </a:r>
          </a:p>
          <a:p>
            <a:r>
              <a:t>da hipótese H6 da Sprint 1, que estimava uma faixa de R$ 50 a 150. Cem é o meio da</a:t>
            </a:r>
          </a:p>
          <a:p>
            <a:r>
              <a:t>faixa. O slide 6 mostra que essa hipótese ainda está em aberto.</a:t>
            </a:r>
          </a:p>
          <a:p/>
          <a:p>
            <a:r>
              <a:t>3% a 6,4% é a comissão média que os fornecedores nos pagam, e o intervalo existe</a:t>
            </a:r>
          </a:p>
          <a:p>
            <a:r>
              <a:t>porque ela cresce com o volume. O slide seguinte explica exatamente por quê.</a:t>
            </a:r>
          </a:p>
          <a:p/>
          <a:p>
            <a:r>
              <a:t>100 alunos é a meta de captação do ano um. É o número mais importante da apresentação</a:t>
            </a:r>
          </a:p>
          <a:p>
            <a:r>
              <a:t>e vale contar a história dele: veio do exemplo da Banca de Modelagem, que dizia "100</a:t>
            </a:r>
          </a:p>
          <a:p>
            <a:r>
              <a:t>alunos, 12 encontros". A gente tinha lido isso como tamanho de turma, e estava errado</a:t>
            </a:r>
          </a:p>
          <a:p>
            <a:r>
              <a:t>— turma da FDC tem por volta de 40 alunos. Relendo como meta anual de captação, o</a:t>
            </a:r>
          </a:p>
          <a:p>
            <a:r>
              <a:t>número volta a fazer sentido e a turma sai da conta de vez.</a:t>
            </a:r>
          </a:p>
          <a:p/>
          <a:p>
            <a:r>
              <a:t>R$ 0 é o que a escola desembolsa. Essa é a pergunta mais provável deste slide, então</a:t>
            </a:r>
          </a:p>
          <a:p>
            <a:r>
              <a:t>tenha a resposta pronta: a escola entra com o CNPJ, que é o que viabiliza tarifa de</a:t>
            </a:r>
          </a:p>
          <a:p>
            <a:r>
              <a:t>grupo, com o acesso ao aluno na matrícula e com o calendário das datas. É decisão de</a:t>
            </a:r>
          </a:p>
          <a:p>
            <a:r>
              <a:t>desenho, não esquecimento — se ela precisasse aprovar verba, a venda entraria numa</a:t>
            </a:r>
          </a:p>
          <a:p>
            <a:r>
              <a:t>fila orçamentária e levaria um ano. Sem desembolso, quem decide é a coordenação.</a:t>
            </a:r>
          </a:p>
          <a:p/>
          <a:p>
            <a:r>
              <a:t>Há um número que não está no slide e que move tudo: cada aluno faz 12 módulos em 20</a:t>
            </a:r>
          </a:p>
          <a:p>
            <a:r>
              <a:t>meses, o que dá 0,6 módulo por mês, ou 1,8 viagem por trimestre. Essa é a engrenagem</a:t>
            </a:r>
          </a:p>
          <a:p>
            <a:r>
              <a:t>do modelo inteiro. Se alguém perguntar como se chega às 5.508 viagens lá na frente,</a:t>
            </a:r>
          </a:p>
          <a:p>
            <a:r>
              <a:t>a resposta é sempre alunos ativos multiplicados por 1,8.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é o slide que sustenta a credibilidade da apresentação, e a tabela merece ser</a:t>
            </a:r>
          </a:p>
          <a:p>
            <a:r>
              <a:t>lida devagar, linha por linha.</a:t>
            </a:r>
          </a:p>
          <a:p/>
          <a:p>
            <a:r>
              <a:t>Comece pela pergunta do título. Por que uma companhia aérea daria desconto para uma</a:t>
            </a:r>
          </a:p>
          <a:p>
            <a:r>
              <a:t>empresa que acabou de nascer? Não daria. E vale admitir que a nossa primeira versão</a:t>
            </a:r>
          </a:p>
          <a:p>
            <a:r>
              <a:t>deste modelo assumia que sim — aplicava 6,4% de comissão já no primeiro trimestre.</a:t>
            </a:r>
          </a:p>
          <a:p>
            <a:r>
              <a:t>Admitir isso é o que dá peso ao resto.</a:t>
            </a:r>
          </a:p>
          <a:p/>
          <a:p>
            <a:r>
              <a:t>Agora a tabela. Linha do ano um: ticket de R$ 1.920, que é aéreo de R$ 1.150, hotel de</a:t>
            </a:r>
          </a:p>
          <a:p>
            <a:r>
              <a:t>R$ 570 por duas diárias e traslado de R$ 200. Economia líquida de R$ 180, que é a conta</a:t>
            </a:r>
          </a:p>
          <a:p>
            <a:r>
              <a:t>2.200 menos 1.920 menos os 100 da nossa taxa. Retorno de 1,8 vez, que é simplesmente</a:t>
            </a:r>
          </a:p>
          <a:p>
            <a:r>
              <a:t>180 dividido por 100. Comissão de 3%, que sobre 1.920 dá R$ 57,60. E a receita por</a:t>
            </a:r>
          </a:p>
          <a:p>
            <a:r>
              <a:t>viagem de R$ 157,60, que são os 100 da taxa mais os 57,60 da comissão.</a:t>
            </a:r>
          </a:p>
          <a:p/>
          <a:p>
            <a:r>
              <a:t>As outras duas linhas seguem a mesma lógica com ticket menor e comissão maior. No ano</a:t>
            </a:r>
          </a:p>
          <a:p>
            <a:r>
              <a:t>três, 6,4% sobre R$ 1.700 dá R$ 108,80, e a receita por viagem chega a R$ 208,80.</a:t>
            </a:r>
          </a:p>
          <a:p/>
          <a:p>
            <a:r>
              <a:t>O cartão da esquerda é o coração do slide. No ano um a economia não vem de negociação</a:t>
            </a:r>
          </a:p>
          <a:p>
            <a:r>
              <a:t>nenhuma: vem de comprar aos 90 dias em vez de em cima da hora. Isso é a curva tarifária</a:t>
            </a:r>
          </a:p>
          <a:p>
            <a:r>
              <a:t>pública, está disponível para qualquer um, é de graça. É o que torna o primeiro ano</a:t>
            </a:r>
          </a:p>
          <a:p>
            <a:r>
              <a:t>possível sem poder de barganha — e também o que limita o que ele entrega.</a:t>
            </a:r>
          </a:p>
          <a:p/>
          <a:p>
            <a:r>
              <a:t>Se perguntarem de onde vêm os percentuais de comissão, você tem três camadas de</a:t>
            </a:r>
          </a:p>
          <a:p>
            <a:r>
              <a:t>resposta, e provavelmente as três impressionam:</a:t>
            </a:r>
          </a:p>
          <a:p/>
          <a:p>
            <a:r>
              <a:t>Primeira, a fonte. Vieram da entrevista com o Bruno Brant, sócio da Velt, na Sprint 1.</a:t>
            </a:r>
          </a:p>
          <a:p>
            <a:r>
              <a:t>Ele deu as faixas praticadas no mercado: convênio de R$ 250 a 500 mil por ano rende de</a:t>
            </a:r>
          </a:p>
          <a:p>
            <a:r>
              <a:t>3 a 5%; acima de R$ 1 milhão por ano, de 8 a 12%.</a:t>
            </a:r>
          </a:p>
          <a:p/>
          <a:p>
            <a:r>
              <a:t>Segunda, o teste. A gente conferiu o nosso próprio volume contra essas faixas. No ano</a:t>
            </a:r>
          </a:p>
          <a:p>
            <a:r>
              <a:t>um serão 450 viagens, e a R$ 1.150 de aéreo cada, isso dá R$ 518 mil movimentados —</a:t>
            </a:r>
          </a:p>
          <a:p>
            <a:r>
              <a:t>exatamente na entrada da primeira faixa, o que sustenta os 3%. Nos anos dois e três o</a:t>
            </a:r>
          </a:p>
          <a:p>
            <a:r>
              <a:t>volume passa de R$ 1 milhão, o que abriria de 8 a 12%, e mesmo assim usamos 5% e 6,4%.</a:t>
            </a:r>
          </a:p>
          <a:p>
            <a:r>
              <a:t>Fomos conservadores de propósito.</a:t>
            </a:r>
          </a:p>
          <a:p/>
          <a:p>
            <a:r>
              <a:t>Terceira, a composição dos 6,4%. É média ponderada: aéreo remunera pouco, cerca de 4%;</a:t>
            </a:r>
          </a:p>
          <a:p>
            <a:r>
              <a:t>hotelaria remunera bem, uns 10%; traslado, 10% também. Aplicado ao ticket de R$ 1.700</a:t>
            </a:r>
          </a:p>
          <a:p>
            <a:r>
              <a:t>dá R$ 108,80, que são os tais 6,4%.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slide responde uma objeção que ninguém fez ainda, mas que faria. E a tabela só</a:t>
            </a:r>
          </a:p>
          <a:p>
            <a:r>
              <a:t>funciona se você explicar a lógica antes de mostrar os números.</a:t>
            </a:r>
          </a:p>
          <a:p/>
          <a:p>
            <a:r>
              <a:t>Explique primeiro: tarifa de grupo não é um desconto que se pede. É um produto que só</a:t>
            </a:r>
          </a:p>
          <a:p>
            <a:r>
              <a:t>existe quando há passageiros suficientes no mesmo voo. O mercado trabalha com cerca de</a:t>
            </a:r>
          </a:p>
          <a:p>
            <a:r>
              <a:t>dez pessoas na mesma rota. Então a pergunta certa não é quantos alunos temos no total,</a:t>
            </a:r>
          </a:p>
          <a:p>
            <a:r>
              <a:t>é quantos conseguimos juntar no mesmo campus e na mesma data de módulo.</a:t>
            </a:r>
          </a:p>
          <a:p/>
          <a:p>
            <a:r>
              <a:t>A tabela é uma divisão simples, e vale dizer isso em voz alta enquanto lê. As colunas</a:t>
            </a:r>
          </a:p>
          <a:p>
            <a:r>
              <a:t>são o número de cidades de origem dos alunos — quanto mais espalhados, menos gente por</a:t>
            </a:r>
          </a:p>
          <a:p>
            <a:r>
              <a:t>rota.</a:t>
            </a:r>
          </a:p>
          <a:p/>
          <a:p>
            <a:r>
              <a:t>Cem alunos divididos por seis origens dá quase 17 passageiros por rota. Forma grupo.</a:t>
            </a:r>
          </a:p>
          <a:p>
            <a:r>
              <a:t>Cinquenta alunos por seis origens dá 8,3. Não forma, a menos que sejam só cinco origens.</a:t>
            </a:r>
          </a:p>
          <a:p>
            <a:r>
              <a:t>Vinte e cinco alunos não formam em nenhuma configuração.</a:t>
            </a:r>
          </a:p>
          <a:p/>
          <a:p>
            <a:r>
              <a:t>A última linha é a que fecha o argumento: uma turma de 40 alunos com metade viajando são</a:t>
            </a:r>
          </a:p>
          <a:p>
            <a:r>
              <a:t>20 pessoas, e divididas por cinco origens dão 4 por rota. Nenhuma turma sozinha forma</a:t>
            </a:r>
          </a:p>
          <a:p>
            <a:r>
              <a:t>grupo. Nenhuma.</a:t>
            </a:r>
          </a:p>
          <a:p/>
          <a:p>
            <a:r>
              <a:t>Daí a conclusão do slide: a unidade de negociação não pode ser a turma, tem que ser o</a:t>
            </a:r>
          </a:p>
          <a:p>
            <a:r>
              <a:t>campus numa data, somando alunos de turmas diferentes que chegam no mesmo dia. O limiar</a:t>
            </a:r>
          </a:p>
          <a:p>
            <a:r>
              <a:t>prático fica entre 50 e 60 alunos concentrados, que é 10 passageiros vezes cinco ou seis</a:t>
            </a:r>
          </a:p>
          <a:p>
            <a:r>
              <a:t>origens.</a:t>
            </a:r>
          </a:p>
          <a:p/>
          <a:p>
            <a:r>
              <a:t>Termine com o ponto que joga a favor: se quem junta o volume é a nossa plataforma, o</a:t>
            </a:r>
          </a:p>
          <a:p>
            <a:r>
              <a:t>bloqueio é ativo nosso, não da escola. A gente deixa de depender do CNPJ emprestado.</a:t>
            </a:r>
          </a:p>
          <a:p/>
          <a:p>
            <a:r>
              <a:t>Se perguntarem se então não temos tarifa de grupo no ano um: temos, se concentrarmos.</a:t>
            </a:r>
          </a:p>
          <a:p>
            <a:r>
              <a:t>A meta de 100 alunos passa do limiar com folga. O que não pode é a captação ser</a:t>
            </a:r>
          </a:p>
          <a:p>
            <a:r>
              <a:t>pulverizada entre vários campi e datas. Por isso a métrica do primeiro ano não é só</a:t>
            </a:r>
          </a:p>
          <a:p>
            <a:r>
              <a:t>quantos alunos, é onde eles estão.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Uma tabela de sete linhas. Você não precisa ler todas — precisa saber ler três.</a:t>
            </a:r>
          </a:p>
          <a:p/>
          <a:p>
            <a:r>
              <a:t>A coluna "hoje" é o aluno que compra em cima da hora: R$ 1.400 de aéreo, R$ 600 de hotel</a:t>
            </a:r>
          </a:p>
          <a:p>
            <a:r>
              <a:t>por duas diárias, R$ 200 de traslado. Total de R$ 2.200 por módulo. Esse é o ponto de</a:t>
            </a:r>
          </a:p>
          <a:p>
            <a:r>
              <a:t>partida contra o qual tudo é medido.</a:t>
            </a:r>
          </a:p>
          <a:p/>
          <a:p>
            <a:r>
              <a:t>A linha do subtotal logístico mostra a nossa entrega caindo fase a fase: 1.920, depois</a:t>
            </a:r>
          </a:p>
          <a:p>
            <a:r>
              <a:t>1.800, depois 1.700. Só o aéreo explica a maior parte: 1.150 no ano um, 1.020 no ano</a:t>
            </a:r>
          </a:p>
          <a:p>
            <a:r>
              <a:t>três.</a:t>
            </a:r>
          </a:p>
          <a:p/>
          <a:p>
            <a:r>
              <a:t>A linha da economia líquida é a que importa para o aluno: R$ 180, R$ 300, R$ 400. A</a:t>
            </a:r>
          </a:p>
          <a:p>
            <a:r>
              <a:t>conta é sempre a mesma — 2.200 menos o subtotal da fase, menos os R$ 100 da nossa taxa.</a:t>
            </a:r>
          </a:p>
          <a:p/>
          <a:p>
            <a:r>
              <a:t>E a última linha, a redução no desembolso, é essa economia dividida pelos R$ 2.200</a:t>
            </a:r>
          </a:p>
          <a:p>
            <a:r>
              <a:t>originais: 8,2%, 13,6%, 18,2%.</a:t>
            </a:r>
          </a:p>
          <a:p/>
          <a:p>
            <a:r>
              <a:t>Aqui vale um cuidado. A meta que o grupo fixou na Sprint 1 era reduzir de 15 a 25% o</a:t>
            </a:r>
          </a:p>
          <a:p>
            <a:r>
              <a:t>custo do aluno, e o slide mostra que a gente só chega lá na fase três, com 18,2%. Se</a:t>
            </a:r>
          </a:p>
          <a:p>
            <a:r>
              <a:t>você disser "de 15 a 25%" enquanto a tabela mostra 18,2%, alguém pode estranhar. É mais</a:t>
            </a:r>
          </a:p>
          <a:p>
            <a:r>
              <a:t>seguro dizer o número exato e completar que ele está dentro da meta.</a:t>
            </a:r>
          </a:p>
          <a:p/>
          <a:p>
            <a:r>
              <a:t>Fecha com o ponto comercial, que é mais importante que a tabela: no primeiro ano o aluno</a:t>
            </a:r>
          </a:p>
          <a:p>
            <a:r>
              <a:t>não compra pelo desconto, porque R$ 180 numa viagem de R$ 2.200 não muda a vida de</a:t>
            </a:r>
          </a:p>
          <a:p>
            <a:r>
              <a:t>ninguém. Ele compra porque para de precisar orquestrar três plataformas a cada módulo.</a:t>
            </a:r>
          </a:p>
          <a:p>
            <a:r>
              <a:t>O desconto vira argumento principal só quando o volume abre a tarifa de grupo.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é o slide mais dispensável da apresentação. Se o tempo apertar, é ele que sai.</a:t>
            </a:r>
          </a:p>
          <a:p>
            <a:r>
              <a:t>Mas se der tempo, ele responde a exigência de pesquisa de preços do Encontro 5.</a:t>
            </a:r>
          </a:p>
          <a:p/>
          <a:p>
            <a:r>
              <a:t>Cinco alternativas, e a leitura é sempre a mesma: cada uma resolve um pedaço e nenhuma</a:t>
            </a:r>
          </a:p>
          <a:p>
            <a:r>
              <a:t>resolve o programa inteiro.</a:t>
            </a:r>
          </a:p>
          <a:p/>
          <a:p>
            <a:r>
              <a:t>Aplicativos das companhias não cobram taxa nenhuma, mas resolvem um trecho e não sabem</a:t>
            </a:r>
          </a:p>
          <a:p>
            <a:r>
              <a:t>que existe um calendário acadêmico. As OTAs, Decolar e CVC, cobram de zero a R$ 80 por</a:t>
            </a:r>
          </a:p>
          <a:p>
            <a:r>
              <a:t>emissão e trabalham viagem a viagem, sob demanda do aluno. Agência tradicional cobra de</a:t>
            </a:r>
          </a:p>
          <a:p>
            <a:r>
              <a:t>R$ 40 a 120 por bilhete e só age quando alguém pede cotação. Plataformas B2B como Onfly</a:t>
            </a:r>
          </a:p>
          <a:p>
            <a:r>
              <a:t>e Argo cobram de R$ 20 a 60 por usuário por mês, mas exigem CNPJ — e é exatamente aí que</a:t>
            </a:r>
          </a:p>
          <a:p>
            <a:r>
              <a:t>o aluno pessoa física fica de fora. Foi essa lacuna que a Sprint 1 chamou de órfão</a:t>
            </a:r>
          </a:p>
          <a:p>
            <a:r>
              <a:t>estrutural. E concierge premium cobra de 5 a 15% do valor da viagem, mas não existe</a:t>
            </a:r>
          </a:p>
          <a:p>
            <a:r>
              <a:t>nenhum recorte para aluno-executivo.</a:t>
            </a:r>
          </a:p>
          <a:p/>
          <a:p>
            <a:r>
              <a:t>Note que a nossa taxa de R$ 100 sobre um ticket de R$ 1.920 dá 5,2%. Ou seja, estamos</a:t>
            </a:r>
          </a:p>
          <a:p>
            <a:r>
              <a:t>no piso da faixa de concierge premium, e acima da agência tradicional. A diferença é que</a:t>
            </a:r>
          </a:p>
          <a:p>
            <a:r>
              <a:t>aqui o serviço cobre passagem, hotel, traslado e reembolso de todos os módulos, não uma</a:t>
            </a:r>
          </a:p>
          <a:p>
            <a:r>
              <a:t>viagem avulsa.</a:t>
            </a:r>
          </a:p>
          <a:p/>
          <a:p>
            <a:r>
              <a:t>A frase da faixa dourada é o achado do slide, e vale dizer com calma: o custo real da</a:t>
            </a:r>
          </a:p>
          <a:p>
            <a:r>
              <a:t>decisão tardia é invisível para o aluno. Ele não paga uma taxa alta — ele paga uma</a:t>
            </a:r>
          </a:p>
          <a:p>
            <a:r>
              <a:t>passagem cara. Por isso não percebe que está perdendo dinheiro.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Quatro cartões, e os três primeiros são a mesma divisão feita três vezes.</a:t>
            </a:r>
          </a:p>
          <a:p/>
          <a:p>
            <a:r>
              <a:t>1,8 vez é R$ 180 divididos por R$ 100. Ou seja: no ano um o aluno paga a nossa taxa e</a:t>
            </a:r>
          </a:p>
          <a:p>
            <a:r>
              <a:t>recebe de volta quase o dobro dela em economia. É positivo, mas apertado.</a:t>
            </a:r>
          </a:p>
          <a:p/>
          <a:p>
            <a:r>
              <a:t>3,0 vezes é R$ 300 por R$ 100, no ano dois. E 4,0 vezes é R$ 400 por R$ 100, no ano três.</a:t>
            </a:r>
          </a:p>
          <a:p/>
          <a:p>
            <a:r>
              <a:t>O quarto cartão é diferente e é o mais interessante. Ele mostra o peso da nossa taxa</a:t>
            </a:r>
          </a:p>
          <a:p>
            <a:r>
              <a:t>dentro da receita por viagem. No ano um, R$ 100 de taxa dentro de R$ 157,60 de receita</a:t>
            </a:r>
          </a:p>
          <a:p>
            <a:r>
              <a:t>total dá 63%. No ano três, R$ 100 dentro de R$ 208,80 dá 48%.</a:t>
            </a:r>
          </a:p>
          <a:p/>
          <a:p>
            <a:r>
              <a:t>Explique o que isso significa: conforme a comissão dos fornecedores cresce, a gente fica</a:t>
            </a:r>
          </a:p>
          <a:p>
            <a:r>
              <a:t>menos dependente do bolso do aluno. É uma redução de risco, não só um número bonito. E é</a:t>
            </a:r>
          </a:p>
          <a:p>
            <a:r>
              <a:t>o contrário do que muita startup faz, que é aumentar o preço para o cliente à medida que</a:t>
            </a:r>
          </a:p>
          <a:p>
            <a:r>
              <a:t>cresce.</a:t>
            </a:r>
          </a:p>
          <a:p/>
          <a:p>
            <a:r>
              <a:t>A faixa escura embaixo é a consequência comercial, e é o que você deve deixar no ar: no</a:t>
            </a:r>
          </a:p>
          <a:p>
            <a:r>
              <a:t>primeiro ano a venda não se sustenta só no desconto, porque a folga é pequena. Ela se</a:t>
            </a:r>
          </a:p>
          <a:p>
            <a:r>
              <a:t>sustenta no tempo devolvido ao aluno.</a:t>
            </a:r>
          </a:p>
          <a:p/>
          <a:p>
            <a:r>
              <a:t>Se perguntarem da H6, a hipótese de que o aluno pagaria de R$ 50 a 150: ela continua em</a:t>
            </a:r>
          </a:p>
          <a:p>
            <a:r>
              <a:t>aberto. Os R$ 100 são o meio da faixa. Se a validação apontar R$ 50, o modelo perde</a:t>
            </a:r>
          </a:p>
          <a:p>
            <a:r>
              <a:t>cerca de um quarto da receita de três anos — fica menor, não deixa de existir. E como o</a:t>
            </a:r>
          </a:p>
          <a:p>
            <a:r>
              <a:t>peso da taxa cai com o tempo, o dano se concentra no ano 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é o slide que mais gera dúvida, então vá devagar e explique a lógica do funil</a:t>
            </a:r>
          </a:p>
          <a:p>
            <a:r>
              <a:t>antes de qualquer número. São três recortes, do maior para o menor, e cada faixa responde</a:t>
            </a:r>
          </a:p>
          <a:p>
            <a:r>
              <a:t>uma pergunta diferente.</a:t>
            </a:r>
          </a:p>
          <a:p/>
          <a:p>
            <a:r>
              <a:t>Quantos existem. Partimos do dado do IBGE, 1,4 milhão de matriculados em pós-graduação</a:t>
            </a:r>
          </a:p>
          <a:p>
            <a:r>
              <a:t>no Brasil. Desses, estimamos 12% em programas executivos presenciais e periódicos, e</a:t>
            </a:r>
          </a:p>
          <a:p>
            <a:r>
              <a:t>desses, 25% que viajam de outra cidade para estudar. Isso dá 42 mil alunos-viajantes.</a:t>
            </a:r>
          </a:p>
          <a:p>
            <a:r>
              <a:t>Cada um faz 7,2 viagens por ano, que é a conta de 12 módulos em 20 meses anualizada.</a:t>
            </a:r>
          </a:p>
          <a:p>
            <a:r>
              <a:t>São 302 mil viagens por ano, e a R$ 208,80 de receita cada, dá os R$ 63,1 milhões.</a:t>
            </a:r>
          </a:p>
          <a:p/>
          <a:p>
            <a:r>
              <a:t>Diga que os dois filtros, os 12% e os 25%, são estimativas nossas e ainda não foram</a:t>
            </a:r>
          </a:p>
          <a:p>
            <a:r>
              <a:t>validados. Assumir isso na frente da banca é melhor do que ser perguntado.</a:t>
            </a:r>
          </a:p>
          <a:p/>
          <a:p>
            <a:r>
              <a:t>Quantos podemos atender. A Sprint 1 mostrou uma coisa incômoda: a dor não é universal.</a:t>
            </a:r>
          </a:p>
          <a:p>
            <a:r>
              <a:t>As coordenadoras de Manaus e Belém disseram que a maioria dos alunos delas é local e não</a:t>
            </a:r>
          </a:p>
          <a:p>
            <a:r>
              <a:t>sente o problema. A dor se concentra nos campi que recebem aluno de fora — Nova Lima, São</a:t>
            </a:r>
          </a:p>
          <a:p>
            <a:r>
              <a:t>Paulo e Rio. Restringindo a esses polos, chegamos a 10.500 alunos e R$ 15,8 milhões por</a:t>
            </a:r>
          </a:p>
          <a:p>
            <a:r>
              <a:t>ano.</a:t>
            </a:r>
          </a:p>
          <a:p/>
          <a:p>
            <a:r>
              <a:t>Quantos vamos atender. Esta é a nossa meta: 650 alunos ativos no décimo segundo trimestre,</a:t>
            </a:r>
          </a:p>
          <a:p>
            <a:r>
              <a:t>o que anualizado dá R$ 977 mil de receita, ou 6,2% dos 10.500.</a:t>
            </a:r>
          </a:p>
          <a:p/>
          <a:p>
            <a:r>
              <a:t>Aqui tem uma armadilha de leitura que você precisa desarmar antes que alguém caia nela:</a:t>
            </a:r>
          </a:p>
          <a:p>
            <a:r>
              <a:t>os 650 são alunos ATIVOS no último trimestre. Não é a soma dos três anos. É a base de</a:t>
            </a:r>
          </a:p>
          <a:p>
            <a:r>
              <a:t>clientes que a operação tem funcionando ao fim do ano três.</a:t>
            </a:r>
          </a:p>
          <a:p/>
          <a:p>
            <a:r>
              <a:t>A tabela de baixo mostra a progressão: 100 alunos no ano um, que é 1% do mercado onde</a:t>
            </a:r>
          </a:p>
          <a:p>
            <a:r>
              <a:t>atuamos; 280 no ano dois, 2,7%; 650 no ano três, 6,2%.</a:t>
            </a:r>
          </a:p>
          <a:p/>
          <a:p>
            <a:r>
              <a:t>Se alguém disser que 6,2% é pouco, a resposta é que é pouco e é proposital. A nossa</a:t>
            </a:r>
          </a:p>
          <a:p>
            <a:r>
              <a:t>primeira versão projetava 24% do mesmo mercado em três anos, e aquilo não se defendia</a:t>
            </a:r>
          </a:p>
          <a:p>
            <a:r>
              <a:t>para um negócio que capta aluno por aluno pelo canal da escola. Trocamos um número</a:t>
            </a:r>
          </a:p>
          <a:p>
            <a:r>
              <a:t>bonito por um número sustentável.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Três cartões e uma tabela. O ponto que você tem que deixar claro logo no início é que</a:t>
            </a:r>
          </a:p>
          <a:p>
            <a:r>
              <a:t>os três cenários mudam uma variável só: quantos alunos a operação capta. As três fases de</a:t>
            </a:r>
          </a:p>
          <a:p>
            <a:r>
              <a:t>negociação são idênticas nos três. Isso é importante porque mostra que não estamos</a:t>
            </a:r>
          </a:p>
          <a:p>
            <a:r>
              <a:t>inflando o cenário otimista com premissas otimistas empilhadas.</a:t>
            </a:r>
          </a:p>
          <a:p/>
          <a:p>
            <a:r>
              <a:t>Cenário pessimista: 50 alunos captados no ano um, chegando a 320 ativos no fim do ano</a:t>
            </a:r>
          </a:p>
          <a:p>
            <a:r>
              <a:t>três. Total de R$ 551 mil.</a:t>
            </a:r>
          </a:p>
          <a:p/>
          <a:p>
            <a:r>
              <a:t>Tendencial, que é a nossa diretriz: 100 alunos no ano um, 650 no ano três, R$ 1,10 milhão.</a:t>
            </a:r>
          </a:p>
          <a:p/>
          <a:p>
            <a:r>
              <a:t>Otimista: 160 no ano um, 1.100 no ano três, R$ 1,83 milhão.</a:t>
            </a:r>
          </a:p>
          <a:p/>
          <a:p>
            <a:r>
              <a:t>Na tabela, percorra a linha do tendencial, que está destacada: R$ 71 mil no ano um, R$ 284</a:t>
            </a:r>
          </a:p>
          <a:p>
            <a:r>
              <a:t>mil no ano dois, R$ 744 mil no ano três. Se perguntarem por que a curva é tão inclinada, a</a:t>
            </a:r>
          </a:p>
          <a:p>
            <a:r>
              <a:t>resposta tem duas partes que se somam: o número de alunos cresce, e a receita por viagem</a:t>
            </a:r>
          </a:p>
          <a:p>
            <a:r>
              <a:t>também cresce, de R$ 157,60 para R$ 208,80, porque a comissão melhora.</a:t>
            </a:r>
          </a:p>
          <a:p/>
          <a:p>
            <a:r>
              <a:t>As 5.508 viagens da penúltima coluna saem de multiplicar os alunos ativos de cada trimestre</a:t>
            </a:r>
          </a:p>
          <a:p>
            <a:r>
              <a:t>por 1,8 e somar os doze trimestres.</a:t>
            </a:r>
          </a:p>
          <a:p/>
          <a:p>
            <a:r>
              <a:t>E a última coluna é o melhor argumento de venda da apresentação inteira: R$ 1,95 milhão de</a:t>
            </a:r>
          </a:p>
          <a:p>
            <a:r>
              <a:t>economia devolvida aos alunos, contra R$ 1,10 milhão de receita nossa. Devolvemos quase o</a:t>
            </a:r>
          </a:p>
          <a:p>
            <a:r>
              <a:t>dobro do que ganhamos. Esse é o número que faz a escola querer indicar o serviço — não é</a:t>
            </a:r>
          </a:p>
          <a:p>
            <a:r>
              <a:t>generosidade nossa, é aritmética do modelo, porque a maior parte da economia vem de comprar</a:t>
            </a:r>
          </a:p>
          <a:p>
            <a:r>
              <a:t>na hora certa, não de margem que a gente abre mão.</a:t>
            </a:r>
          </a:p>
          <a:p/>
          <a:p>
            <a:r>
              <a:t>Se perguntarem de margem ou lucro, repita o recorte: esta sprint é de receita. E acrescente</a:t>
            </a:r>
          </a:p>
          <a:p>
            <a:r>
              <a:t>uma coisa que costuma surpreender — não existe custo de mercadoria vendida aqui, porque nós</a:t>
            </a:r>
          </a:p>
          <a:p>
            <a:r>
              <a:t>não compramos e revendemos passagem. O aluno paga o fornecedor direto. Todos os nossos</a:t>
            </a:r>
          </a:p>
          <a:p>
            <a:r>
              <a:t>custos são operacionais, e eles entram na Sprint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Um gráfico de três barras. Ele é simples, e o valor dele não está nos números — está no</a:t>
            </a:r>
          </a:p>
          <a:p>
            <a:r>
              <a:t>que sumiu dele.</a:t>
            </a:r>
          </a:p>
          <a:p/>
          <a:p>
            <a:r>
              <a:t>As barras mostram o que acontece com a receita de três anos quando você mexe numa variável</a:t>
            </a:r>
          </a:p>
          <a:p>
            <a:r>
              <a:t>de cada vez, mantendo as outras no cenário tendencial. A base é R$ 1,10 milhão.</a:t>
            </a:r>
          </a:p>
          <a:p/>
          <a:p>
            <a:r>
              <a:t>Alunos captados por ano, mais ou menos 30%: a receita varia mais ou menos 30% também. É</a:t>
            </a:r>
          </a:p>
          <a:p>
            <a:r>
              <a:t>proporcional, porque tudo no modelo é multiplicado pelo número de alunos. É a barra</a:t>
            </a:r>
          </a:p>
          <a:p>
            <a:r>
              <a:t>dominante.</a:t>
            </a:r>
          </a:p>
          <a:p/>
          <a:p>
            <a:r>
              <a:t>Taxa de serviço, de R$ 50 a R$ 150: varia 25%. Repare que é menos que a captação, apesar de</a:t>
            </a:r>
          </a:p>
          <a:p>
            <a:r>
              <a:t>a taxa ser mais da metade da receita por viagem — isso porque a comissão não se mexe junto.</a:t>
            </a:r>
          </a:p>
          <a:p/>
          <a:p>
            <a:r>
              <a:t>Comissão, uma faixa acima ou abaixo: de menos 15% a mais 29%. É assimétrica porque o espaço</a:t>
            </a:r>
          </a:p>
          <a:p>
            <a:r>
              <a:t>para cair é menor que o espaço para subir.</a:t>
            </a:r>
          </a:p>
          <a:p/>
          <a:p>
            <a:r>
              <a:t>Agora o ponto que interessa de verdade, e que está na faixa escura. As versões anteriores</a:t>
            </a:r>
          </a:p>
          <a:p>
            <a:r>
              <a:t>deste modelo tinham cinco variáveis, e duas delas eram frágeis: o tamanho da turma e a taxa</a:t>
            </a:r>
          </a:p>
          <a:p>
            <a:r>
              <a:t>de adesão dentro da turma. Nenhuma das duas tinha validação, e as duas mexiam muito no</a:t>
            </a:r>
          </a:p>
          <a:p>
            <a:r>
              <a:t>resultado. Quando passamos a contar aluno captado direto, as duas simplesmente saíram —</a:t>
            </a:r>
          </a:p>
          <a:p>
            <a:r>
              <a:t>não porque a gente resolveu, mas porque a pergunta deixou de existir.</a:t>
            </a:r>
          </a:p>
          <a:p/>
          <a:p>
            <a:r>
              <a:t>Sobraram três variáveis, todas explicáveis numa frase. E a dominante é a captação, que é</a:t>
            </a:r>
          </a:p>
          <a:p>
            <a:r>
              <a:t>justamente a que está sob o nosso controle comercial. Um modelo cuja maior incerteza é o</a:t>
            </a:r>
          </a:p>
          <a:p>
            <a:r>
              <a:t>próprio esforço de vendas é mais defensável que um cujo destino depende de uma premissa</a:t>
            </a:r>
          </a:p>
          <a:p>
            <a:r>
              <a:t>que ninguém verificou.</a:t>
            </a:r>
          </a:p>
          <a:p/>
          <a:p>
            <a:r>
              <a:t>Se perguntarem por que a adesão sumiu: porque ela estava embutida numa conta desnecessária.</a:t>
            </a:r>
          </a:p>
          <a:p>
            <a:r>
              <a:t>Se eu conto o aluno que aderiu, não preciso estimar quantos por cento da turma aderem.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fechamento tem quatro números pequenos e uma mensagem grande. Não se perca nos números.</a:t>
            </a:r>
          </a:p>
          <a:p/>
          <a:p>
            <a:r>
              <a:t>Os quatro quadros: 5.508 viagens em três anos, que é a soma dos alunos ativos por trimestre</a:t>
            </a:r>
          </a:p>
          <a:p>
            <a:r>
              <a:t>multiplicada por 1,8. R$ 1,95 milhão devolvidos aos alunos em economia. 650 alunos ativos no</a:t>
            </a:r>
          </a:p>
          <a:p>
            <a:r>
              <a:t>último trimestre. E 6,2% do mercado onde atuamos.</a:t>
            </a:r>
          </a:p>
          <a:p/>
          <a:p>
            <a:r>
              <a:t>O número que importa é o outro: R$ 71 mil no ano um. Divididos por doze meses, dá menos de</a:t>
            </a:r>
          </a:p>
          <a:p>
            <a:r>
              <a:t>R$ 6 mil por mês. Diga isso com todas as letras — não paga uma equipe. Ou os sócios operam</a:t>
            </a:r>
          </a:p>
          <a:p>
            <a:r>
              <a:t>com as próprias mãos, ou é preciso capital para atravessar.</a:t>
            </a:r>
          </a:p>
          <a:p/>
          <a:p>
            <a:r>
              <a:t>Assumir isso é o que diferencia esta apresentação de uma que só mostra números crescendo.</a:t>
            </a:r>
          </a:p>
          <a:p>
            <a:r>
              <a:t>E complete que a Sprint 5 é justamente onde vamos dizer quanto custa esse período.</a:t>
            </a:r>
          </a:p>
          <a:p/>
          <a:p>
            <a:r>
              <a:t>A virada final é a mensagem que deve ficar depois que você calar. O ano um não deveria ser</a:t>
            </a:r>
          </a:p>
          <a:p>
            <a:r>
              <a:t>medido por faturamento. Ele existe para produzir três coisas: prova de que a operação</a:t>
            </a:r>
          </a:p>
          <a:p>
            <a:r>
              <a:t>funciona, volume acumulado que abre a próxima faixa de comissão, e concentração de alunos</a:t>
            </a:r>
          </a:p>
          <a:p>
            <a:r>
              <a:t>por campus, que é o que liga a tarifa de grupo. São três ativos, não três reais.</a:t>
            </a:r>
          </a:p>
          <a:p/>
          <a:p>
            <a:r>
              <a:t>Se der para dizer uma frase só no encerramento, que seja esta: a métrica do primeiro ano é</a:t>
            </a:r>
          </a:p>
          <a:p>
            <a:r>
              <a:t>quantos alunos captamos e onde eles estão. O faturamento vem depois.</a:t>
            </a:r>
          </a:p>
          <a:p/>
          <a:p>
            <a:r>
              <a:t>Depois agradeça e abra para perguntas. Os slides que mais geram pergunta são o 3, o 4 e o 8</a:t>
            </a:r>
          </a:p>
          <a:p>
            <a:r>
              <a:t>— deixe-os à mão para voltar. E se tiver a planilha aberta noutra janela, na aba Premissas,</a:t>
            </a:r>
          </a:p>
          <a:p>
            <a:r>
              <a:t>você consegue mudar uma célula e recalcular os três cenários na frente da banca.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956048" y="1417320"/>
            <a:ext cx="2286000" cy="310896"/>
          </a:xfrm>
          <a:prstGeom prst="roundRect">
            <a:avLst>
              <a:gd name="adj" fmla="val 35000"/>
            </a:avLst>
          </a:prstGeom>
          <a:solidFill>
            <a:srgbClr val="1B24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956048" y="1499616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 spc="120">
                <a:solidFill>
                  <a:srgbClr val="F2B705"/>
                </a:solidFill>
                <a:latin typeface="Inter SemiBold"/>
              </a:rPr>
              <a:t>SPRINT 04 · VIABILIDADE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103120"/>
            <a:ext cx="9445752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Sora"/>
              </a:rPr>
              <a:t>Ant</a:t>
            </a:r>
            <a:r>
              <a:rPr sz="7200" b="1">
                <a:solidFill>
                  <a:srgbClr val="F2B705"/>
                </a:solidFill>
                <a:latin typeface="Sora"/>
              </a:rPr>
              <a:t>é</a:t>
            </a:r>
            <a:r>
              <a:rPr sz="7200" b="1">
                <a:solidFill>
                  <a:srgbClr val="FFFFFF"/>
                </a:solidFill>
                <a:latin typeface="Sora"/>
              </a:rPr>
              <a:t>via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657600"/>
            <a:ext cx="94457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spc="220">
                <a:solidFill>
                  <a:srgbClr val="E6E8F0"/>
                </a:solidFill>
                <a:latin typeface="Inter"/>
              </a:rPr>
              <a:t>A LOGÍSTICA DA SUA FORMAÇÃO, NO TEMPO CERTO</a:t>
            </a:r>
          </a:p>
        </p:txBody>
      </p:sp>
      <p:sp>
        <p:nvSpPr>
          <p:cNvPr id="6" name="Rectangle 5"/>
          <p:cNvSpPr/>
          <p:nvPr/>
        </p:nvSpPr>
        <p:spPr>
          <a:xfrm>
            <a:off x="5641848" y="4224528"/>
            <a:ext cx="914400" cy="18288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371600" y="4526280"/>
            <a:ext cx="94457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Inter"/>
              </a:rPr>
              <a:t>Projeção de receitas · 12 trimestres · 3 cenários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983480"/>
            <a:ext cx="94457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F2B705"/>
                </a:solidFill>
                <a:latin typeface="Inter"/>
              </a:rPr>
              <a:t>R$ 1,10 mi em 3 anos — e um primeiro ano de R$ 71 mil que é o verdadeiro desafio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760720"/>
            <a:ext cx="94457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AEB6C6"/>
                </a:solidFill>
                <a:latin typeface="Inter"/>
              </a:rPr>
              <a:t>Grupo Kairós · Business Designer · Fundação Dom Cabral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6638544"/>
            <a:ext cx="5943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50" b="0" spc="60">
                <a:solidFill>
                  <a:srgbClr val="8A93A6"/>
                </a:solidFill>
                <a:latin typeface="Inter"/>
              </a:rPr>
              <a:t>GRUPO KAIRÓS · BUSINESS DESIGN · SPRINT 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54512" y="6638544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650" b="0">
                <a:solidFill>
                  <a:srgbClr val="8A93A6"/>
                </a:solidFill>
                <a:latin typeface="Inter"/>
              </a:rPr>
              <a:t>1 /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115214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300" b="1">
                <a:solidFill>
                  <a:srgbClr val="F2B705"/>
                </a:solidFill>
                <a:latin typeface="Sora"/>
              </a:rPr>
              <a:t>01  </a:t>
            </a:r>
            <a:r>
              <a:rPr sz="2300" b="1">
                <a:solidFill>
                  <a:srgbClr val="0B1220"/>
                </a:solidFill>
                <a:latin typeface="Sora"/>
              </a:rPr>
              <a:t>O que vendemos, para quem e como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1B2435"/>
                </a:solidFill>
                <a:latin typeface="Inter"/>
              </a:rPr>
              <a:t>A meta do ano 1 é captar 100 alunos, somando todas as turmas e instituições. Cada aluno rende 12 módulos ao longo de 20 meses.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2103120"/>
            <a:ext cx="2761488" cy="26517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3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02920" y="2359152"/>
            <a:ext cx="239572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F2B705"/>
                </a:solidFill>
                <a:latin typeface="Sora"/>
              </a:rPr>
              <a:t>R$ 100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127248"/>
            <a:ext cx="2395728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0B1220"/>
                </a:solidFill>
                <a:latin typeface="Inter SemiBold"/>
              </a:rPr>
              <a:t>Taxa por módulo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584448"/>
            <a:ext cx="2395728" cy="10607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1B2435"/>
                </a:solidFill>
                <a:latin typeface="Inter"/>
              </a:rPr>
              <a:t>Paga pelo aluno, por encontro cursado. Adesão voluntária, módulo a módulo.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2103120"/>
            <a:ext cx="2761488" cy="26517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3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429000" y="2359152"/>
            <a:ext cx="239572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F2B705"/>
                </a:solidFill>
                <a:latin typeface="Sora"/>
              </a:rPr>
              <a:t>3% → 6,4%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3127248"/>
            <a:ext cx="2395728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0B1220"/>
                </a:solidFill>
                <a:latin typeface="Inter SemiBold"/>
              </a:rPr>
              <a:t>Comissão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3584448"/>
            <a:ext cx="2395728" cy="10607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1B2435"/>
                </a:solidFill>
                <a:latin typeface="Inter"/>
              </a:rPr>
              <a:t>Paga pelos fornecedores. Cresce com o volume — começa em 3%, não em 6,4%.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2103120"/>
            <a:ext cx="2761488" cy="26517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3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364224" y="2359152"/>
            <a:ext cx="239572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F2B705"/>
                </a:solidFill>
                <a:latin typeface="Sora"/>
              </a:rPr>
              <a:t>100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4224" y="3127248"/>
            <a:ext cx="2395728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0B1220"/>
                </a:solidFill>
                <a:latin typeface="Inter SemiBold"/>
              </a:rPr>
              <a:t>Alunos no ano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4224" y="3584448"/>
            <a:ext cx="2395728" cy="10607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1B2435"/>
                </a:solidFill>
                <a:latin typeface="Inter"/>
              </a:rPr>
              <a:t>A meta de captação, somando turmas e instituições. É a variável dominante do modelo.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07424" y="2103120"/>
            <a:ext cx="2761488" cy="26517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3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290304" y="2359152"/>
            <a:ext cx="239572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F2B705"/>
                </a:solidFill>
                <a:latin typeface="Sora"/>
              </a:rPr>
              <a:t>R$ 0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90304" y="3127248"/>
            <a:ext cx="2395728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0B1220"/>
                </a:solidFill>
                <a:latin typeface="Inter SemiBold"/>
              </a:rPr>
              <a:t>Custo para a escola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90304" y="3584448"/>
            <a:ext cx="2395728" cy="10607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1B2435"/>
                </a:solidFill>
                <a:latin typeface="Inter"/>
              </a:rPr>
              <a:t>Empresta CNPJ, turma e calendário, sem desembolso.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040" y="5166360"/>
            <a:ext cx="11521440" cy="731520"/>
          </a:xfrm>
          <a:prstGeom prst="roundRect">
            <a:avLst>
              <a:gd name="adj" fmla="val 6000"/>
            </a:avLst>
          </a:prstGeom>
          <a:solidFill>
            <a:srgbClr val="1B24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94360" y="5330952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E6E8F0"/>
                </a:solidFill>
                <a:latin typeface="Inter"/>
              </a:rPr>
              <a:t>A unidade é o aluno captado, não a turma. Isso tira do modelo as duas premissas mais frágeis que ele tinha: tamanho da turma e adesão dentro dela.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6638544"/>
            <a:ext cx="5943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50" b="0" spc="60">
                <a:solidFill>
                  <a:srgbClr val="9AA1AD"/>
                </a:solidFill>
                <a:latin typeface="Inter"/>
              </a:rPr>
              <a:t>GRUPO KAIRÓS · BUSINESS DESIGN · SPRINT 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54512" y="6638544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650" b="0">
                <a:solidFill>
                  <a:srgbClr val="9AA1AD"/>
                </a:solidFill>
                <a:latin typeface="Inter"/>
              </a:rPr>
              <a:t>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115214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300" b="1">
                <a:solidFill>
                  <a:srgbClr val="F2B705"/>
                </a:solidFill>
                <a:latin typeface="Sora"/>
              </a:rPr>
              <a:t>02  </a:t>
            </a:r>
            <a:r>
              <a:rPr sz="2300" b="1">
                <a:solidFill>
                  <a:srgbClr val="0B1220"/>
                </a:solidFill>
                <a:latin typeface="Sora"/>
              </a:rPr>
              <a:t>O poder de negociação é conquistado, não assumido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1B2435"/>
                </a:solidFill>
                <a:latin typeface="Inter"/>
              </a:rPr>
              <a:t>Por que uma companhia aérea venderia mais barato para nós do que vende direto para o aluno? No ano 1, não venderia.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2057400"/>
            <a:ext cx="11567160" cy="347472"/>
          </a:xfrm>
          <a:prstGeom prst="rect">
            <a:avLst/>
          </a:prstGeom>
          <a:solidFill>
            <a:srgbClr val="1B24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29768" y="2148840"/>
            <a:ext cx="96926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2B705"/>
                </a:solidFill>
                <a:latin typeface="Inter SemiBold"/>
              </a:rPr>
              <a:t>Fase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18488" y="2148840"/>
            <a:ext cx="348386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2B705"/>
                </a:solidFill>
                <a:latin typeface="Inter SemiBold"/>
              </a:rPr>
              <a:t>Como compramos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21807" y="2148840"/>
            <a:ext cx="110642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2B705"/>
                </a:solidFill>
                <a:latin typeface="Inter SemiBold"/>
              </a:rPr>
              <a:t>Ticket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7688" y="2148840"/>
            <a:ext cx="151790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2B705"/>
                </a:solidFill>
                <a:latin typeface="Inter SemiBold"/>
              </a:rPr>
              <a:t>Economia líquida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5047" y="2148840"/>
            <a:ext cx="96926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2B705"/>
                </a:solidFill>
                <a:latin typeface="Inter SemiBold"/>
              </a:rPr>
              <a:t>Retorno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73767" y="2148840"/>
            <a:ext cx="96926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2B705"/>
                </a:solidFill>
                <a:latin typeface="Inter SemiBold"/>
              </a:rPr>
              <a:t>Comissão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62488" y="2148840"/>
            <a:ext cx="10149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2B705"/>
                </a:solidFill>
                <a:latin typeface="Inter SemiBold"/>
              </a:rPr>
              <a:t>R$/viagem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404872"/>
            <a:ext cx="1156716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29768" y="2505456"/>
            <a:ext cx="969264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0B1220"/>
                </a:solidFill>
                <a:latin typeface="Inter SemiBold"/>
              </a:rPr>
              <a:t>Ano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18488" y="2505456"/>
            <a:ext cx="3483863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0B1220"/>
                </a:solidFill>
                <a:latin typeface="Inter SemiBold"/>
              </a:rPr>
              <a:t>Apoio da consolidadora — só antecipação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21807" y="2505456"/>
            <a:ext cx="1106424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>
                <a:solidFill>
                  <a:srgbClr val="0B1220"/>
                </a:solidFill>
                <a:latin typeface="Inter SemiBold"/>
              </a:rPr>
              <a:t>R$ 1.920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7688" y="2505456"/>
            <a:ext cx="1517904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>
                <a:solidFill>
                  <a:srgbClr val="0B1220"/>
                </a:solidFill>
                <a:latin typeface="Inter SemiBold"/>
              </a:rPr>
              <a:t>R$ 180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5047" y="2505456"/>
            <a:ext cx="969264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>
                <a:solidFill>
                  <a:srgbClr val="0B1220"/>
                </a:solidFill>
                <a:latin typeface="Inter SemiBold"/>
              </a:rPr>
              <a:t>1,8×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73767" y="2505456"/>
            <a:ext cx="969264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>
                <a:solidFill>
                  <a:srgbClr val="0B1220"/>
                </a:solidFill>
                <a:latin typeface="Inter SemiBold"/>
              </a:rPr>
              <a:t>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62488" y="2505456"/>
            <a:ext cx="1014984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>
                <a:solidFill>
                  <a:srgbClr val="0B1220"/>
                </a:solidFill>
                <a:latin typeface="Inter SemiBold"/>
              </a:rPr>
              <a:t>R$ 157,60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880360"/>
            <a:ext cx="1156716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29768" y="2980944"/>
            <a:ext cx="969264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1B2435"/>
                </a:solidFill>
                <a:latin typeface="Inter"/>
              </a:rPr>
              <a:t>Ano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18488" y="2980944"/>
            <a:ext cx="3483863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1B2435"/>
                </a:solidFill>
                <a:latin typeface="Inter"/>
              </a:rPr>
              <a:t>Bloqueios pontuais onde a rota concentra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21807" y="2980944"/>
            <a:ext cx="1106424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R$ 1.800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47688" y="2980944"/>
            <a:ext cx="1517904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R$ 300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5047" y="2980944"/>
            <a:ext cx="969264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3,0×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73767" y="2980944"/>
            <a:ext cx="969264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62488" y="2980944"/>
            <a:ext cx="1014984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R$ 190,00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3355848"/>
            <a:ext cx="1156716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29768" y="3456432"/>
            <a:ext cx="969264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1B2435"/>
                </a:solidFill>
                <a:latin typeface="Inter"/>
              </a:rPr>
              <a:t>Ano 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18488" y="3456432"/>
            <a:ext cx="3483863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1B2435"/>
                </a:solidFill>
                <a:latin typeface="Inter"/>
              </a:rPr>
              <a:t>Convênio próprio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21807" y="3456432"/>
            <a:ext cx="1106424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R$ 1.700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47688" y="3456432"/>
            <a:ext cx="1517904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R$ 400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85047" y="3456432"/>
            <a:ext cx="969264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4,0×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73767" y="3456432"/>
            <a:ext cx="969264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6,4%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62488" y="3456432"/>
            <a:ext cx="1014984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R$ 208,80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0040" y="3977639"/>
            <a:ext cx="5623560" cy="1783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548640" y="4160520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spc="120">
                <a:solidFill>
                  <a:srgbClr val="F2B705"/>
                </a:solidFill>
                <a:latin typeface="Inter SemiBold"/>
              </a:rPr>
              <a:t>A ÚNICA ALAVANCA DO ANO 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4480560"/>
            <a:ext cx="516636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1B2435"/>
                </a:solidFill>
                <a:latin typeface="Inter"/>
              </a:rPr>
              <a:t>Antecipação. Comprar aos 90 dias em vez de menos de 30 é a curva tarifária pública — não exige negociar com fornecedor nenhum. É gratuita e está disponível no primeiro dia.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3977639"/>
            <a:ext cx="5623560" cy="1783080"/>
          </a:xfrm>
          <a:prstGeom prst="roundRect">
            <a:avLst>
              <a:gd name="adj" fmla="val 4000"/>
            </a:avLst>
          </a:prstGeom>
          <a:solidFill>
            <a:srgbClr val="1B24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6446520" y="4160520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spc="120">
                <a:solidFill>
                  <a:srgbClr val="F2B705"/>
                </a:solidFill>
                <a:latin typeface="Inter SemiBold"/>
              </a:rPr>
              <a:t>O TESTE CONTRA O VOLUME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4480560"/>
            <a:ext cx="516636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E6E8F0"/>
                </a:solidFill>
                <a:latin typeface="Inter"/>
              </a:rPr>
              <a:t>Faixas da Velt: R$ 250–500 mil/ano rende 3–5%; acima de R$ 1 mi/ano, 8–12%. Com 100 alunos, o volume aéreo do ano 1 é R$ 518 mil — na entrada da faixa.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0040" y="6263640"/>
            <a:ext cx="115214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Faixas apuradas na entrevista com Bruno Brant (Velt), Sprint 1. As comissões usadas nos anos 2 e 3 ficam abaixo do que o volume permitiria.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0040" y="6638544"/>
            <a:ext cx="5943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50" b="0" spc="60">
                <a:solidFill>
                  <a:srgbClr val="9AA1AD"/>
                </a:solidFill>
                <a:latin typeface="Inter"/>
              </a:rPr>
              <a:t>GRUPO KAIRÓS · BUSINESS DESIGN · SPRINT 04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54512" y="6638544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650" b="0">
                <a:solidFill>
                  <a:srgbClr val="9AA1AD"/>
                </a:solidFill>
                <a:latin typeface="Inter"/>
              </a:rPr>
              <a:t>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115214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300" b="1">
                <a:solidFill>
                  <a:srgbClr val="F2B705"/>
                </a:solidFill>
                <a:latin typeface="Sora"/>
              </a:rPr>
              <a:t>03  </a:t>
            </a:r>
            <a:r>
              <a:rPr sz="2300" b="1">
                <a:solidFill>
                  <a:srgbClr val="0B1220"/>
                </a:solidFill>
                <a:latin typeface="Sora"/>
              </a:rPr>
              <a:t>A concentração é o que liga a tarifa de grupo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1B2435"/>
                </a:solidFill>
                <a:latin typeface="Inter"/>
              </a:rPr>
              <a:t>Tarifa de grupo exige cerca de 10 passageiros na mesma rota. A pergunta certa é quantos alunos a operação reúne no mesmo campus e na mesma data.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2103120"/>
            <a:ext cx="9509760" cy="347472"/>
          </a:xfrm>
          <a:prstGeom prst="rect">
            <a:avLst/>
          </a:prstGeom>
          <a:solidFill>
            <a:srgbClr val="1B24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29768" y="2194560"/>
            <a:ext cx="252374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2B705"/>
                </a:solidFill>
                <a:latin typeface="Inter SemiBold"/>
              </a:rPr>
              <a:t>Alunos no mesmo campus/data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72968" y="2194560"/>
            <a:ext cx="138074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2B705"/>
                </a:solidFill>
                <a:latin typeface="Inter SemiBold"/>
              </a:rPr>
              <a:t>5 origens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73168" y="2194560"/>
            <a:ext cx="138074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2B705"/>
                </a:solidFill>
                <a:latin typeface="Inter SemiBold"/>
              </a:rPr>
              <a:t>6 origens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73368" y="2194560"/>
            <a:ext cx="138074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2B705"/>
                </a:solidFill>
                <a:latin typeface="Inter SemiBold"/>
              </a:rPr>
              <a:t>8 origens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73567" y="2194560"/>
            <a:ext cx="174650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2B705"/>
                </a:solidFill>
                <a:latin typeface="Inter SemiBold"/>
              </a:rPr>
              <a:t>Forma grupo?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450591"/>
            <a:ext cx="9509760" cy="420624"/>
          </a:xfrm>
          <a:prstGeom prst="rect">
            <a:avLst/>
          </a:prstGeom>
          <a:solidFill>
            <a:srgbClr val="FDF1CB"/>
          </a:solidFill>
          <a:ln w="9525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29768" y="2551175"/>
            <a:ext cx="25237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0B1220"/>
                </a:solidFill>
                <a:latin typeface="Inter"/>
              </a:rPr>
              <a:t>100 alunos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72968" y="2551175"/>
            <a:ext cx="13807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0B1220"/>
                </a:solidFill>
                <a:latin typeface="Inter"/>
              </a:rPr>
              <a:t>20,0 pax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3168" y="2551175"/>
            <a:ext cx="13807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0B1220"/>
                </a:solidFill>
                <a:latin typeface="Inter"/>
              </a:rPr>
              <a:t>16,7 pax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2551175"/>
            <a:ext cx="13807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0B1220"/>
                </a:solidFill>
                <a:latin typeface="Inter"/>
              </a:rPr>
              <a:t>12,5 pax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73567" y="2551175"/>
            <a:ext cx="174650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0B1220"/>
                </a:solidFill>
                <a:latin typeface="Inter"/>
              </a:rPr>
              <a:t>sim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871215"/>
            <a:ext cx="950976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29768" y="2971799"/>
            <a:ext cx="25237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1B2435"/>
                </a:solidFill>
                <a:latin typeface="Inter"/>
              </a:rPr>
              <a:t>50 alunos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72968" y="2971799"/>
            <a:ext cx="13807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10,0 pax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73168" y="2971799"/>
            <a:ext cx="13807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8,3 pax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2971799"/>
            <a:ext cx="13807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6,2 pax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73567" y="2971799"/>
            <a:ext cx="174650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só com 5 origens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291839"/>
            <a:ext cx="950976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29768" y="3392423"/>
            <a:ext cx="25237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1B2435"/>
                </a:solidFill>
                <a:latin typeface="Inter"/>
              </a:rPr>
              <a:t>25 alunos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72968" y="3392423"/>
            <a:ext cx="13807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5,0 pax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73168" y="3392423"/>
            <a:ext cx="13807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4,2 pax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3368" y="3392423"/>
            <a:ext cx="13807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3,1 pax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73567" y="3392423"/>
            <a:ext cx="174650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não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3712463"/>
            <a:ext cx="950976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29768" y="3813048"/>
            <a:ext cx="25237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1B2435"/>
                </a:solidFill>
                <a:latin typeface="Inter"/>
              </a:rPr>
              <a:t>1 turma de 40, metade viajando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72968" y="3813048"/>
            <a:ext cx="13807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4,0 pax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73168" y="3813048"/>
            <a:ext cx="13807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3,3 pax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73368" y="3813048"/>
            <a:ext cx="13807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2,5 pax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73567" y="3813048"/>
            <a:ext cx="174650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não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058400" y="2103120"/>
            <a:ext cx="1783080" cy="2029968"/>
          </a:xfrm>
          <a:prstGeom prst="roundRect">
            <a:avLst>
              <a:gd name="adj" fmla="val 5000"/>
            </a:avLst>
          </a:prstGeom>
          <a:solidFill>
            <a:srgbClr val="1B24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10241280" y="2331720"/>
            <a:ext cx="14173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400" b="1">
                <a:solidFill>
                  <a:srgbClr val="F2B705"/>
                </a:solidFill>
                <a:latin typeface="Sora"/>
              </a:rPr>
              <a:t>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41280" y="3017520"/>
            <a:ext cx="141732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950" b="0">
                <a:solidFill>
                  <a:srgbClr val="E6E8F0"/>
                </a:solidFill>
                <a:latin typeface="Inter"/>
              </a:rPr>
              <a:t>passageiros na mesma rota é o mínimo de mercado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20040" y="4343400"/>
            <a:ext cx="11521440" cy="777240"/>
          </a:xfrm>
          <a:prstGeom prst="roundRect">
            <a:avLst>
              <a:gd name="adj" fmla="val 5000"/>
            </a:avLst>
          </a:prstGeom>
          <a:solidFill>
            <a:srgbClr val="FDF1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594360" y="45262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B1220"/>
                </a:solidFill>
                <a:latin typeface="Sora"/>
              </a:rPr>
              <a:t>Nenhuma turma isolada forma grupo. A concentração tem que vir de somar turmas no mesmo campus e data.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20040" y="5074920"/>
            <a:ext cx="3749039" cy="14173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3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502920" y="5202936"/>
            <a:ext cx="338327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2B705"/>
                </a:solidFill>
                <a:latin typeface="Sora"/>
              </a:rPr>
              <a:t>Campus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5605272"/>
            <a:ext cx="338327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B1220"/>
                </a:solidFill>
                <a:latin typeface="Inter SemiBold"/>
              </a:rPr>
              <a:t>A nova unidade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5879592"/>
            <a:ext cx="338327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1B2435"/>
                </a:solidFill>
                <a:latin typeface="Inter"/>
              </a:rPr>
              <a:t>A negociação passa a ser por campus numa data, somando alunos de várias turmas.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224528" y="5074920"/>
            <a:ext cx="3749039" cy="14173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3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4407408" y="5202936"/>
            <a:ext cx="338327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2B705"/>
                </a:solidFill>
                <a:latin typeface="Sora"/>
              </a:rPr>
              <a:t>50 a 60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07408" y="5605272"/>
            <a:ext cx="338327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B1220"/>
                </a:solidFill>
                <a:latin typeface="Inter SemiBold"/>
              </a:rPr>
              <a:t>Alunos por data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07408" y="5879592"/>
            <a:ext cx="338327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1B2435"/>
                </a:solidFill>
                <a:latin typeface="Inter"/>
              </a:rPr>
              <a:t>É o limiar de concentração que liga a tarifa de grupo.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119872" y="5074920"/>
            <a:ext cx="3749039" cy="14173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3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8302752" y="5202936"/>
            <a:ext cx="338327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2B705"/>
                </a:solidFill>
                <a:latin typeface="Sora"/>
              </a:rPr>
              <a:t>Nosso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02752" y="5605272"/>
            <a:ext cx="338327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B1220"/>
                </a:solidFill>
                <a:latin typeface="Inter SemiBold"/>
              </a:rPr>
              <a:t>O bloqueio é da Antévia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02752" y="5879592"/>
            <a:ext cx="338327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1B2435"/>
                </a:solidFill>
                <a:latin typeface="Inter"/>
              </a:rPr>
              <a:t>Se quem agrega o volume é a plataforma, o ativo passa a ser nosso.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20040" y="6638544"/>
            <a:ext cx="5943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50" b="0" spc="60">
                <a:solidFill>
                  <a:srgbClr val="9AA1AD"/>
                </a:solidFill>
                <a:latin typeface="Inter"/>
              </a:rPr>
              <a:t>GRUPO KAIRÓS · BUSINESS DESIGN · SPRINT 04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954512" y="6638544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650" b="0">
                <a:solidFill>
                  <a:srgbClr val="9AA1AD"/>
                </a:solidFill>
                <a:latin typeface="Inter"/>
              </a:rPr>
              <a:t>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115214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300" b="1">
                <a:solidFill>
                  <a:srgbClr val="F2B705"/>
                </a:solidFill>
                <a:latin typeface="Sora"/>
              </a:rPr>
              <a:t>04  </a:t>
            </a:r>
            <a:r>
              <a:rPr sz="2300" b="1">
                <a:solidFill>
                  <a:srgbClr val="0B1220"/>
                </a:solidFill>
                <a:latin typeface="Sora"/>
              </a:rPr>
              <a:t>A economia por módulo, fase a fase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1B2435"/>
                </a:solidFill>
                <a:latin typeface="Inter"/>
              </a:rPr>
              <a:t>Hoje o aluno de fora desembolsa R$ 2.200 por módulo comprando em cima da hora.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2103120"/>
            <a:ext cx="11521440" cy="347472"/>
          </a:xfrm>
          <a:prstGeom prst="rect">
            <a:avLst/>
          </a:prstGeom>
          <a:solidFill>
            <a:srgbClr val="1B24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29768" y="2194560"/>
            <a:ext cx="26151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2B705"/>
                </a:solidFill>
                <a:latin typeface="Inter SemiBold"/>
              </a:rPr>
              <a:t>Item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64408" y="2194560"/>
            <a:ext cx="160934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2B705"/>
                </a:solidFill>
                <a:latin typeface="Inter SemiBold"/>
              </a:rPr>
              <a:t>Hoje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93208" y="2194560"/>
            <a:ext cx="206654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2B705"/>
                </a:solidFill>
                <a:latin typeface="Inter SemiBold"/>
              </a:rPr>
              <a:t>Fase 1 (ano 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79208" y="2194560"/>
            <a:ext cx="206654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2B705"/>
                </a:solidFill>
                <a:latin typeface="Inter SemiBold"/>
              </a:rPr>
              <a:t>Fase 2 (ano 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65207" y="2194560"/>
            <a:ext cx="206654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2B705"/>
                </a:solidFill>
                <a:latin typeface="Inter SemiBold"/>
              </a:rPr>
              <a:t>Fase 3 (ano 3)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450591"/>
            <a:ext cx="1152144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29768" y="2551175"/>
            <a:ext cx="261518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1B2435"/>
                </a:solidFill>
                <a:latin typeface="Inter"/>
              </a:rPr>
              <a:t>Aéreo (ida e volta)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64408" y="2551175"/>
            <a:ext cx="16093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R$ 1.400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93208" y="2551175"/>
            <a:ext cx="206654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R$ 1.150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79208" y="2551175"/>
            <a:ext cx="206654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R$ 1.080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65207" y="2551175"/>
            <a:ext cx="206654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R$ 1.020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871215"/>
            <a:ext cx="1152144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29768" y="2971799"/>
            <a:ext cx="261518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1B2435"/>
                </a:solidFill>
                <a:latin typeface="Inter"/>
              </a:rPr>
              <a:t>Hotel (2 diárias)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64408" y="2971799"/>
            <a:ext cx="16093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R$ 600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3208" y="2971799"/>
            <a:ext cx="206654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R$ 570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79208" y="2971799"/>
            <a:ext cx="206654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R$ 530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65207" y="2971799"/>
            <a:ext cx="206654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R$ 500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291839"/>
            <a:ext cx="1152144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29768" y="3392423"/>
            <a:ext cx="261518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1B2435"/>
                </a:solidFill>
                <a:latin typeface="Inter"/>
              </a:rPr>
              <a:t>Traslado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64408" y="3392423"/>
            <a:ext cx="16093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R$ 200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93208" y="3392423"/>
            <a:ext cx="206654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R$ 200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79208" y="3392423"/>
            <a:ext cx="206654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R$ 190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65207" y="3392423"/>
            <a:ext cx="206654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R$ 180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3712463"/>
            <a:ext cx="1152144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29768" y="3813048"/>
            <a:ext cx="261518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0B1220"/>
                </a:solidFill>
                <a:latin typeface="Inter SemiBold"/>
              </a:rPr>
              <a:t>Subtotal logístico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64408" y="3813048"/>
            <a:ext cx="16093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>
                <a:solidFill>
                  <a:srgbClr val="0B1220"/>
                </a:solidFill>
                <a:latin typeface="Inter SemiBold"/>
              </a:rPr>
              <a:t>R$ 2.200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93208" y="3813048"/>
            <a:ext cx="206654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>
                <a:solidFill>
                  <a:srgbClr val="0B1220"/>
                </a:solidFill>
                <a:latin typeface="Inter SemiBold"/>
              </a:rPr>
              <a:t>R$ 1.920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79208" y="3813048"/>
            <a:ext cx="206654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>
                <a:solidFill>
                  <a:srgbClr val="0B1220"/>
                </a:solidFill>
                <a:latin typeface="Inter SemiBold"/>
              </a:rPr>
              <a:t>R$ 1.800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65207" y="3813048"/>
            <a:ext cx="206654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>
                <a:solidFill>
                  <a:srgbClr val="0B1220"/>
                </a:solidFill>
                <a:latin typeface="Inter SemiBold"/>
              </a:rPr>
              <a:t>R$ 1.700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4133087"/>
            <a:ext cx="1152144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429768" y="4233672"/>
            <a:ext cx="261518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1B2435"/>
                </a:solidFill>
                <a:latin typeface="Inter"/>
              </a:rPr>
              <a:t>Taxa de serviço Antévia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64408" y="4233672"/>
            <a:ext cx="16093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93208" y="4233672"/>
            <a:ext cx="206654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R$ 100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79208" y="4233672"/>
            <a:ext cx="206654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R$ 100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65207" y="4233672"/>
            <a:ext cx="206654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R$ 100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4553712"/>
            <a:ext cx="11521440" cy="420624"/>
          </a:xfrm>
          <a:prstGeom prst="rect">
            <a:avLst/>
          </a:prstGeom>
          <a:solidFill>
            <a:srgbClr val="FDF1CB"/>
          </a:solidFill>
          <a:ln w="9525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429768" y="4654296"/>
            <a:ext cx="261518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0B1220"/>
                </a:solidFill>
                <a:latin typeface="Inter"/>
              </a:rPr>
              <a:t>Economia líquida do aluno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64408" y="4654296"/>
            <a:ext cx="16093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0B1220"/>
                </a:solidFill>
                <a:latin typeface="Inter"/>
              </a:rPr>
              <a:t>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93208" y="4654296"/>
            <a:ext cx="206654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0B1220"/>
                </a:solidFill>
                <a:latin typeface="Inter"/>
              </a:rPr>
              <a:t>R$ 180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79208" y="4654296"/>
            <a:ext cx="206654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0B1220"/>
                </a:solidFill>
                <a:latin typeface="Inter"/>
              </a:rPr>
              <a:t>R$ 300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65207" y="4654296"/>
            <a:ext cx="206654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0B1220"/>
                </a:solidFill>
                <a:latin typeface="Inter"/>
              </a:rPr>
              <a:t>R$ 400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" y="4974336"/>
            <a:ext cx="1152144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429768" y="5074920"/>
            <a:ext cx="261518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1B2435"/>
                </a:solidFill>
                <a:latin typeface="Inter"/>
              </a:rPr>
              <a:t>Redução no desembolso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64408" y="5074920"/>
            <a:ext cx="16093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93208" y="5074920"/>
            <a:ext cx="206654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8,2%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79208" y="5074920"/>
            <a:ext cx="206654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13,6%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65207" y="5074920"/>
            <a:ext cx="206654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18,2%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20040" y="5349240"/>
            <a:ext cx="11521440" cy="731520"/>
          </a:xfrm>
          <a:prstGeom prst="roundRect">
            <a:avLst>
              <a:gd name="adj" fmla="val 6000"/>
            </a:avLst>
          </a:prstGeom>
          <a:solidFill>
            <a:srgbClr val="1B24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594360" y="5513832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E6E8F0"/>
                </a:solidFill>
                <a:latin typeface="Inter"/>
              </a:rPr>
              <a:t>A meta de −15% a −25% da Sprint 1 só é atingida na fase 3. No ano 1 o aluno economiza 8,2% — e isso precisa ser dito a ele.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20040" y="6638544"/>
            <a:ext cx="5943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50" b="0" spc="60">
                <a:solidFill>
                  <a:srgbClr val="9AA1AD"/>
                </a:solidFill>
                <a:latin typeface="Inter"/>
              </a:rPr>
              <a:t>GRUPO KAIRÓS · BUSINESS DESIGN · SPRINT 04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954512" y="6638544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650" b="0">
                <a:solidFill>
                  <a:srgbClr val="9AA1AD"/>
                </a:solidFill>
                <a:latin typeface="Inter"/>
              </a:rPr>
              <a:t>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115214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300" b="1">
                <a:solidFill>
                  <a:srgbClr val="F2B705"/>
                </a:solidFill>
                <a:latin typeface="Sora"/>
              </a:rPr>
              <a:t>05  </a:t>
            </a:r>
            <a:r>
              <a:rPr sz="2300" b="1">
                <a:solidFill>
                  <a:srgbClr val="0B1220"/>
                </a:solidFill>
                <a:latin typeface="Sora"/>
              </a:rPr>
              <a:t>Como o mercado cobra hoje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1B2435"/>
                </a:solidFill>
                <a:latin typeface="Inter"/>
              </a:rPr>
              <a:t>Nenhuma alternativa cobre a operação inteira de um programa. O aluno paga pouco em taxa e muito em tarifa.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2057400"/>
            <a:ext cx="11521440" cy="347472"/>
          </a:xfrm>
          <a:prstGeom prst="rect">
            <a:avLst/>
          </a:prstGeom>
          <a:solidFill>
            <a:srgbClr val="1B24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29768" y="2148840"/>
            <a:ext cx="229514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2B705"/>
                </a:solidFill>
                <a:latin typeface="Inter SemiBold"/>
              </a:rPr>
              <a:t>Alternativa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44368" y="2148840"/>
            <a:ext cx="256946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2B705"/>
                </a:solidFill>
                <a:latin typeface="Inter SemiBold"/>
              </a:rPr>
              <a:t>Modelo de cobrança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33288" y="2148840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2B705"/>
                </a:solidFill>
                <a:latin typeface="Inter SemiBold"/>
              </a:rPr>
              <a:t>Faixa de referência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73568" y="2148840"/>
            <a:ext cx="375818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2B705"/>
                </a:solidFill>
                <a:latin typeface="Inter SemiBold"/>
              </a:rPr>
              <a:t>Por que não resolve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404872"/>
            <a:ext cx="115214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29768" y="2505456"/>
            <a:ext cx="2295144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1B2435"/>
                </a:solidFill>
                <a:latin typeface="Inter"/>
              </a:rPr>
              <a:t>Apps das cias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44368" y="2505456"/>
            <a:ext cx="2569463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1B2435"/>
                </a:solidFill>
                <a:latin typeface="Inter"/>
              </a:rPr>
              <a:t>Sem taxa; margem no tarifário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33288" y="2505456"/>
            <a:ext cx="2020824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R$ 0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73568" y="2505456"/>
            <a:ext cx="3758183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1B2435"/>
                </a:solidFill>
                <a:latin typeface="Inter"/>
              </a:rPr>
              <a:t>Resolve um trecho, ignora o calendário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880360"/>
            <a:ext cx="115214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29768" y="2980944"/>
            <a:ext cx="2295144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1B2435"/>
                </a:solidFill>
                <a:latin typeface="Inter"/>
              </a:rPr>
              <a:t>OTAs (Decolar, CVC)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44368" y="2980944"/>
            <a:ext cx="2569463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1B2435"/>
                </a:solidFill>
                <a:latin typeface="Inter"/>
              </a:rPr>
              <a:t>Conveniência + comissão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33288" y="2980944"/>
            <a:ext cx="2020824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R$ 0–80 / emissão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73568" y="2980944"/>
            <a:ext cx="3758183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1B2435"/>
                </a:solidFill>
                <a:latin typeface="Inter"/>
              </a:rPr>
              <a:t>Viagem a viagem, sob demanda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355848"/>
            <a:ext cx="115214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29768" y="3456432"/>
            <a:ext cx="2295144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1B2435"/>
                </a:solidFill>
                <a:latin typeface="Inter"/>
              </a:rPr>
              <a:t>Agência tradicional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44368" y="3456432"/>
            <a:ext cx="2569463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1B2435"/>
                </a:solidFill>
                <a:latin typeface="Inter"/>
              </a:rPr>
              <a:t>Fee por emissão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33288" y="3456432"/>
            <a:ext cx="2020824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R$ 40–120 / bilhete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73568" y="3456432"/>
            <a:ext cx="3758183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1B2435"/>
                </a:solidFill>
                <a:latin typeface="Inter"/>
              </a:rPr>
              <a:t>Cotação reativa, sem integração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3831335"/>
            <a:ext cx="115214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429768" y="3931920"/>
            <a:ext cx="2295144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1B2435"/>
                </a:solidFill>
                <a:latin typeface="Inter"/>
              </a:rPr>
              <a:t>Plataformas B2B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44368" y="3931920"/>
            <a:ext cx="2569463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1B2435"/>
                </a:solidFill>
                <a:latin typeface="Inter"/>
              </a:rPr>
              <a:t>SaaS + fee por transação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33288" y="3931920"/>
            <a:ext cx="2020824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R$ 20–60 / usuário/mês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73568" y="3931920"/>
            <a:ext cx="3758183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1B2435"/>
                </a:solidFill>
                <a:latin typeface="Inter"/>
              </a:rPr>
              <a:t>Exige CNPJ — o aluno PF fica fora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4306823"/>
            <a:ext cx="115214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429768" y="4407407"/>
            <a:ext cx="2295144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1B2435"/>
                </a:solidFill>
                <a:latin typeface="Inter"/>
              </a:rPr>
              <a:t>Concierge premium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44368" y="4407407"/>
            <a:ext cx="2569463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1B2435"/>
                </a:solidFill>
                <a:latin typeface="Inter"/>
              </a:rPr>
              <a:t>Mensalidade ou % da viagem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33288" y="4407407"/>
            <a:ext cx="2020824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5–15% da viagem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73568" y="4407407"/>
            <a:ext cx="3758183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1B2435"/>
                </a:solidFill>
                <a:latin typeface="Inter"/>
              </a:rPr>
              <a:t>Não existe recorte para aluno-executivo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20040" y="5074920"/>
            <a:ext cx="11521440" cy="868680"/>
          </a:xfrm>
          <a:prstGeom prst="roundRect">
            <a:avLst>
              <a:gd name="adj" fmla="val 5000"/>
            </a:avLst>
          </a:prstGeom>
          <a:solidFill>
            <a:srgbClr val="FDF1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594360" y="5285232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B1220"/>
                </a:solidFill>
                <a:latin typeface="Sora"/>
              </a:rPr>
              <a:t>O custo real da decisão tardia é invisível para o aluno: não aparece como taxa, aparece como preço da passagem.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040" y="6638544"/>
            <a:ext cx="5943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50" b="0" spc="60">
                <a:solidFill>
                  <a:srgbClr val="9AA1AD"/>
                </a:solidFill>
                <a:latin typeface="Inter"/>
              </a:rPr>
              <a:t>GRUPO KAIRÓS · BUSINESS DESIGN · SPRINT 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54512" y="6638544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650" b="0">
                <a:solidFill>
                  <a:srgbClr val="9AA1AD"/>
                </a:solidFill>
                <a:latin typeface="Inter"/>
              </a:rPr>
              <a:t>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115214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300" b="1">
                <a:solidFill>
                  <a:srgbClr val="F2B705"/>
                </a:solidFill>
                <a:latin typeface="Sora"/>
              </a:rPr>
              <a:t>06  </a:t>
            </a:r>
            <a:r>
              <a:rPr sz="2300" b="1">
                <a:solidFill>
                  <a:srgbClr val="0B1220"/>
                </a:solidFill>
                <a:latin typeface="Sora"/>
              </a:rPr>
              <a:t>O preço se paga — mas a folga cresce com o tempo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1B2435"/>
                </a:solidFill>
                <a:latin typeface="Inter"/>
              </a:rPr>
              <a:t>A taxa foi ancorada na economia entregue, não em disposição a pagar declarada. Só que a economia muda por fase.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2103120"/>
            <a:ext cx="2761488" cy="26060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3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02920" y="2359152"/>
            <a:ext cx="239572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B85042"/>
                </a:solidFill>
                <a:latin typeface="Sora"/>
              </a:rPr>
              <a:t>1,8×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127248"/>
            <a:ext cx="2395728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0B1220"/>
                </a:solidFill>
                <a:latin typeface="Inter SemiBold"/>
              </a:rPr>
              <a:t>Retorno no ano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584448"/>
            <a:ext cx="2395728" cy="10149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1B2435"/>
                </a:solidFill>
                <a:latin typeface="Inter"/>
              </a:rPr>
              <a:t>Paga R$ 100, recebe R$ 180. O serviço se paga, com folga apertada.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2103120"/>
            <a:ext cx="2761488" cy="26060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3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429000" y="2359152"/>
            <a:ext cx="239572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F2B705"/>
                </a:solidFill>
                <a:latin typeface="Sora"/>
              </a:rPr>
              <a:t>3,0×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3127248"/>
            <a:ext cx="2395728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0B1220"/>
                </a:solidFill>
                <a:latin typeface="Inter SemiBold"/>
              </a:rPr>
              <a:t>Retorno no ano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3584448"/>
            <a:ext cx="2395728" cy="10149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1B2435"/>
                </a:solidFill>
                <a:latin typeface="Inter"/>
              </a:rPr>
              <a:t>Bloqueios pontuais elevam a economia para R$ 300 líquidos.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2103120"/>
            <a:ext cx="2761488" cy="26060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3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364224" y="2359152"/>
            <a:ext cx="239572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2D6A4F"/>
                </a:solidFill>
                <a:latin typeface="Sora"/>
              </a:rPr>
              <a:t>4,0×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4224" y="3127248"/>
            <a:ext cx="2395728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0B1220"/>
                </a:solidFill>
                <a:latin typeface="Inter SemiBold"/>
              </a:rPr>
              <a:t>Retorno no ano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4224" y="3584448"/>
            <a:ext cx="2395728" cy="10149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1B2435"/>
                </a:solidFill>
                <a:latin typeface="Inter"/>
              </a:rPr>
              <a:t>Convênio próprio: paga R$ 100, recebe R$ 400 de volta.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07424" y="2103120"/>
            <a:ext cx="2761488" cy="26060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3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290304" y="2359152"/>
            <a:ext cx="239572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2B705"/>
                </a:solidFill>
                <a:latin typeface="Sora"/>
              </a:rPr>
              <a:t>63% → 48%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90304" y="3127248"/>
            <a:ext cx="2395728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0B1220"/>
                </a:solidFill>
                <a:latin typeface="Inter SemiBold"/>
              </a:rPr>
              <a:t>Peso da taxa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90304" y="3584448"/>
            <a:ext cx="2395728" cy="10149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1B2435"/>
                </a:solidFill>
                <a:latin typeface="Inter"/>
              </a:rPr>
              <a:t>A dependência do bolso do aluno cai conforme a comissão cresce.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040" y="5120640"/>
            <a:ext cx="11521440" cy="777240"/>
          </a:xfrm>
          <a:prstGeom prst="roundRect">
            <a:avLst>
              <a:gd name="adj" fmla="val 6000"/>
            </a:avLst>
          </a:prstGeom>
          <a:solidFill>
            <a:srgbClr val="1B24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94360" y="530352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E6E8F0"/>
                </a:solidFill>
                <a:latin typeface="Inter"/>
              </a:rPr>
              <a:t>Consequência comercial: no primeiro ano a venda não se sustenta só no desconto. Apoia-se no tempo devolvido e em não orquestrar três plataformas por módulo.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6638544"/>
            <a:ext cx="5943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50" b="0" spc="60">
                <a:solidFill>
                  <a:srgbClr val="9AA1AD"/>
                </a:solidFill>
                <a:latin typeface="Inter"/>
              </a:rPr>
              <a:t>GRUPO KAIRÓS · BUSINESS DESIGN · SPRINT 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54512" y="6638544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650" b="0">
                <a:solidFill>
                  <a:srgbClr val="9AA1AD"/>
                </a:solidFill>
                <a:latin typeface="Inter"/>
              </a:rPr>
              <a:t>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115214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300" b="1">
                <a:solidFill>
                  <a:srgbClr val="F2B705"/>
                </a:solidFill>
                <a:latin typeface="Sora"/>
              </a:rPr>
              <a:t>07  </a:t>
            </a:r>
            <a:r>
              <a:rPr sz="2300" b="1">
                <a:solidFill>
                  <a:srgbClr val="0B1220"/>
                </a:solidFill>
                <a:latin typeface="Sora"/>
              </a:rPr>
              <a:t>Potencial de mercado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1B2435"/>
                </a:solidFill>
                <a:latin typeface="Inter"/>
              </a:rPr>
              <a:t>Construído de baixo para cima a partir da base do IBGE usada na Sprint 1.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938528"/>
            <a:ext cx="11521440" cy="896112"/>
          </a:xfrm>
          <a:prstGeom prst="roundRect">
            <a:avLst>
              <a:gd name="adj" fmla="val 6000"/>
            </a:avLst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76072" y="2066544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1">
                <a:solidFill>
                  <a:srgbClr val="0B1220"/>
                </a:solidFill>
                <a:latin typeface="Sora"/>
              </a:rPr>
              <a:t>Quantos existem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" y="2432304"/>
            <a:ext cx="28346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0B1220"/>
                </a:solidFill>
                <a:latin typeface="Inter"/>
              </a:rPr>
              <a:t>no Brasil inteiro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0" y="2084832"/>
            <a:ext cx="72237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>
                <a:solidFill>
                  <a:srgbClr val="0B1220"/>
                </a:solidFill>
                <a:latin typeface="Inter SemiBold"/>
              </a:rPr>
              <a:t>42.000 alunos-viajantes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2441448"/>
            <a:ext cx="7223759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B1220"/>
                </a:solidFill>
                <a:latin typeface="Inter"/>
              </a:rPr>
              <a:t>R$ 63,1 mi por ano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19" y="2267712"/>
            <a:ext cx="5669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spc="140">
                <a:solidFill>
                  <a:srgbClr val="0B1220"/>
                </a:solidFill>
                <a:latin typeface="Inter SemiBold"/>
              </a:rPr>
              <a:t>TAM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799" y="2944368"/>
            <a:ext cx="8503920" cy="896112"/>
          </a:xfrm>
          <a:prstGeom prst="roundRect">
            <a:avLst>
              <a:gd name="adj" fmla="val 6000"/>
            </a:avLst>
          </a:prstGeom>
          <a:solidFill>
            <a:srgbClr val="D9A3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2084831" y="3072384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1">
                <a:solidFill>
                  <a:srgbClr val="0B1220"/>
                </a:solidFill>
                <a:latin typeface="Sora"/>
              </a:rPr>
              <a:t>Quantos podemos atender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84831" y="3438144"/>
            <a:ext cx="28346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0B1220"/>
                </a:solidFill>
                <a:latin typeface="Inter"/>
              </a:rPr>
              <a:t>Nova Lima, São Paulo e Rio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74919" y="3090672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>
                <a:solidFill>
                  <a:srgbClr val="0B1220"/>
                </a:solidFill>
                <a:latin typeface="Inter SemiBold"/>
              </a:rPr>
              <a:t>10.500 alunos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4919" y="3447288"/>
            <a:ext cx="4206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B1220"/>
                </a:solidFill>
                <a:latin typeface="Inter"/>
              </a:rPr>
              <a:t>R$ 15,8 mi por ano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3273552"/>
            <a:ext cx="5669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spc="140">
                <a:solidFill>
                  <a:srgbClr val="0B1220"/>
                </a:solidFill>
                <a:latin typeface="Inter SemiBold"/>
              </a:rPr>
              <a:t>SAM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57500" y="3950208"/>
            <a:ext cx="6446520" cy="896112"/>
          </a:xfrm>
          <a:prstGeom prst="roundRect">
            <a:avLst>
              <a:gd name="adj" fmla="val 6000"/>
            </a:avLst>
          </a:prstGeom>
          <a:solidFill>
            <a:srgbClr val="B886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113532" y="4078224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1">
                <a:solidFill>
                  <a:srgbClr val="0B1220"/>
                </a:solidFill>
                <a:latin typeface="Sora"/>
              </a:rPr>
              <a:t>Quantos vamos atender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13532" y="4443984"/>
            <a:ext cx="28346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0B1220"/>
                </a:solidFill>
                <a:latin typeface="Inter"/>
              </a:rPr>
              <a:t>nossa meta em 3 anos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03620" y="4096512"/>
            <a:ext cx="2148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>
                <a:solidFill>
                  <a:srgbClr val="0B1220"/>
                </a:solidFill>
                <a:latin typeface="Inter SemiBold"/>
              </a:rPr>
              <a:t>650 alunos ativos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03620" y="4453128"/>
            <a:ext cx="2148839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B1220"/>
                </a:solidFill>
                <a:latin typeface="Inter"/>
              </a:rPr>
              <a:t>R$ 977 mil por ano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81060" y="4279392"/>
            <a:ext cx="5669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spc="140">
                <a:solidFill>
                  <a:srgbClr val="0B1220"/>
                </a:solidFill>
                <a:latin typeface="Inter SemiBold"/>
              </a:rPr>
              <a:t>SOM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5010912"/>
            <a:ext cx="11521440" cy="292608"/>
          </a:xfrm>
          <a:prstGeom prst="rect">
            <a:avLst/>
          </a:prstGeom>
          <a:solidFill>
            <a:srgbClr val="1B24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29768" y="5102352"/>
            <a:ext cx="266090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2B705"/>
                </a:solidFill>
                <a:latin typeface="Inter SemiBold"/>
              </a:rPr>
              <a:t>Fim do ano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10128" y="5102352"/>
            <a:ext cx="266090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2B705"/>
                </a:solidFill>
                <a:latin typeface="Inter SemiBold"/>
              </a:rPr>
              <a:t>Alunos ativos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90488" y="5102352"/>
            <a:ext cx="266090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2B705"/>
                </a:solidFill>
                <a:latin typeface="Inter SemiBold"/>
              </a:rPr>
              <a:t>Receita anualizada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70848" y="5102352"/>
            <a:ext cx="266090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2B705"/>
                </a:solidFill>
                <a:latin typeface="Inter SemiBold"/>
              </a:rPr>
              <a:t>% dos 10.500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5303520"/>
            <a:ext cx="1152144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29768" y="5404104"/>
            <a:ext cx="2660904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1B2435"/>
                </a:solidFill>
                <a:latin typeface="Inter"/>
              </a:rPr>
              <a:t>Ano 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10128" y="5404104"/>
            <a:ext cx="2660904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100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90488" y="5404104"/>
            <a:ext cx="2660904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R$ 113 mil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70848" y="5404104"/>
            <a:ext cx="2660904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1,0%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5614416"/>
            <a:ext cx="1152144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429768" y="5715000"/>
            <a:ext cx="2660904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1B2435"/>
                </a:solidFill>
                <a:latin typeface="Inter"/>
              </a:rPr>
              <a:t>Ano 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10128" y="5715000"/>
            <a:ext cx="2660904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280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90488" y="5715000"/>
            <a:ext cx="2660904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R$ 383 mil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70848" y="5715000"/>
            <a:ext cx="2660904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2,7%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5925312"/>
            <a:ext cx="11521440" cy="310896"/>
          </a:xfrm>
          <a:prstGeom prst="rect">
            <a:avLst/>
          </a:prstGeom>
          <a:solidFill>
            <a:srgbClr val="FDF1CB"/>
          </a:solidFill>
          <a:ln w="9525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429768" y="6025896"/>
            <a:ext cx="2660904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0B1220"/>
                </a:solidFill>
                <a:latin typeface="Inter"/>
              </a:rPr>
              <a:t>Ano 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10128" y="6025896"/>
            <a:ext cx="2660904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0B1220"/>
                </a:solidFill>
                <a:latin typeface="Inter"/>
              </a:rPr>
              <a:t>650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90488" y="6025896"/>
            <a:ext cx="2660904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0B1220"/>
                </a:solidFill>
                <a:latin typeface="Inter"/>
              </a:rPr>
              <a:t>R$ 977 mil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70848" y="6025896"/>
            <a:ext cx="2660904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0B1220"/>
                </a:solidFill>
                <a:latin typeface="Inter"/>
              </a:rPr>
              <a:t>6,2%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0040" y="6364224"/>
            <a:ext cx="115214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Inter"/>
              </a:rPr>
              <a:t>TAM, SAM e SOM são as siglas do framework, à direita de cada faixa. A primeira versão projetava 24% do mercado atendível, assumindo turma de 100 alunos e adesão de 60% desde o T1.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0040" y="6638544"/>
            <a:ext cx="5943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50" b="0" spc="60">
                <a:solidFill>
                  <a:srgbClr val="9AA1AD"/>
                </a:solidFill>
                <a:latin typeface="Inter"/>
              </a:rPr>
              <a:t>GRUPO KAIRÓS · BUSINESS DESIGN · SPRINT 04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54512" y="6638544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650" b="0">
                <a:solidFill>
                  <a:srgbClr val="9AA1AD"/>
                </a:solidFill>
                <a:latin typeface="Inter"/>
              </a:rPr>
              <a:t>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115214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300" b="1">
                <a:solidFill>
                  <a:srgbClr val="F2B705"/>
                </a:solidFill>
                <a:latin typeface="Sora"/>
              </a:rPr>
              <a:t>08  </a:t>
            </a:r>
            <a:r>
              <a:rPr sz="2300" b="1">
                <a:solidFill>
                  <a:srgbClr val="0B1220"/>
                </a:solidFill>
                <a:latin typeface="Sora"/>
              </a:rPr>
              <a:t>Três cenários de receita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1B2435"/>
                </a:solidFill>
                <a:latin typeface="Inter"/>
              </a:rPr>
              <a:t>O que separa os cenários é quantos alunos a operação capta. As fases de negociação são as mesmas nos três.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2057400"/>
            <a:ext cx="3749039" cy="1874519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3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02920" y="2313432"/>
            <a:ext cx="338327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solidFill>
                  <a:srgbClr val="C9CFDA"/>
                </a:solidFill>
                <a:latin typeface="Sora"/>
              </a:rPr>
              <a:t>R$ 551 mil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081528"/>
            <a:ext cx="338327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0B1220"/>
                </a:solidFill>
                <a:latin typeface="Inter SemiBold"/>
              </a:rPr>
              <a:t>Pessimista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538728"/>
            <a:ext cx="3383279" cy="2834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1B2435"/>
                </a:solidFill>
                <a:latin typeface="Inter"/>
              </a:rPr>
              <a:t>50 alunos no ano 1 · 320 no T12 · ano 1 de R$ 38 mil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24528" y="2057400"/>
            <a:ext cx="3749039" cy="1874519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3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407408" y="2313432"/>
            <a:ext cx="338327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solidFill>
                  <a:srgbClr val="F2B705"/>
                </a:solidFill>
                <a:latin typeface="Sora"/>
              </a:rPr>
              <a:t>R$ 1,10 mi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07408" y="3081528"/>
            <a:ext cx="338327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0B1220"/>
                </a:solidFill>
                <a:latin typeface="Inter SemiBold"/>
              </a:rPr>
              <a:t>Tendencial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07408" y="3538728"/>
            <a:ext cx="3383279" cy="2834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1B2435"/>
                </a:solidFill>
                <a:latin typeface="Inter"/>
              </a:rPr>
              <a:t>100 alunos no ano 1 · 650 no T12 · ano 1 de R$ 71 mil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9872" y="2057400"/>
            <a:ext cx="3749039" cy="1874519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3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302752" y="2313432"/>
            <a:ext cx="338327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solidFill>
                  <a:srgbClr val="2D6A4F"/>
                </a:solidFill>
                <a:latin typeface="Sora"/>
              </a:rPr>
              <a:t>R$ 1,83 mi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752" y="3081528"/>
            <a:ext cx="338327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0B1220"/>
                </a:solidFill>
                <a:latin typeface="Inter SemiBold"/>
              </a:rPr>
              <a:t>Otimista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2752" y="3538728"/>
            <a:ext cx="3383279" cy="2834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1B2435"/>
                </a:solidFill>
                <a:latin typeface="Inter"/>
              </a:rPr>
              <a:t>160 alunos no ano 1 · 1.100 no T12 · ano 1 de R$ 113 mil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160520"/>
            <a:ext cx="11521440" cy="347472"/>
          </a:xfrm>
          <a:prstGeom prst="rect">
            <a:avLst/>
          </a:prstGeom>
          <a:solidFill>
            <a:srgbClr val="1B24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29768" y="4251959"/>
            <a:ext cx="165506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2B705"/>
                </a:solidFill>
                <a:latin typeface="Inter SemiBold"/>
              </a:rPr>
              <a:t>Cenário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04288" y="4251959"/>
            <a:ext cx="128930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2B705"/>
                </a:solidFill>
                <a:latin typeface="Inter SemiBold"/>
              </a:rPr>
              <a:t>Ano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13048" y="4251959"/>
            <a:ext cx="138074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2B705"/>
                </a:solidFill>
                <a:latin typeface="Inter SemiBold"/>
              </a:rPr>
              <a:t>Ano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13248" y="4251959"/>
            <a:ext cx="142646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2B705"/>
                </a:solidFill>
                <a:latin typeface="Inter SemiBold"/>
              </a:rPr>
              <a:t>Ano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59168" y="4251959"/>
            <a:ext cx="156362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2B705"/>
                </a:solidFill>
                <a:latin typeface="Inter SemiBold"/>
              </a:rPr>
              <a:t>Total 3 anos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42247" y="4251959"/>
            <a:ext cx="119786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2B705"/>
                </a:solidFill>
                <a:latin typeface="Inter SemiBold"/>
              </a:rPr>
              <a:t>Viagens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59567" y="4251959"/>
            <a:ext cx="14721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2B705"/>
                </a:solidFill>
                <a:latin typeface="Inter SemiBold"/>
              </a:rPr>
              <a:t>Economia alunos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507992"/>
            <a:ext cx="1152144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429768" y="4608576"/>
            <a:ext cx="1655063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1B2435"/>
                </a:solidFill>
                <a:latin typeface="Inter"/>
              </a:rPr>
              <a:t>Pessimista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04288" y="4608576"/>
            <a:ext cx="128930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R$ 38 mil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13048" y="4608576"/>
            <a:ext cx="138074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R$ 140 mil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13248" y="4608576"/>
            <a:ext cx="142646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R$ 372 mil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59168" y="4608576"/>
            <a:ext cx="156362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R$ 551 mil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42247" y="4608576"/>
            <a:ext cx="119786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2.763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59567" y="4608576"/>
            <a:ext cx="147218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R$ 978 mil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4873752"/>
            <a:ext cx="11521440" cy="365760"/>
          </a:xfrm>
          <a:prstGeom prst="rect">
            <a:avLst/>
          </a:prstGeom>
          <a:solidFill>
            <a:srgbClr val="FDF1CB"/>
          </a:solidFill>
          <a:ln w="9525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429768" y="4974336"/>
            <a:ext cx="1655063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0B1220"/>
                </a:solidFill>
                <a:latin typeface="Inter"/>
              </a:rPr>
              <a:t>Tendencial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04288" y="4974336"/>
            <a:ext cx="128930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0B1220"/>
                </a:solidFill>
                <a:latin typeface="Inter"/>
              </a:rPr>
              <a:t>R$ 71 mil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13048" y="4974336"/>
            <a:ext cx="138074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0B1220"/>
                </a:solidFill>
                <a:latin typeface="Inter"/>
              </a:rPr>
              <a:t>R$ 284 mil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13248" y="4974336"/>
            <a:ext cx="142646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0B1220"/>
                </a:solidFill>
                <a:latin typeface="Inter"/>
              </a:rPr>
              <a:t>R$ 744 mil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59168" y="4974336"/>
            <a:ext cx="156362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0B1220"/>
                </a:solidFill>
                <a:latin typeface="Inter"/>
              </a:rPr>
              <a:t>R$ 1,10 mi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42247" y="4974336"/>
            <a:ext cx="119786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0B1220"/>
                </a:solidFill>
                <a:latin typeface="Inter"/>
              </a:rPr>
              <a:t>5.508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59567" y="4974336"/>
            <a:ext cx="147218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0B1220"/>
                </a:solidFill>
                <a:latin typeface="Inter"/>
              </a:rPr>
              <a:t>R$ 1,95 mi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5239512"/>
            <a:ext cx="1152144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429768" y="5340096"/>
            <a:ext cx="1655063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1B2435"/>
                </a:solidFill>
                <a:latin typeface="Inter"/>
              </a:rPr>
              <a:t>Otimista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304288" y="5340096"/>
            <a:ext cx="128930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R$ 113 mil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13048" y="5340096"/>
            <a:ext cx="138074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R$ 455 mil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13248" y="5340096"/>
            <a:ext cx="142646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R$ 1,27 mi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59168" y="5340096"/>
            <a:ext cx="156362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R$ 1,83 mi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842247" y="5340096"/>
            <a:ext cx="119786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9.180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59567" y="5340096"/>
            <a:ext cx="147218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1B2435"/>
                </a:solidFill>
                <a:latin typeface="Inter"/>
              </a:rPr>
              <a:t>R$ 3,27 mi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20040" y="5669280"/>
            <a:ext cx="11521440" cy="411480"/>
          </a:xfrm>
          <a:prstGeom prst="roundRect">
            <a:avLst>
              <a:gd name="adj" fmla="val 8000"/>
            </a:avLst>
          </a:prstGeom>
          <a:solidFill>
            <a:srgbClr val="FDF1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594360" y="5769864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0B1220"/>
                </a:solidFill>
                <a:latin typeface="Inter SemiBold"/>
              </a:rPr>
              <a:t>Em todos os cenários a economia devolvida aos alunos é quase o dobro da receita da empresa.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0040" y="6638544"/>
            <a:ext cx="5943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50" b="0" spc="60">
                <a:solidFill>
                  <a:srgbClr val="9AA1AD"/>
                </a:solidFill>
                <a:latin typeface="Inter"/>
              </a:rPr>
              <a:t>GRUPO KAIRÓS · BUSINESS DESIGN · SPRINT 04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954512" y="6638544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650" b="0">
                <a:solidFill>
                  <a:srgbClr val="9AA1AD"/>
                </a:solidFill>
                <a:latin typeface="Inter"/>
              </a:rPr>
              <a:t>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115214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300" b="1">
                <a:solidFill>
                  <a:srgbClr val="F2B705"/>
                </a:solidFill>
                <a:latin typeface="Sora"/>
              </a:rPr>
              <a:t>09  </a:t>
            </a:r>
            <a:r>
              <a:rPr sz="2300" b="1">
                <a:solidFill>
                  <a:srgbClr val="0B1220"/>
                </a:solidFill>
                <a:latin typeface="Sora"/>
              </a:rPr>
              <a:t>Sobraram três variáveis — e a dominante é nossa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1B2435"/>
                </a:solidFill>
                <a:latin typeface="Inter"/>
              </a:rPr>
              <a:t>Cada variável movida isoladamente, com as demais no cenário tendencial. Base: R$ 1,10 mi em 3 anos.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0" y="2240279"/>
            <a:ext cx="10972" cy="3017520"/>
          </a:xfrm>
          <a:prstGeom prst="rect">
            <a:avLst/>
          </a:prstGeom>
          <a:solidFill>
            <a:srgbClr val="E3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3566160" y="2459736"/>
            <a:ext cx="2194560" cy="384048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760720" y="2459736"/>
            <a:ext cx="2194560" cy="384048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20040" y="2532888"/>
            <a:ext cx="5257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0B1220"/>
                </a:solidFill>
                <a:latin typeface="Inter SemiBold"/>
              </a:rPr>
              <a:t>Alunos captados por ano (±30%)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2532888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B1220"/>
                </a:solidFill>
                <a:latin typeface="Inter SemiBold"/>
              </a:rPr>
              <a:t>−30,0% / +30,0%</a:t>
            </a:r>
          </a:p>
        </p:txBody>
      </p:sp>
      <p:sp>
        <p:nvSpPr>
          <p:cNvPr id="9" name="Rectangle 8"/>
          <p:cNvSpPr/>
          <p:nvPr/>
        </p:nvSpPr>
        <p:spPr>
          <a:xfrm>
            <a:off x="3924604" y="3419856"/>
            <a:ext cx="1836115" cy="384048"/>
          </a:xfrm>
          <a:prstGeom prst="rect">
            <a:avLst/>
          </a:prstGeom>
          <a:solidFill>
            <a:srgbClr val="C9C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760720" y="3419856"/>
            <a:ext cx="1836115" cy="384048"/>
          </a:xfrm>
          <a:prstGeom prst="rect">
            <a:avLst/>
          </a:prstGeom>
          <a:solidFill>
            <a:srgbClr val="C9C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20040" y="3493008"/>
            <a:ext cx="5257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1B2435"/>
                </a:solidFill>
                <a:latin typeface="Inter"/>
              </a:rPr>
              <a:t>Taxa de serviço (R$ 50 / R$ 150)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3493008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Inter"/>
              </a:rPr>
              <a:t>−25,1% / +25,1%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4379975"/>
            <a:ext cx="1097280" cy="384048"/>
          </a:xfrm>
          <a:prstGeom prst="rect">
            <a:avLst/>
          </a:prstGeom>
          <a:solidFill>
            <a:srgbClr val="C9C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760720" y="4379975"/>
            <a:ext cx="2106777" cy="384048"/>
          </a:xfrm>
          <a:prstGeom prst="rect">
            <a:avLst/>
          </a:prstGeom>
          <a:solidFill>
            <a:srgbClr val="C9C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20040" y="4453127"/>
            <a:ext cx="5257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1B2435"/>
                </a:solidFill>
                <a:latin typeface="Inter"/>
              </a:rPr>
              <a:t>Comissão (uma faixa abaixo / acima)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4453127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Inter"/>
              </a:rPr>
              <a:t>−15,0% / +28,8%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534924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6B7280"/>
                </a:solidFill>
                <a:latin typeface="Inter"/>
              </a:rPr>
              <a:t>base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715000"/>
            <a:ext cx="11521440" cy="731520"/>
          </a:xfrm>
          <a:prstGeom prst="roundRect">
            <a:avLst>
              <a:gd name="adj" fmla="val 6000"/>
            </a:avLst>
          </a:prstGeom>
          <a:solidFill>
            <a:srgbClr val="1B24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94360" y="5870448"/>
            <a:ext cx="109728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E6E8F0"/>
                </a:solidFill>
                <a:latin typeface="Inter"/>
              </a:rPr>
              <a:t>As versões anteriores tinham cinco variáveis, duas delas frágeis: tamanho da turma e adesão dentro dela. As duas saíram ao adotar o aluno captado como unidade. O que sobrou é direto de defender — e a variável dominante é a que o grupo controla.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6638544"/>
            <a:ext cx="5943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50" b="0" spc="60">
                <a:solidFill>
                  <a:srgbClr val="9AA1AD"/>
                </a:solidFill>
                <a:latin typeface="Inter"/>
              </a:rPr>
              <a:t>GRUPO KAIRÓS · BUSINESS DESIGN · SPRINT 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54512" y="6638544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650" b="0">
                <a:solidFill>
                  <a:srgbClr val="9AA1AD"/>
                </a:solidFill>
                <a:latin typeface="Inter"/>
              </a:rP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115214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300" b="1">
                <a:solidFill>
                  <a:srgbClr val="F2B705"/>
                </a:solidFill>
                <a:latin typeface="Sora"/>
              </a:rPr>
              <a:t>10  </a:t>
            </a:r>
            <a:r>
              <a:rPr sz="2300" b="1">
                <a:solidFill>
                  <a:srgbClr val="FFFFFF"/>
                </a:solidFill>
                <a:latin typeface="Sora"/>
              </a:rPr>
              <a:t>O primeiro ano é o desafio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234440"/>
            <a:ext cx="9966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E6E8F0"/>
                </a:solidFill>
                <a:latin typeface="Inter"/>
              </a:rPr>
              <a:t>Em 3 anos, no cenário tendencial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99669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500" b="1">
                <a:solidFill>
                  <a:srgbClr val="F2B705"/>
                </a:solidFill>
                <a:latin typeface="Sora"/>
              </a:rPr>
              <a:t>R$ 1,10 mi</a:t>
            </a:r>
            <a:r>
              <a:rPr sz="2500" b="1">
                <a:solidFill>
                  <a:srgbClr val="FFFFFF"/>
                </a:solidFill>
                <a:latin typeface="Sora"/>
              </a:rPr>
              <a:t> de receita — e um ano 1 de </a:t>
            </a:r>
            <a:r>
              <a:rPr sz="2500" b="1">
                <a:solidFill>
                  <a:srgbClr val="F2B705"/>
                </a:solidFill>
                <a:latin typeface="Sora"/>
              </a:rPr>
              <a:t>R$ 71 mil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331720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Sora"/>
              </a:rPr>
              <a:t>menos de R$ 6 mil por mês: não paga equipe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3017520"/>
            <a:ext cx="2761488" cy="1143000"/>
          </a:xfrm>
          <a:prstGeom prst="roundRect">
            <a:avLst>
              <a:gd name="adj" fmla="val 6000"/>
            </a:avLst>
          </a:prstGeom>
          <a:solidFill>
            <a:srgbClr val="1B2435"/>
          </a:solidFill>
          <a:ln w="9525">
            <a:solidFill>
              <a:srgbClr val="2A3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02920" y="3200400"/>
            <a:ext cx="2395728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300" b="1">
                <a:solidFill>
                  <a:srgbClr val="F2B705"/>
                </a:solidFill>
                <a:latin typeface="Sora"/>
              </a:rPr>
              <a:t>5.508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730752"/>
            <a:ext cx="23957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E6E8F0"/>
                </a:solidFill>
                <a:latin typeface="Inter"/>
              </a:rPr>
              <a:t>viagens em 3 anos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3017520"/>
            <a:ext cx="2761488" cy="1143000"/>
          </a:xfrm>
          <a:prstGeom prst="roundRect">
            <a:avLst>
              <a:gd name="adj" fmla="val 6000"/>
            </a:avLst>
          </a:prstGeom>
          <a:solidFill>
            <a:srgbClr val="1B2435"/>
          </a:solidFill>
          <a:ln w="9525">
            <a:solidFill>
              <a:srgbClr val="2A3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429000" y="3200400"/>
            <a:ext cx="2395728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300" b="1">
                <a:solidFill>
                  <a:srgbClr val="F2B705"/>
                </a:solidFill>
                <a:latin typeface="Sora"/>
              </a:rPr>
              <a:t>R$ 1,95 mi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3730752"/>
            <a:ext cx="23957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E6E8F0"/>
                </a:solidFill>
                <a:latin typeface="Inter"/>
              </a:rPr>
              <a:t>devolvidos aos alunos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3017520"/>
            <a:ext cx="2761488" cy="1143000"/>
          </a:xfrm>
          <a:prstGeom prst="roundRect">
            <a:avLst>
              <a:gd name="adj" fmla="val 6000"/>
            </a:avLst>
          </a:prstGeom>
          <a:solidFill>
            <a:srgbClr val="1B2435"/>
          </a:solidFill>
          <a:ln w="9525">
            <a:solidFill>
              <a:srgbClr val="2A3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364224" y="3200400"/>
            <a:ext cx="2395728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300" b="1">
                <a:solidFill>
                  <a:srgbClr val="F2B705"/>
                </a:solidFill>
                <a:latin typeface="Sora"/>
              </a:rPr>
              <a:t>650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4224" y="3730752"/>
            <a:ext cx="23957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E6E8F0"/>
                </a:solidFill>
                <a:latin typeface="Inter"/>
              </a:rPr>
              <a:t>alunos ativos no T12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07424" y="3017520"/>
            <a:ext cx="2761488" cy="1143000"/>
          </a:xfrm>
          <a:prstGeom prst="roundRect">
            <a:avLst>
              <a:gd name="adj" fmla="val 6000"/>
            </a:avLst>
          </a:prstGeom>
          <a:solidFill>
            <a:srgbClr val="1B2435"/>
          </a:solidFill>
          <a:ln w="9525">
            <a:solidFill>
              <a:srgbClr val="2A3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290304" y="3200400"/>
            <a:ext cx="2395728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300" b="1">
                <a:solidFill>
                  <a:srgbClr val="F2B705"/>
                </a:solidFill>
                <a:latin typeface="Sora"/>
              </a:rPr>
              <a:t>6,2%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90304" y="3730752"/>
            <a:ext cx="23957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E6E8F0"/>
                </a:solidFill>
                <a:latin typeface="Inter"/>
              </a:rPr>
              <a:t>do SAM alcançado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4434840"/>
            <a:ext cx="11521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 spc="150">
                <a:solidFill>
                  <a:srgbClr val="F2B705"/>
                </a:solidFill>
                <a:latin typeface="Inter SemiBold"/>
              </a:rPr>
              <a:t>O ANO 1 NÃO É MEDIDO POR RECEITA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754880"/>
            <a:ext cx="9966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>
                <a:solidFill>
                  <a:srgbClr val="E6E8F0"/>
                </a:solidFill>
                <a:latin typeface="Inter"/>
              </a:rPr>
              <a:t>Ele existe para produzir prova de execução, volume acumulado e concentração de campus — os três ativos que destravam a fase 2. A métrica é alunos captados, não faturamento.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5623560"/>
            <a:ext cx="322783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Sora"/>
              </a:rPr>
              <a:t>Ant</a:t>
            </a:r>
            <a:r>
              <a:rPr sz="2200" b="1">
                <a:solidFill>
                  <a:srgbClr val="F2B705"/>
                </a:solidFill>
                <a:latin typeface="Sora"/>
              </a:rPr>
              <a:t>é</a:t>
            </a:r>
            <a:r>
              <a:rPr sz="2200" b="1">
                <a:solidFill>
                  <a:srgbClr val="FFFFFF"/>
                </a:solidFill>
                <a:latin typeface="Sora"/>
              </a:rPr>
              <a:t>via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6108192"/>
            <a:ext cx="505663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50" b="0" spc="200">
                <a:solidFill>
                  <a:srgbClr val="E6E8F0"/>
                </a:solidFill>
                <a:latin typeface="Inter"/>
              </a:rPr>
              <a:t>A LOGÍSTICA DA SUA FORMAÇÃO, NO TEMPO CERTO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6638544"/>
            <a:ext cx="5943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50" b="0" spc="60">
                <a:solidFill>
                  <a:srgbClr val="8A93A6"/>
                </a:solidFill>
                <a:latin typeface="Inter"/>
              </a:rPr>
              <a:t>GRUPO KAIRÓS · BUSINESS DESIGN · SPRINT 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54512" y="6638544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650" b="0">
                <a:solidFill>
                  <a:srgbClr val="8A93A6"/>
                </a:solidFill>
                <a:latin typeface="Inter"/>
              </a:rP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