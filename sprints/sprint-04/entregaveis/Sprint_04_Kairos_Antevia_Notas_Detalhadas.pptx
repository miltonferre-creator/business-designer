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Boa apresentação a todos. Nós somos o Grupo Kairós e viemos apresentar a viabilidade econômica da Antévia ao longo de doze trimestres, estruturada em três cenários.</a:t>
            </a:r>
          </a:p>
          <a:p/>
          <a:p>
            <a:r>
              <a:t>O número de topo é 1,10 milhão de reais de receita acumulada em três anos. Vale dizer desde já o que esse número é: ele é o que fica com a Antévia, e não o valor total que passa pelas mãos do aluno. Nós não compramos e revendemos passagem, nós intermediamos. O volume que circula é bem maior, 9,61 milhões, mas a nossa receita é a taxa de serviço somada à comissão dos fornecedores.</a:t>
            </a:r>
          </a:p>
          <a:p/>
          <a:p>
            <a:r>
              <a:t>O foco da nossa atenção hoje, no entanto, não é o 1,10 milhão. É o primeiro ano, que gera 71 mil reais — apenas 6% do total de três anos. Essa desproporção não é um erro de projeção nem falta de ambição. É a descrição correta de um negócio que precisa de volume para ter margem e que não tem volume no começo. É essa a tese que vamos defender.</a:t>
            </a:r>
          </a:p>
          <a:p/>
          <a:p>
            <a:r>
              <a:t>Por último, um recorte importante: esta sprint trata de receita. Custos, despesas e investimentos são matéria da Sprint 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nossa meta para o primeiro ano é captar 100 alunos, somando todas as turmas e todas as instituições parceiras.</a:t>
            </a:r>
          </a:p>
          <a:p/>
          <a:p>
            <a:r>
              <a:t>Esse número tem uma história que vale contar. Ele veio do exemplo da Banca de Modelagem, que dizia "100 alunos, 12 encontros". Nós tínhamos lido aquilo como tamanho de turma, e estava errado — uma turma da Fundação Dom Cabral tem por volta de 40 alunos. Relendo como meta anual de captação, o número volta a fazer sentido, e a turma sai do modelo de vez. Com isso, deixamos de depender de duas premissas frágeis: o tamanho fechado de uma turma e a taxa de adesão dentro dela.</a:t>
            </a:r>
          </a:p>
          <a:p/>
          <a:p>
            <a:r>
              <a:t>Cada aluno cursa 12 módulos ao longo de 20 meses. Isso dá 0,6 módulo por mês, ou 1,8 viagem por trimestre. Essa é a engrenagem de todo o modelo: qualquer número de viagens que aparecer daqui em diante é alunos ativos multiplicado por 1,8.</a:t>
            </a:r>
          </a:p>
          <a:p/>
          <a:p>
            <a:r>
              <a:t>A receita vem de duas fontes. A primeira é uma taxa de 100 reais por módulo cursado, paga voluntariamente pelo aluno. Cem reais é o meio da faixa de 50 a 150 que a hipótese 6 da Sprint 1 estimou, e essa hipótese continua em aberto. A segunda fonte é uma comissão paga pelos fornecedores, que começa em 3% e evolui até 6,4%. Ela cresce com o volume, e o próximo slide explica exatamente por quê.</a:t>
            </a:r>
          </a:p>
          <a:p/>
          <a:p>
            <a:r>
              <a:t>Para a escola, o custo é zero. Ela entra com três coisas que já tem: o CNPJ, que é o que viabiliza a tarifa de grupo; o acesso ao aluno no momento da matrícula; e o calendário com as datas dos módulos. Isso é uma decisão de desenho, não um esquecimento. Se a escola precisasse aprovar verba, a venda entraria numa fila orçamentária e levaria um ano. Sem desembolso, quem decide é a coordenação, e a decisão sai rápido.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Por que uma companhia aérea venderia mais barato para a Antévia do que vende direto para o aluno? No primeiro ano, com uma ou duas instituições e cem alunos, ela não venderia. A nossa primeira versão deste modelo assumia que sim, aplicando 6,4% de comissão já no primeiro trimestre, e isso não se sustentava.</a:t>
            </a:r>
          </a:p>
          <a:p/>
          <a:p>
            <a:r>
              <a:t>Por isso o modelo passou a ter três fases de poder de negociação.</a:t>
            </a:r>
          </a:p>
          <a:p/>
          <a:p>
            <a:r>
              <a:t>No ano 1, o ticket logístico é de 1.920 reais: 1.150 de aéreo, 570 de hotel por duas diárias e 200 de traslado. A economia líquida para o aluno é de 180 reais, que é a conta de 2.200 menos 1.920, menos os 100 da nossa taxa. O retorno é de 1,8 vez, ou seja, 180 divididos por 100. A comissão é de 3%, que sobre 1.920 dá 57 reais e 60 centavos. E a nossa receita por viagem fica em 157 e 60: os 100 da taxa mais os 57 e 60 da comissão.</a:t>
            </a:r>
          </a:p>
          <a:p/>
          <a:p>
            <a:r>
              <a:t>No ano 2, com bloqueios pontuais nas rotas que concentram, o ticket cai para 1.800 e a comissão sobe para 5%. A economia líquida do aluno vai para 300 reais e a nossa receita por viagem, para 190.</a:t>
            </a:r>
          </a:p>
          <a:p/>
          <a:p>
            <a:r>
              <a:t>No ano 3, com convênio próprio, o ticket é de 1.700 e a comissão de 6,4%, o que dá 108 e 80 de comissão e 208 e 80 de receita por viagem. A economia do aluno chega a 400 reais.</a:t>
            </a:r>
          </a:p>
          <a:p/>
          <a:p>
            <a:r>
              <a:t>O que sustenta o primeiro ano é uma alavanca que não custa nada e não exige negociar com fornecedor nenhum: a antecipação. Comprar aos 90 dias em vez de em cima da hora já é mais barato na curva tarifária pública, que está disponível para qualquer um. É isso que torna o ano 1 possível sem poder de barganha, e é também o que limita o que ele entrega.</a:t>
            </a:r>
          </a:p>
          <a:p/>
          <a:p>
            <a:r>
              <a:t>Esses percentuais de comissão não foram inventados. Eles vêm da entrevista com o Bruno Brant, sócio da Velt, na Sprint 1. Ele nos deu as faixas praticadas no mercado: um convênio de 250 a 500 mil reais por ano rende de 3 a 5 por cento; acima de 1 milhão por ano, de 8 a 12 por cento.</a:t>
            </a:r>
          </a:p>
          <a:p/>
          <a:p>
            <a:r>
              <a:t>E nós conferimos o nosso próprio volume contra essas faixas. No ano 1 serão 450 viagens, e a 1.150 reais de aéreo cada uma, isso dá 518 mil reais movimentados — exatamente na entrada da primeira faixa, o que sustenta os 3%. Nos anos 2 e 3 o volume passa de 1 milhão, o que abriria de 8 a 12 por cento, e mesmo assim nós usamos 5 e 6,4. A projeção é conservadora de propósito.</a:t>
            </a:r>
          </a:p>
          <a:p/>
          <a:p>
            <a:r>
              <a:t>Os 6,4% do ano 3, aliás, são uma média ponderada: o aéreo remunera pouco, cerca de 4%; a hotelaria remunera bem, uns 10%; o traslado, também 10%. Aplicado ao ticket de 1.700 reais, isso dá os 108 e 80.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Uma tarifa de grupo não é um desconto que se pede. É um produto que só existe quando há passageiros suficientes no mesmo voo, e o mercado trabalha com cerca de 10 pessoas na mesma rota. A pergunta certa, então, não é quantos alunos nós temos no total. É quantos conseguimos juntar no mesmo campus e na mesma data de módulo.</a:t>
            </a:r>
          </a:p>
          <a:p/>
          <a:p>
            <a:r>
              <a:t>A tabela responde isso, e é uma divisão simples. As colunas são o número de cidades de origem dos alunos: quanto mais espalhados eles estiverem, menos gente sobra por rota.</a:t>
            </a:r>
          </a:p>
          <a:p/>
          <a:p>
            <a:r>
              <a:t>Com 100 alunos concentrados e 6 origens principais, são 16,7 passageiros por rota. Forma grupo com folga. Com 50 alunos e as mesmas 6 origens, são 8,3 — não forma, a não ser que as origens sejam apenas 5. Com 25 alunos não forma em nenhuma configuração.</a:t>
            </a:r>
          </a:p>
          <a:p/>
          <a:p>
            <a:r>
              <a:t>E a última linha é a que fecha o argumento. Uma turma de 40 alunos, mesmo com metade dela viajando, são 20 pessoas; divididas por 5 origens, dão 4 passageiros por rota. Nenhuma turma isolada forma tarifa de grupo. Nenhuma.</a:t>
            </a:r>
          </a:p>
          <a:p/>
          <a:p>
            <a:r>
              <a:t>Por isso a unidade de negociação não pode ser a turma. Ela tem que ser o campus numa data, somando alunos de turmas diferentes que chegam no mesmo dia. O limiar prático fica entre 50 e 60 alunos concentrados, que é o resultado de 10 passageiros multiplicados por 5 ou 6 origens. A nossa meta de 100 alunos no ano 1 ultrapassa esse limiar, desde que a captação seja concentrada e não pulverizada entre vários campi.</a:t>
            </a:r>
          </a:p>
          <a:p/>
          <a:p>
            <a:r>
              <a:t>Isso tem uma consequência que joga a favor do negócio: se quem agrega e gerencia esse volume é a nossa plataforma, o bloqueio é um ativo nosso, e não da escola. Nós deixamos de depender de um CNPJ emprestado.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Hoje um aluno que mora fora desembolsa em média 2.200 reais por módulo comprando em cima da hora: 1.400 de aéreo, 600 de hotel por duas diárias e 200 de traslado. Esse é o ponto de partida contra o qual tudo aqui é medido.</a:t>
            </a:r>
          </a:p>
          <a:p/>
          <a:p>
            <a:r>
              <a:t>Na fase 1, o subtotal logístico cai para 1.920 reais. A queda vem quase toda do aéreo, que sai de 1.400 para 1.150 só pela antecipação da compra. Somando a nossa taxa de 100 reais, o aluno desembolsa 2.020 e economiza 180 líquidos — uma redução de 8,2% no que sai do bolso dele.</a:t>
            </a:r>
          </a:p>
          <a:p/>
          <a:p>
            <a:r>
              <a:t>Na fase 2 o subtotal vai para 1.800 e a economia líquida sobe para 300 reais, o que é uma redução de 13,6%.</a:t>
            </a:r>
          </a:p>
          <a:p/>
          <a:p>
            <a:r>
              <a:t>E na fase 3, com convênio próprio, o subtotal chega a 1.700 e a economia líquida a 400 reais, uma redução de 18,2%.</a:t>
            </a:r>
          </a:p>
          <a:p/>
          <a:p>
            <a:r>
              <a:t>A meta que nós fixamos lá na Sprint 1 era reduzir de 15 a 25 por cento o custo do aluno. Nós entregamos 18,2% na fase 3, dentro da meta, mas só na fase 3. Preferimos mostrar assim, fase a fase, do que prometer o número cheio desde o primeiro dia.</a:t>
            </a:r>
          </a:p>
          <a:p/>
          <a:p>
            <a:r>
              <a:t>E há um ponto comercial que é mais importante do que a tabela inteira: no primeiro ano o aluno não compra pelo desconto. Cento e oitenta reais numa viagem de 2.200 não muda a vida de ninguém. Ele compra porque deixa de precisar orquestrar três plataformas diferentes a cada módulo, e porque passa a saber, desde a matrícula, quanto o programa inteiro vai custar de deslocamento. O desconto só vira argumento principal quando o volume abre a tarifa de grupo.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Antes de definir o nosso preço, nós olhamos como o mercado cobra hoje. São cinco alternativas, e nenhuma delas resolve a operação inteira de um programa executivo.</a:t>
            </a:r>
          </a:p>
          <a:p/>
          <a:p>
            <a:r>
              <a:t>Os aplicativos das próprias companhias não cobram taxa nenhuma, mas resolvem um trecho e não sabem que existe um calendário acadêmico. As OTAs, como Decolar e CVC, cobram de zero a 80 reais por emissão e trabalham viagem a viagem, sempre reagindo a uma busca do aluno. As agências tradicionais cobram de 40 a 120 reais por bilhete e só agem quando alguém pede cotação. As plataformas B2B, como Onfly e Argo, cobram de 20 a 60 reais por usuário por mês, mas exigem CNPJ — e é exatamente aí que o aluno pessoa física fica de fora. Foi essa lacuna que a Sprint 1 chamou de órfão estrutural. E os concierges premium cobram de 5 a 15 por cento do valor da viagem, mas não existe nenhum recorte para aluno-executivo.</a:t>
            </a:r>
          </a:p>
          <a:p/>
          <a:p>
            <a:r>
              <a:t>A nossa taxa de 100 reais sobre um ticket de 1.920 representa 5,2 por cento. Ou seja, nós ficamos no piso da faixa de concierge premium e acima da agência tradicional. A diferença é que aqui o serviço cobre passagem, hotel, traslado e reembolso de todos os módulos do programa, e não uma viagem avulsa.</a:t>
            </a:r>
          </a:p>
          <a:p/>
          <a:p>
            <a:r>
              <a:t>O achado deste levantamento é o seguinte: o custo real da decisão tardia é invisível para o aluno. Ele não paga uma taxa alta — ele paga uma passagem cara. E por isso não percebe que está perdendo dinheiro.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nossa taxa de 100 reais foi ancorada no valor que o serviço devolve ao aluno, e não em uma disposição arbitrária de pagamento.</a:t>
            </a:r>
          </a:p>
          <a:p/>
          <a:p>
            <a:r>
              <a:t>No primeiro ano, o aluno paga 100 reais e recebe 180 líquidos de economia. É um retorno de 1,8 vez. No ano 2, com a economia em 300 reais, o retorno vai para 3 vezes. E no ano 3, com 400 reais de economia, chega a 4 vezes o valor investido.</a:t>
            </a:r>
          </a:p>
          <a:p/>
          <a:p>
            <a:r>
              <a:t>Há um quarto número neste slide que é o mais interessante deles. Ele mostra o peso da nossa taxa dentro da receita por viagem. No ano 1, 100 reais de taxa dentro de 157 e 60 de receita total representam 63 por cento. No ano 3, os mesmos 100 reais dentro de 208 e 80 representam 48 por cento.</a:t>
            </a:r>
          </a:p>
          <a:p/>
          <a:p>
            <a:r>
              <a:t>O que isso significa é que, conforme a comissão dos fornecedores cresce, nós ficamos menos dependentes do bolso do aluno. É uma redução de risco, e não apenas um número que melhora. E é o contrário do que acontece em muitos modelos, onde o cliente vai pagando mais à medida que o negócio cresce.</a:t>
            </a:r>
          </a:p>
          <a:p/>
          <a:p>
            <a:r>
              <a:t>A consequência comercial disso é direta: no primeiro ano a venda não se sustenta apenas no desconto, porque a folga é pequena. Ela se sustenta no tempo devolvido ao aluno e na previsibilidade do custo. E se a hipótese 6 se confirmar no piso da faixa, com o aluno disposto a pagar apenas 50 reais, o modelo perde cerca de um quarto da receita de três anos. Fica menor, mas não deixa de existir.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nosso potencial de mercado foi construído de baixo para cima, e ele responde a três perguntas, do maior recorte para o menor.</a:t>
            </a:r>
          </a:p>
          <a:p/>
          <a:p>
            <a:r>
              <a:t>A primeira pergunta é quantos existem. Nós partimos do dado do IBGE, de 1,4 milhão de matriculados em pós-graduação no Brasil. Desses, estimamos 12 por cento em programas executivos presenciais e periódicos, e desses, 25 por cento que viajam de outra cidade para estudar. Isso nos dá 42 mil alunos-viajantes. Cada um faz 7,2 viagens por ano, que é a conta de 12 módulos em 20 meses anualizada, o que resulta em 302 mil viagens por ano. A 208 e 80 de receita por viagem, o mercado total representa 63,1 milhões de reais por ano. Vale registrar que os dois filtros, os 12 e os 25 por cento, ainda são estimativas nossas e não foram validados.</a:t>
            </a:r>
          </a:p>
          <a:p/>
          <a:p>
            <a:r>
              <a:t>A segunda pergunta é quantos podemos atender. A Sprint 1 nos mostrou uma coisa incômoda: a dor não é universal. As coordenadoras de Manaus e de Belém nos disseram que a maioria dos alunos delas é local e não sente esse problema. A dor se concentra nos campi que recebem aluno de fora — Nova Lima, São Paulo e Rio de Janeiro. Restringindo a esses polos, chegamos a 10.500 alunos e 15,8 milhões de reais por ano.</a:t>
            </a:r>
          </a:p>
          <a:p/>
          <a:p>
            <a:r>
              <a:t>A terceira pergunta é quantos vamos atender, e essa é a nossa meta: 650 alunos ativos no décimo segundo trimestre, o que anualizado representa 977 mil reais de receita, ou 6,2 por cento desses 10.500.</a:t>
            </a:r>
          </a:p>
          <a:p/>
          <a:p>
            <a:r>
              <a:t>Um detalhe importante de leitura: os 650 são alunos ativos no último trimestre, e não a soma dos três anos. É a base de clientes que a operação tem funcionando ao final do ano 3.</a:t>
            </a:r>
          </a:p>
          <a:p/>
          <a:p>
            <a:r>
              <a:t>A progressão é de 100 alunos no ano 1, que é 1 por cento desse mercado, para 280 no ano 2, com 2,7 por cento, chegando aos 650 e 6,2 por cento no ano 3. A nossa primeira versão projetava 24 por cento do mesmo mercado em três anos, e aquilo não se defendia para um negócio que capta aluno por aluno pelo canal da escola. Nós trocamos um número bonito por um número sustentável.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Nós trabalhamos com três cenários de receita ao longo de três anos, e o que separa um do outro é uma variável apenas: quantos alunos a operação consegue captar. As três fases de negociação são idênticas nos três cenários, o que significa que nós não empilhamos premissas otimistas no cenário otimista.</a:t>
            </a:r>
          </a:p>
          <a:p/>
          <a:p>
            <a:r>
              <a:t>No cenário pessimista, captamos 50 alunos no ano 1 e chegamos a 320 ativos ao final do ano 3, totalizando 551 mil reais de receita.</a:t>
            </a:r>
          </a:p>
          <a:p/>
          <a:p>
            <a:r>
              <a:t>No cenário tendencial, que é a nossa diretriz, captamos 100 alunos no ano 1 e chegamos a 650 ativos, gerando 1,10 milhão de reais. Abrindo por ano: 71 mil no ano 1, 284 mil no ano 2 e 744 mil no ano 3. Essa curva é inclinada por dois motivos que se somam — o número de alunos cresce, e a receita por viagem também cresce, de 157 e 60 para 208 e 80, porque a comissão melhora.</a:t>
            </a:r>
          </a:p>
          <a:p/>
          <a:p>
            <a:r>
              <a:t>No cenário otimista, com 160 alunos no ano 1 e 1.100 ao final, alcançamos 1,83 milhão.</a:t>
            </a:r>
          </a:p>
          <a:p/>
          <a:p>
            <a:r>
              <a:t>As 5.508 viagens do cenário tendencial saem de multiplicar os alunos ativos de cada trimestre por 1,8 e somar os doze trimestres.</a:t>
            </a:r>
          </a:p>
          <a:p/>
          <a:p>
            <a:r>
              <a:t>E há um número na última coluna que é o nosso melhor argumento: 1,95 milhão de reais devolvidos aos alunos em economia, contra 1,10 milhão de receita nossa. Nós devolvemos quase o dobro do que ganhamos. Isso não é generosidade, é aritmética do modelo — a maior parte da economia vem de comprar na hora certa, e não de margem que nós abrimos mão. É esse número que faz a escola querer indicar o serviço.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Nesta análise nós movemos uma variável de cada vez, mantendo as outras no cenário tendencial. A base é 1,10 milhão de reais em três anos.</a:t>
            </a:r>
          </a:p>
          <a:p/>
          <a:p>
            <a:r>
              <a:t>A primeira variável é a captação de alunos. Movendo 30 por cento para baixo ou para cima, a receita se move 30 por cento também. É proporcional, porque tudo no modelo é multiplicado pelo número de alunos, e é a variável dominante.</a:t>
            </a:r>
          </a:p>
          <a:p/>
          <a:p>
            <a:r>
              <a:t>A segunda é a taxa de serviço. Variando de 50 a 150 reais, a receita se move 25 por cento. É menos do que a captação, apesar de a taxa representar mais da metade da receita por viagem, porque a comissão não se mexe junto com ela.</a:t>
            </a:r>
          </a:p>
          <a:p/>
          <a:p>
            <a:r>
              <a:t>A terceira é a comissão. Uma faixa abaixo ou acima produz de menos 15 a mais 29 por cento. É assimétrica porque o espaço para cair é menor do que o espaço para subir.</a:t>
            </a:r>
          </a:p>
          <a:p/>
          <a:p>
            <a:r>
              <a:t>Mas o que mais importa neste slide não é o gráfico. É o que sumiu dele. As versões anteriores deste modelo tinham cinco variáveis, e duas delas eram frágeis: o tamanho da turma e a taxa de adesão dentro da turma. Nenhuma das duas tinha validação, e as duas mexiam muito no resultado. Quando nós passamos a contar aluno captado, essas duas simplesmente deixaram de existir — não porque as resolvemos, mas porque a pergunta desapareceu.</a:t>
            </a:r>
          </a:p>
          <a:p/>
          <a:p>
            <a:r>
              <a:t>Sobraram três variáveis, todas explicáveis em uma frase. E a dominante é a captação, que é justamente a que está sob o nosso controle comercial direto. Um modelo cuja maior incerteza é o próprio esforço de vendas é mais defensável do que um modelo cujo destino depende de uma premissa que ninguém verificou.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Para fechar, os números de três anos no cenário tendencial: 5.508 viagens organizadas, 1,95 milhão de reais devolvidos aos alunos em economia, 650 alunos ativos no último trimestre e 6,2 por cento do mercado onde podemos atuar.</a:t>
            </a:r>
          </a:p>
          <a:p/>
          <a:p>
            <a:r>
              <a:t>Mas o número que realmente importa é outro. O ano 1 gera 71 mil reais de receita, o que dividido por doze meses dá menos de 6 mil reais por mês. Isso não sustenta uma equipe. Ou os sócios operam a coisa com as próprias mãos, ou é preciso capital para atravessar esse período. Nós não estamos escondendo isso, e a Sprint 5 é exatamente onde vamos dizer quanto custa atravessá-lo.</a:t>
            </a:r>
          </a:p>
          <a:p/>
          <a:p>
            <a:r>
              <a:t>Por isso a nossa mensagem central é que o primeiro ano não deve ser medido por faturamento. Ele existe para produzir três ativos: a prova de que a operação funciona, o volume acumulado que abre a próxima faixa de comissão, e a concentração de alunos por campus, que é o que liga a tarifa de grupo. São três ativos, e não três reais.</a:t>
            </a:r>
          </a:p>
          <a:p/>
          <a:p>
            <a:r>
              <a:t>A métrica do primeiro ano é quantos alunos nós captamos e onde eles estão. O faturamento vem depois.</a:t>
            </a:r>
          </a:p>
          <a:p/>
          <a:p>
            <a:r>
              <a:t>Obrigado. Estamos à disposição para as perguntas.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956048" y="1417320"/>
            <a:ext cx="2286000" cy="310896"/>
          </a:xfrm>
          <a:prstGeom prst="roundRect">
            <a:avLst>
              <a:gd name="adj" fmla="val 35000"/>
            </a:avLst>
          </a:prstGeom>
          <a:solidFill>
            <a:srgbClr val="1B24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4956048" y="1499616"/>
            <a:ext cx="22860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50" b="1" spc="120">
                <a:solidFill>
                  <a:srgbClr val="F2B705"/>
                </a:solidFill>
                <a:latin typeface="Inter SemiBold"/>
              </a:rPr>
              <a:t>SPRINT 04 · VIABILIDADE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2103120"/>
            <a:ext cx="9445752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7200" b="1">
                <a:solidFill>
                  <a:srgbClr val="FFFFFF"/>
                </a:solidFill>
                <a:latin typeface="Sora"/>
              </a:rPr>
              <a:t>Ant</a:t>
            </a:r>
            <a:r>
              <a:rPr sz="7200" b="1">
                <a:solidFill>
                  <a:srgbClr val="F2B705"/>
                </a:solidFill>
                <a:latin typeface="Sora"/>
              </a:rPr>
              <a:t>é</a:t>
            </a:r>
            <a:r>
              <a:rPr sz="7200" b="1">
                <a:solidFill>
                  <a:srgbClr val="FFFFFF"/>
                </a:solidFill>
                <a:latin typeface="Sora"/>
              </a:rPr>
              <a:t>via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3657600"/>
            <a:ext cx="944575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0" spc="220">
                <a:solidFill>
                  <a:srgbClr val="E6E8F0"/>
                </a:solidFill>
                <a:latin typeface="Inter"/>
              </a:rPr>
              <a:t>A LOGÍSTICA DA SUA FORMAÇÃO, NO TEMPO CERTO</a:t>
            </a:r>
          </a:p>
        </p:txBody>
      </p:sp>
      <p:sp>
        <p:nvSpPr>
          <p:cNvPr id="6" name="Rectangle 5"/>
          <p:cNvSpPr/>
          <p:nvPr/>
        </p:nvSpPr>
        <p:spPr>
          <a:xfrm>
            <a:off x="5641848" y="4224528"/>
            <a:ext cx="914400" cy="18288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371600" y="4526280"/>
            <a:ext cx="944575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  <a:latin typeface="Inter"/>
              </a:rPr>
              <a:t>Projeção de receitas · 12 trimestres · 3 cenários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4983480"/>
            <a:ext cx="944575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0">
                <a:solidFill>
                  <a:srgbClr val="F2B705"/>
                </a:solidFill>
                <a:latin typeface="Inter"/>
              </a:rPr>
              <a:t>R$ 1,10 mi em 3 anos — e um primeiro ano de R$ 71 mil que é o verdadeiro desafio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5760720"/>
            <a:ext cx="944575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AEB6C6"/>
                </a:solidFill>
                <a:latin typeface="Inter"/>
              </a:rPr>
              <a:t>Grupo Kairós · Business Designer · Fundação Dom Cabral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6638544"/>
            <a:ext cx="59436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650" b="0" spc="60">
                <a:solidFill>
                  <a:srgbClr val="8A93A6"/>
                </a:solidFill>
                <a:latin typeface="Inter"/>
              </a:rPr>
              <a:t>GRUPO KAIRÓS · BUSINESS DESIGN · SPRINT 04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54512" y="6638544"/>
            <a:ext cx="914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650" b="0">
                <a:solidFill>
                  <a:srgbClr val="8A93A6"/>
                </a:solidFill>
                <a:latin typeface="Inter"/>
              </a:rPr>
              <a:t>1 / 11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115214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300" b="1">
                <a:solidFill>
                  <a:srgbClr val="F2B705"/>
                </a:solidFill>
                <a:latin typeface="Sora"/>
              </a:rPr>
              <a:t>01  </a:t>
            </a:r>
            <a:r>
              <a:rPr sz="2300" b="1">
                <a:solidFill>
                  <a:srgbClr val="0B1220"/>
                </a:solidFill>
                <a:latin typeface="Sora"/>
              </a:rPr>
              <a:t>O que vendemos, para quem e como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60120"/>
            <a:ext cx="1088136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1B2435"/>
                </a:solidFill>
                <a:latin typeface="Inter"/>
              </a:rPr>
              <a:t>A meta do ano 1 é captar 100 alunos, somando todas as turmas e instituições. Cada aluno rende 12 módulos ao longo de 20 meses.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20040" y="2103120"/>
            <a:ext cx="2761488" cy="265176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3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02920" y="2359152"/>
            <a:ext cx="2395728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>
                <a:solidFill>
                  <a:srgbClr val="F2B705"/>
                </a:solidFill>
                <a:latin typeface="Sora"/>
              </a:rPr>
              <a:t>R$ 100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127248"/>
            <a:ext cx="2395728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>
                <a:solidFill>
                  <a:srgbClr val="0B1220"/>
                </a:solidFill>
                <a:latin typeface="Inter SemiBold"/>
              </a:rPr>
              <a:t>Taxa por módulo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3584448"/>
            <a:ext cx="2395728" cy="106070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>
                <a:solidFill>
                  <a:srgbClr val="1B2435"/>
                </a:solidFill>
                <a:latin typeface="Inter"/>
              </a:rPr>
              <a:t>Paga pelo aluno, por encontro cursado. Adesão voluntária, módulo a módulo.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46120" y="2103120"/>
            <a:ext cx="2761488" cy="265176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3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3429000" y="2359152"/>
            <a:ext cx="2395728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1">
                <a:solidFill>
                  <a:srgbClr val="F2B705"/>
                </a:solidFill>
                <a:latin typeface="Sora"/>
              </a:rPr>
              <a:t>3% → 6,4%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29000" y="3127248"/>
            <a:ext cx="2395728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>
                <a:solidFill>
                  <a:srgbClr val="0B1220"/>
                </a:solidFill>
                <a:latin typeface="Inter SemiBold"/>
              </a:rPr>
              <a:t>Comissão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29000" y="3584448"/>
            <a:ext cx="2395728" cy="106070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>
                <a:solidFill>
                  <a:srgbClr val="1B2435"/>
                </a:solidFill>
                <a:latin typeface="Inter"/>
              </a:rPr>
              <a:t>Paga pelos fornecedores. Cresce com o volume — começa em 3%, não em 6,4%.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81344" y="2103120"/>
            <a:ext cx="2761488" cy="265176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3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364224" y="2359152"/>
            <a:ext cx="2395728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>
                <a:solidFill>
                  <a:srgbClr val="F2B705"/>
                </a:solidFill>
                <a:latin typeface="Sora"/>
              </a:rPr>
              <a:t>100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64224" y="3127248"/>
            <a:ext cx="2395728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>
                <a:solidFill>
                  <a:srgbClr val="0B1220"/>
                </a:solidFill>
                <a:latin typeface="Inter SemiBold"/>
              </a:rPr>
              <a:t>Alunos no ano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64224" y="3584448"/>
            <a:ext cx="2395728" cy="106070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>
                <a:solidFill>
                  <a:srgbClr val="1B2435"/>
                </a:solidFill>
                <a:latin typeface="Inter"/>
              </a:rPr>
              <a:t>A meta de captação, somando turmas e instituições. É a variável dominante do modelo.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07424" y="2103120"/>
            <a:ext cx="2761488" cy="265176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3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290304" y="2359152"/>
            <a:ext cx="2395728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>
                <a:solidFill>
                  <a:srgbClr val="F2B705"/>
                </a:solidFill>
                <a:latin typeface="Sora"/>
              </a:rPr>
              <a:t>R$ 0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90304" y="3127248"/>
            <a:ext cx="2395728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>
                <a:solidFill>
                  <a:srgbClr val="0B1220"/>
                </a:solidFill>
                <a:latin typeface="Inter SemiBold"/>
              </a:rPr>
              <a:t>Custo para a escola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90304" y="3584448"/>
            <a:ext cx="2395728" cy="106070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>
                <a:solidFill>
                  <a:srgbClr val="1B2435"/>
                </a:solidFill>
                <a:latin typeface="Inter"/>
              </a:rPr>
              <a:t>Empresta CNPJ, turma e calendário, sem desembolso.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0040" y="5166360"/>
            <a:ext cx="11521440" cy="731520"/>
          </a:xfrm>
          <a:prstGeom prst="roundRect">
            <a:avLst>
              <a:gd name="adj" fmla="val 6000"/>
            </a:avLst>
          </a:prstGeom>
          <a:solidFill>
            <a:srgbClr val="1B24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94360" y="5330952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E6E8F0"/>
                </a:solidFill>
                <a:latin typeface="Inter"/>
              </a:rPr>
              <a:t>A unidade é o aluno captado, não a turma. Isso tira do modelo as duas premissas mais frágeis que ele tinha: tamanho da turma e adesão dentro dela.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0040" y="6638544"/>
            <a:ext cx="59436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650" b="0" spc="60">
                <a:solidFill>
                  <a:srgbClr val="9AA1AD"/>
                </a:solidFill>
                <a:latin typeface="Inter"/>
              </a:rPr>
              <a:t>GRUPO KAIRÓS · BUSINESS DESIGN · SPRINT 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54512" y="6638544"/>
            <a:ext cx="914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650" b="0">
                <a:solidFill>
                  <a:srgbClr val="9AA1AD"/>
                </a:solidFill>
                <a:latin typeface="Inter"/>
              </a:rPr>
              <a:t>2 / 11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115214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300" b="1">
                <a:solidFill>
                  <a:srgbClr val="F2B705"/>
                </a:solidFill>
                <a:latin typeface="Sora"/>
              </a:rPr>
              <a:t>02  </a:t>
            </a:r>
            <a:r>
              <a:rPr sz="2300" b="1">
                <a:solidFill>
                  <a:srgbClr val="0B1220"/>
                </a:solidFill>
                <a:latin typeface="Sora"/>
              </a:rPr>
              <a:t>O poder de negociação é conquistado, não assumido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60120"/>
            <a:ext cx="1088136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1B2435"/>
                </a:solidFill>
                <a:latin typeface="Inter"/>
              </a:rPr>
              <a:t>Por que uma companhia aérea venderia mais barato para nós do que vende direto para o aluno? No ano 1, não venderia.</a:t>
            </a:r>
          </a:p>
        </p:txBody>
      </p:sp>
      <p:sp>
        <p:nvSpPr>
          <p:cNvPr id="4" name="Rectangle 3"/>
          <p:cNvSpPr/>
          <p:nvPr/>
        </p:nvSpPr>
        <p:spPr>
          <a:xfrm>
            <a:off x="320040" y="2057400"/>
            <a:ext cx="11567160" cy="347472"/>
          </a:xfrm>
          <a:prstGeom prst="rect">
            <a:avLst/>
          </a:prstGeom>
          <a:solidFill>
            <a:srgbClr val="1B24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29768" y="2148840"/>
            <a:ext cx="96926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F2B705"/>
                </a:solidFill>
                <a:latin typeface="Inter SemiBold"/>
              </a:rPr>
              <a:t>Fase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18488" y="2148840"/>
            <a:ext cx="3483863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F2B705"/>
                </a:solidFill>
                <a:latin typeface="Inter SemiBold"/>
              </a:rPr>
              <a:t>Como compramos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21807" y="2148840"/>
            <a:ext cx="110642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>
                <a:solidFill>
                  <a:srgbClr val="F2B705"/>
                </a:solidFill>
                <a:latin typeface="Inter SemiBold"/>
              </a:rPr>
              <a:t>Ticket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47688" y="2148840"/>
            <a:ext cx="151790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>
                <a:solidFill>
                  <a:srgbClr val="F2B705"/>
                </a:solidFill>
                <a:latin typeface="Inter SemiBold"/>
              </a:rPr>
              <a:t>Economia líquida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85047" y="2148840"/>
            <a:ext cx="96926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>
                <a:solidFill>
                  <a:srgbClr val="F2B705"/>
                </a:solidFill>
                <a:latin typeface="Inter SemiBold"/>
              </a:rPr>
              <a:t>Retorno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73767" y="2148840"/>
            <a:ext cx="96926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>
                <a:solidFill>
                  <a:srgbClr val="F2B705"/>
                </a:solidFill>
                <a:latin typeface="Inter SemiBold"/>
              </a:rPr>
              <a:t>Comissão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62488" y="2148840"/>
            <a:ext cx="101498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>
                <a:solidFill>
                  <a:srgbClr val="F2B705"/>
                </a:solidFill>
                <a:latin typeface="Inter SemiBold"/>
              </a:rPr>
              <a:t>R$/viagem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" y="2404872"/>
            <a:ext cx="115671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E3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429768" y="2505456"/>
            <a:ext cx="969264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>
                <a:solidFill>
                  <a:srgbClr val="0B1220"/>
                </a:solidFill>
                <a:latin typeface="Inter SemiBold"/>
              </a:rPr>
              <a:t>Ano 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18488" y="2505456"/>
            <a:ext cx="3483863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>
                <a:solidFill>
                  <a:srgbClr val="0B1220"/>
                </a:solidFill>
                <a:latin typeface="Inter SemiBold"/>
              </a:rPr>
              <a:t>Apoio da consolidadora — só antecipação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21807" y="2505456"/>
            <a:ext cx="1106424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>
                <a:solidFill>
                  <a:srgbClr val="0B1220"/>
                </a:solidFill>
                <a:latin typeface="Inter SemiBold"/>
              </a:rPr>
              <a:t>R$ 1.920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7688" y="2505456"/>
            <a:ext cx="1517904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>
                <a:solidFill>
                  <a:srgbClr val="0B1220"/>
                </a:solidFill>
                <a:latin typeface="Inter SemiBold"/>
              </a:rPr>
              <a:t>R$ 180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85047" y="2505456"/>
            <a:ext cx="969264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>
                <a:solidFill>
                  <a:srgbClr val="0B1220"/>
                </a:solidFill>
                <a:latin typeface="Inter SemiBold"/>
              </a:rPr>
              <a:t>1,8×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73767" y="2505456"/>
            <a:ext cx="969264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>
                <a:solidFill>
                  <a:srgbClr val="0B1220"/>
                </a:solidFill>
                <a:latin typeface="Inter SemiBold"/>
              </a:rPr>
              <a:t>3%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62488" y="2505456"/>
            <a:ext cx="1014984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>
                <a:solidFill>
                  <a:srgbClr val="0B1220"/>
                </a:solidFill>
                <a:latin typeface="Inter SemiBold"/>
              </a:rPr>
              <a:t>R$ 157,60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0040" y="2880360"/>
            <a:ext cx="115671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E3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429768" y="2980944"/>
            <a:ext cx="969264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1B2435"/>
                </a:solidFill>
                <a:latin typeface="Inter"/>
              </a:rPr>
              <a:t>Ano 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18488" y="2980944"/>
            <a:ext cx="3483863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1B2435"/>
                </a:solidFill>
                <a:latin typeface="Inter"/>
              </a:rPr>
              <a:t>Bloqueios pontuais onde a rota concentra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21807" y="2980944"/>
            <a:ext cx="1106424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1B2435"/>
                </a:solidFill>
                <a:latin typeface="Inter"/>
              </a:rPr>
              <a:t>R$ 1.800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47688" y="2980944"/>
            <a:ext cx="1517904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1B2435"/>
                </a:solidFill>
                <a:latin typeface="Inter"/>
              </a:rPr>
              <a:t>R$ 300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85047" y="2980944"/>
            <a:ext cx="969264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1B2435"/>
                </a:solidFill>
                <a:latin typeface="Inter"/>
              </a:rPr>
              <a:t>3,0×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573767" y="2980944"/>
            <a:ext cx="969264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1B2435"/>
                </a:solidFill>
                <a:latin typeface="Inter"/>
              </a:rPr>
              <a:t>5%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762488" y="2980944"/>
            <a:ext cx="1014984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1B2435"/>
                </a:solidFill>
                <a:latin typeface="Inter"/>
              </a:rPr>
              <a:t>R$ 190,00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20040" y="3355848"/>
            <a:ext cx="115671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E3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429768" y="3456432"/>
            <a:ext cx="969264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1B2435"/>
                </a:solidFill>
                <a:latin typeface="Inter"/>
              </a:rPr>
              <a:t>Ano 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618488" y="3456432"/>
            <a:ext cx="3483863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1B2435"/>
                </a:solidFill>
                <a:latin typeface="Inter"/>
              </a:rPr>
              <a:t>Convênio próprio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21807" y="3456432"/>
            <a:ext cx="1106424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1B2435"/>
                </a:solidFill>
                <a:latin typeface="Inter"/>
              </a:rPr>
              <a:t>R$ 1.700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47688" y="3456432"/>
            <a:ext cx="1517904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1B2435"/>
                </a:solidFill>
                <a:latin typeface="Inter"/>
              </a:rPr>
              <a:t>R$ 400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85047" y="3456432"/>
            <a:ext cx="969264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1B2435"/>
                </a:solidFill>
                <a:latin typeface="Inter"/>
              </a:rPr>
              <a:t>4,0×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573767" y="3456432"/>
            <a:ext cx="969264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1B2435"/>
                </a:solidFill>
                <a:latin typeface="Inter"/>
              </a:rPr>
              <a:t>6,4%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762488" y="3456432"/>
            <a:ext cx="1014984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1B2435"/>
                </a:solidFill>
                <a:latin typeface="Inter"/>
              </a:rPr>
              <a:t>R$ 208,80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20040" y="3977639"/>
            <a:ext cx="5623560" cy="17830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3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548640" y="4160520"/>
            <a:ext cx="5166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spc="120">
                <a:solidFill>
                  <a:srgbClr val="F2B705"/>
                </a:solidFill>
                <a:latin typeface="Inter SemiBold"/>
              </a:rPr>
              <a:t>A ÚNICA ALAVANCA DO ANO 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" y="4480560"/>
            <a:ext cx="5166360" cy="1143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>
                <a:solidFill>
                  <a:srgbClr val="1B2435"/>
                </a:solidFill>
                <a:latin typeface="Inter"/>
              </a:rPr>
              <a:t>Antecipação. Comprar aos 90 dias em vez de menos de 30 é a curva tarifária pública — não exige negociar com fornecedor nenhum. É gratuita e está disponível no primeiro dia.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217920" y="3977639"/>
            <a:ext cx="5623560" cy="1783080"/>
          </a:xfrm>
          <a:prstGeom prst="roundRect">
            <a:avLst>
              <a:gd name="adj" fmla="val 4000"/>
            </a:avLst>
          </a:prstGeom>
          <a:solidFill>
            <a:srgbClr val="1B24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6446520" y="4160520"/>
            <a:ext cx="5166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 spc="120">
                <a:solidFill>
                  <a:srgbClr val="F2B705"/>
                </a:solidFill>
                <a:latin typeface="Inter SemiBold"/>
              </a:rPr>
              <a:t>O TESTE CONTRA O VOLUME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46520" y="4480560"/>
            <a:ext cx="5166360" cy="1143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>
                <a:solidFill>
                  <a:srgbClr val="E6E8F0"/>
                </a:solidFill>
                <a:latin typeface="Inter"/>
              </a:rPr>
              <a:t>Faixas da Velt: R$ 250–500 mil/ano rende 3–5%; acima de R$ 1 mi/ano, 8–12%. Com 100 alunos, o volume aéreo do ano 1 é R$ 518 mil — na entrada da faixa.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20040" y="6263640"/>
            <a:ext cx="115214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6B7280"/>
                </a:solidFill>
                <a:latin typeface="Inter"/>
              </a:rPr>
              <a:t>Faixas apuradas na entrevista com Bruno Brant (Velt), Sprint 1. As comissões usadas nos anos 2 e 3 ficam abaixo do que o volume permitiria.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20040" y="6638544"/>
            <a:ext cx="59436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650" b="0" spc="60">
                <a:solidFill>
                  <a:srgbClr val="9AA1AD"/>
                </a:solidFill>
                <a:latin typeface="Inter"/>
              </a:rPr>
              <a:t>GRUPO KAIRÓS · BUSINESS DESIGN · SPRINT 04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954512" y="6638544"/>
            <a:ext cx="914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650" b="0">
                <a:solidFill>
                  <a:srgbClr val="9AA1AD"/>
                </a:solidFill>
                <a:latin typeface="Inter"/>
              </a:rPr>
              <a:t>3 / 11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115214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300" b="1">
                <a:solidFill>
                  <a:srgbClr val="F2B705"/>
                </a:solidFill>
                <a:latin typeface="Sora"/>
              </a:rPr>
              <a:t>03  </a:t>
            </a:r>
            <a:r>
              <a:rPr sz="2300" b="1">
                <a:solidFill>
                  <a:srgbClr val="0B1220"/>
                </a:solidFill>
                <a:latin typeface="Sora"/>
              </a:rPr>
              <a:t>A concentração é o que liga a tarifa de grupo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60120"/>
            <a:ext cx="1088136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1B2435"/>
                </a:solidFill>
                <a:latin typeface="Inter"/>
              </a:rPr>
              <a:t>Tarifa de grupo exige cerca de 10 passageiros na mesma rota. A pergunta certa é quantos alunos a operação reúne no mesmo campus e na mesma data.</a:t>
            </a:r>
          </a:p>
        </p:txBody>
      </p:sp>
      <p:sp>
        <p:nvSpPr>
          <p:cNvPr id="4" name="Rectangle 3"/>
          <p:cNvSpPr/>
          <p:nvPr/>
        </p:nvSpPr>
        <p:spPr>
          <a:xfrm>
            <a:off x="320040" y="2103120"/>
            <a:ext cx="9509760" cy="347472"/>
          </a:xfrm>
          <a:prstGeom prst="rect">
            <a:avLst/>
          </a:prstGeom>
          <a:solidFill>
            <a:srgbClr val="1B24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29768" y="2194560"/>
            <a:ext cx="252374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F2B705"/>
                </a:solidFill>
                <a:latin typeface="Inter SemiBold"/>
              </a:rPr>
              <a:t>Alunos no mesmo campus/data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72968" y="2194560"/>
            <a:ext cx="138074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>
                <a:solidFill>
                  <a:srgbClr val="F2B705"/>
                </a:solidFill>
                <a:latin typeface="Inter SemiBold"/>
              </a:rPr>
              <a:t>5 origens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73168" y="2194560"/>
            <a:ext cx="138074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>
                <a:solidFill>
                  <a:srgbClr val="F2B705"/>
                </a:solidFill>
                <a:latin typeface="Inter SemiBold"/>
              </a:rPr>
              <a:t>6 origens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73368" y="2194560"/>
            <a:ext cx="138074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>
                <a:solidFill>
                  <a:srgbClr val="F2B705"/>
                </a:solidFill>
                <a:latin typeface="Inter SemiBold"/>
              </a:rPr>
              <a:t>8 origens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73567" y="2194560"/>
            <a:ext cx="174650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>
                <a:solidFill>
                  <a:srgbClr val="F2B705"/>
                </a:solidFill>
                <a:latin typeface="Inter SemiBold"/>
              </a:rPr>
              <a:t>Forma grupo?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" y="2450591"/>
            <a:ext cx="9509760" cy="420624"/>
          </a:xfrm>
          <a:prstGeom prst="rect">
            <a:avLst/>
          </a:prstGeom>
          <a:solidFill>
            <a:srgbClr val="FDF1CB"/>
          </a:solidFill>
          <a:ln w="9525">
            <a:solidFill>
              <a:srgbClr val="E3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429768" y="2551175"/>
            <a:ext cx="252374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0B1220"/>
                </a:solidFill>
                <a:latin typeface="Inter"/>
              </a:rPr>
              <a:t>100 alunos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72968" y="2551175"/>
            <a:ext cx="138074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0B1220"/>
                </a:solidFill>
                <a:latin typeface="Inter"/>
              </a:rPr>
              <a:t>20,0 pax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73168" y="2551175"/>
            <a:ext cx="138074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0B1220"/>
                </a:solidFill>
                <a:latin typeface="Inter"/>
              </a:rPr>
              <a:t>16,7 pax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73368" y="2551175"/>
            <a:ext cx="138074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0B1220"/>
                </a:solidFill>
                <a:latin typeface="Inter"/>
              </a:rPr>
              <a:t>12,5 pax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73567" y="2551175"/>
            <a:ext cx="174650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0B1220"/>
                </a:solidFill>
                <a:latin typeface="Inter"/>
              </a:rPr>
              <a:t>sim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" y="2871215"/>
            <a:ext cx="950976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E3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429768" y="2971799"/>
            <a:ext cx="252374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1B2435"/>
                </a:solidFill>
                <a:latin typeface="Inter"/>
              </a:rPr>
              <a:t>50 alunos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72968" y="2971799"/>
            <a:ext cx="138074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1B2435"/>
                </a:solidFill>
                <a:latin typeface="Inter"/>
              </a:rPr>
              <a:t>10,0 pax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73168" y="2971799"/>
            <a:ext cx="138074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1B2435"/>
                </a:solidFill>
                <a:latin typeface="Inter"/>
              </a:rPr>
              <a:t>8,3 pax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73368" y="2971799"/>
            <a:ext cx="138074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1B2435"/>
                </a:solidFill>
                <a:latin typeface="Inter"/>
              </a:rPr>
              <a:t>6,2 pax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73567" y="2971799"/>
            <a:ext cx="174650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1B2435"/>
                </a:solidFill>
                <a:latin typeface="Inter"/>
              </a:rPr>
              <a:t>só com 5 origens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0040" y="3291839"/>
            <a:ext cx="950976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E3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429768" y="3392423"/>
            <a:ext cx="252374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1B2435"/>
                </a:solidFill>
                <a:latin typeface="Inter"/>
              </a:rPr>
              <a:t>25 alunos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72968" y="3392423"/>
            <a:ext cx="138074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1B2435"/>
                </a:solidFill>
                <a:latin typeface="Inter"/>
              </a:rPr>
              <a:t>5,0 pax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773168" y="3392423"/>
            <a:ext cx="138074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1B2435"/>
                </a:solidFill>
                <a:latin typeface="Inter"/>
              </a:rPr>
              <a:t>4,2 pax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73368" y="3392423"/>
            <a:ext cx="138074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1B2435"/>
                </a:solidFill>
                <a:latin typeface="Inter"/>
              </a:rPr>
              <a:t>3,1 pax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973567" y="3392423"/>
            <a:ext cx="174650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1B2435"/>
                </a:solidFill>
                <a:latin typeface="Inter"/>
              </a:rPr>
              <a:t>não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20040" y="3712463"/>
            <a:ext cx="950976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E3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429768" y="3813048"/>
            <a:ext cx="252374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1B2435"/>
                </a:solidFill>
                <a:latin typeface="Inter"/>
              </a:rPr>
              <a:t>1 turma de 40, metade viajando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172968" y="3813048"/>
            <a:ext cx="138074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1B2435"/>
                </a:solidFill>
                <a:latin typeface="Inter"/>
              </a:rPr>
              <a:t>4,0 pax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773168" y="3813048"/>
            <a:ext cx="138074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1B2435"/>
                </a:solidFill>
                <a:latin typeface="Inter"/>
              </a:rPr>
              <a:t>3,3 pax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73368" y="3813048"/>
            <a:ext cx="138074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1B2435"/>
                </a:solidFill>
                <a:latin typeface="Inter"/>
              </a:rPr>
              <a:t>2,5 pax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73567" y="3813048"/>
            <a:ext cx="174650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1B2435"/>
                </a:solidFill>
                <a:latin typeface="Inter"/>
              </a:rPr>
              <a:t>não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0058400" y="2103120"/>
            <a:ext cx="1783080" cy="2029968"/>
          </a:xfrm>
          <a:prstGeom prst="roundRect">
            <a:avLst>
              <a:gd name="adj" fmla="val 5000"/>
            </a:avLst>
          </a:prstGeom>
          <a:solidFill>
            <a:srgbClr val="1B24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10241280" y="2331720"/>
            <a:ext cx="14173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400" b="1">
                <a:solidFill>
                  <a:srgbClr val="F2B705"/>
                </a:solidFill>
                <a:latin typeface="Sora"/>
              </a:rPr>
              <a:t>10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241280" y="3017520"/>
            <a:ext cx="141732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50" b="0">
                <a:solidFill>
                  <a:srgbClr val="E6E8F0"/>
                </a:solidFill>
                <a:latin typeface="Inter"/>
              </a:rPr>
              <a:t>passageiros na mesma rota é o mínimo de mercado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20040" y="4343400"/>
            <a:ext cx="11521440" cy="777240"/>
          </a:xfrm>
          <a:prstGeom prst="roundRect">
            <a:avLst>
              <a:gd name="adj" fmla="val 5000"/>
            </a:avLst>
          </a:prstGeom>
          <a:solidFill>
            <a:srgbClr val="FDF1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594360" y="452628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0B1220"/>
                </a:solidFill>
                <a:latin typeface="Sora"/>
              </a:rPr>
              <a:t>Nenhuma turma isolada forma grupo. A concentração tem que vir de somar turmas no mesmo campus e data.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320040" y="5074920"/>
            <a:ext cx="3749039" cy="141732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3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502920" y="5202936"/>
            <a:ext cx="33832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2B705"/>
                </a:solidFill>
                <a:latin typeface="Sora"/>
              </a:rPr>
              <a:t>Campus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2920" y="5605272"/>
            <a:ext cx="338327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0B1220"/>
                </a:solidFill>
                <a:latin typeface="Inter SemiBold"/>
              </a:rPr>
              <a:t>A nova unidade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2920" y="5879592"/>
            <a:ext cx="338327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>
                <a:solidFill>
                  <a:srgbClr val="1B2435"/>
                </a:solidFill>
                <a:latin typeface="Inter"/>
              </a:rPr>
              <a:t>A negociação passa a ser por campus numa data, somando alunos de várias turmas.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224528" y="5074920"/>
            <a:ext cx="3749039" cy="141732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3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4407408" y="5202936"/>
            <a:ext cx="33832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2B705"/>
                </a:solidFill>
                <a:latin typeface="Sora"/>
              </a:rPr>
              <a:t>50 a 60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407408" y="5605272"/>
            <a:ext cx="338327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0B1220"/>
                </a:solidFill>
                <a:latin typeface="Inter SemiBold"/>
              </a:rPr>
              <a:t>Alunos por data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407408" y="5879592"/>
            <a:ext cx="338327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>
                <a:solidFill>
                  <a:srgbClr val="1B2435"/>
                </a:solidFill>
                <a:latin typeface="Inter"/>
              </a:rPr>
              <a:t>É o limiar de concentração que liga a tarifa de grupo.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119872" y="5074920"/>
            <a:ext cx="3749039" cy="141732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3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8302752" y="5202936"/>
            <a:ext cx="33832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>
                <a:solidFill>
                  <a:srgbClr val="F2B705"/>
                </a:solidFill>
                <a:latin typeface="Sora"/>
              </a:rPr>
              <a:t>Nosso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302752" y="5605272"/>
            <a:ext cx="338327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0B1220"/>
                </a:solidFill>
                <a:latin typeface="Inter SemiBold"/>
              </a:rPr>
              <a:t>O bloqueio é da Antévia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302752" y="5879592"/>
            <a:ext cx="338327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>
                <a:solidFill>
                  <a:srgbClr val="1B2435"/>
                </a:solidFill>
                <a:latin typeface="Inter"/>
              </a:rPr>
              <a:t>Se quem agrega o volume é a plataforma, o ativo passa a ser nosso.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20040" y="6638544"/>
            <a:ext cx="59436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650" b="0" spc="60">
                <a:solidFill>
                  <a:srgbClr val="9AA1AD"/>
                </a:solidFill>
                <a:latin typeface="Inter"/>
              </a:rPr>
              <a:t>GRUPO KAIRÓS · BUSINESS DESIGN · SPRINT 04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954512" y="6638544"/>
            <a:ext cx="914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650" b="0">
                <a:solidFill>
                  <a:srgbClr val="9AA1AD"/>
                </a:solidFill>
                <a:latin typeface="Inter"/>
              </a:rPr>
              <a:t>4 / 11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115214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300" b="1">
                <a:solidFill>
                  <a:srgbClr val="F2B705"/>
                </a:solidFill>
                <a:latin typeface="Sora"/>
              </a:rPr>
              <a:t>04  </a:t>
            </a:r>
            <a:r>
              <a:rPr sz="2300" b="1">
                <a:solidFill>
                  <a:srgbClr val="0B1220"/>
                </a:solidFill>
                <a:latin typeface="Sora"/>
              </a:rPr>
              <a:t>A economia por módulo, fase a fase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60120"/>
            <a:ext cx="1088136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1B2435"/>
                </a:solidFill>
                <a:latin typeface="Inter"/>
              </a:rPr>
              <a:t>Hoje o aluno de fora desembolsa R$ 2.200 por módulo comprando em cima da hora.</a:t>
            </a:r>
          </a:p>
        </p:txBody>
      </p:sp>
      <p:sp>
        <p:nvSpPr>
          <p:cNvPr id="4" name="Rectangle 3"/>
          <p:cNvSpPr/>
          <p:nvPr/>
        </p:nvSpPr>
        <p:spPr>
          <a:xfrm>
            <a:off x="320040" y="2103120"/>
            <a:ext cx="11521440" cy="347472"/>
          </a:xfrm>
          <a:prstGeom prst="rect">
            <a:avLst/>
          </a:prstGeom>
          <a:solidFill>
            <a:srgbClr val="1B24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29768" y="2194560"/>
            <a:ext cx="261518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F2B705"/>
                </a:solidFill>
                <a:latin typeface="Inter SemiBold"/>
              </a:rPr>
              <a:t>Item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64408" y="2194560"/>
            <a:ext cx="160934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>
                <a:solidFill>
                  <a:srgbClr val="F2B705"/>
                </a:solidFill>
                <a:latin typeface="Inter SemiBold"/>
              </a:rPr>
              <a:t>Hoje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93208" y="2194560"/>
            <a:ext cx="2066543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>
                <a:solidFill>
                  <a:srgbClr val="F2B705"/>
                </a:solidFill>
                <a:latin typeface="Inter SemiBold"/>
              </a:rPr>
              <a:t>Fase 1 (ano 1)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79208" y="2194560"/>
            <a:ext cx="2066543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>
                <a:solidFill>
                  <a:srgbClr val="F2B705"/>
                </a:solidFill>
                <a:latin typeface="Inter SemiBold"/>
              </a:rPr>
              <a:t>Fase 2 (ano 2)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65207" y="2194560"/>
            <a:ext cx="2066543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>
                <a:solidFill>
                  <a:srgbClr val="F2B705"/>
                </a:solidFill>
                <a:latin typeface="Inter SemiBold"/>
              </a:rPr>
              <a:t>Fase 3 (ano 3)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" y="2450591"/>
            <a:ext cx="1152144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E3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429768" y="2551175"/>
            <a:ext cx="261518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1B2435"/>
                </a:solidFill>
                <a:latin typeface="Inter"/>
              </a:rPr>
              <a:t>Aéreo (ida e volta)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64408" y="2551175"/>
            <a:ext cx="160934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1B2435"/>
                </a:solidFill>
                <a:latin typeface="Inter"/>
              </a:rPr>
              <a:t>R$ 1.400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93208" y="2551175"/>
            <a:ext cx="2066543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1B2435"/>
                </a:solidFill>
                <a:latin typeface="Inter"/>
              </a:rPr>
              <a:t>R$ 1.150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79208" y="2551175"/>
            <a:ext cx="2066543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1B2435"/>
                </a:solidFill>
                <a:latin typeface="Inter"/>
              </a:rPr>
              <a:t>R$ 1.080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65207" y="2551175"/>
            <a:ext cx="2066543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1B2435"/>
                </a:solidFill>
                <a:latin typeface="Inter"/>
              </a:rPr>
              <a:t>R$ 1.020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" y="2871215"/>
            <a:ext cx="1152144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E3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429768" y="2971799"/>
            <a:ext cx="261518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1B2435"/>
                </a:solidFill>
                <a:latin typeface="Inter"/>
              </a:rPr>
              <a:t>Hotel (2 diárias)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64408" y="2971799"/>
            <a:ext cx="160934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1B2435"/>
                </a:solidFill>
                <a:latin typeface="Inter"/>
              </a:rPr>
              <a:t>R$ 600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93208" y="2971799"/>
            <a:ext cx="2066543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1B2435"/>
                </a:solidFill>
                <a:latin typeface="Inter"/>
              </a:rPr>
              <a:t>R$ 570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79208" y="2971799"/>
            <a:ext cx="2066543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1B2435"/>
                </a:solidFill>
                <a:latin typeface="Inter"/>
              </a:rPr>
              <a:t>R$ 530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65207" y="2971799"/>
            <a:ext cx="2066543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1B2435"/>
                </a:solidFill>
                <a:latin typeface="Inter"/>
              </a:rPr>
              <a:t>R$ 500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0040" y="3291839"/>
            <a:ext cx="1152144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E3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429768" y="3392423"/>
            <a:ext cx="261518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1B2435"/>
                </a:solidFill>
                <a:latin typeface="Inter"/>
              </a:rPr>
              <a:t>Traslado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64408" y="3392423"/>
            <a:ext cx="160934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1B2435"/>
                </a:solidFill>
                <a:latin typeface="Inter"/>
              </a:rPr>
              <a:t>R$ 200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93208" y="3392423"/>
            <a:ext cx="2066543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1B2435"/>
                </a:solidFill>
                <a:latin typeface="Inter"/>
              </a:rPr>
              <a:t>R$ 200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79208" y="3392423"/>
            <a:ext cx="2066543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1B2435"/>
                </a:solidFill>
                <a:latin typeface="Inter"/>
              </a:rPr>
              <a:t>R$ 190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65207" y="3392423"/>
            <a:ext cx="2066543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1B2435"/>
                </a:solidFill>
                <a:latin typeface="Inter"/>
              </a:rPr>
              <a:t>R$ 180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20040" y="3712463"/>
            <a:ext cx="1152144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E3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429768" y="3813048"/>
            <a:ext cx="261518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>
                <a:solidFill>
                  <a:srgbClr val="0B1220"/>
                </a:solidFill>
                <a:latin typeface="Inter SemiBold"/>
              </a:rPr>
              <a:t>Subtotal logístico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64408" y="3813048"/>
            <a:ext cx="160934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>
                <a:solidFill>
                  <a:srgbClr val="0B1220"/>
                </a:solidFill>
                <a:latin typeface="Inter SemiBold"/>
              </a:rPr>
              <a:t>R$ 2.200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93208" y="3813048"/>
            <a:ext cx="2066543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>
                <a:solidFill>
                  <a:srgbClr val="0B1220"/>
                </a:solidFill>
                <a:latin typeface="Inter SemiBold"/>
              </a:rPr>
              <a:t>R$ 1.920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79208" y="3813048"/>
            <a:ext cx="2066543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>
                <a:solidFill>
                  <a:srgbClr val="0B1220"/>
                </a:solidFill>
                <a:latin typeface="Inter SemiBold"/>
              </a:rPr>
              <a:t>R$ 1.800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65207" y="3813048"/>
            <a:ext cx="2066543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>
                <a:solidFill>
                  <a:srgbClr val="0B1220"/>
                </a:solidFill>
                <a:latin typeface="Inter SemiBold"/>
              </a:rPr>
              <a:t>R$ 1.700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20040" y="4133087"/>
            <a:ext cx="1152144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E3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429768" y="4233672"/>
            <a:ext cx="261518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1B2435"/>
                </a:solidFill>
                <a:latin typeface="Inter"/>
              </a:rPr>
              <a:t>Taxa de serviço Antévia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264408" y="4233672"/>
            <a:ext cx="160934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1B2435"/>
                </a:solidFill>
                <a:latin typeface="Inter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93208" y="4233672"/>
            <a:ext cx="2066543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1B2435"/>
                </a:solidFill>
                <a:latin typeface="Inter"/>
              </a:rPr>
              <a:t>R$ 100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79208" y="4233672"/>
            <a:ext cx="2066543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1B2435"/>
                </a:solidFill>
                <a:latin typeface="Inter"/>
              </a:rPr>
              <a:t>R$ 100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65207" y="4233672"/>
            <a:ext cx="2066543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1B2435"/>
                </a:solidFill>
                <a:latin typeface="Inter"/>
              </a:rPr>
              <a:t>R$ 100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20040" y="4553712"/>
            <a:ext cx="11521440" cy="420624"/>
          </a:xfrm>
          <a:prstGeom prst="rect">
            <a:avLst/>
          </a:prstGeom>
          <a:solidFill>
            <a:srgbClr val="FDF1CB"/>
          </a:solidFill>
          <a:ln w="9525">
            <a:solidFill>
              <a:srgbClr val="E3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429768" y="4654296"/>
            <a:ext cx="261518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0B1220"/>
                </a:solidFill>
                <a:latin typeface="Inter"/>
              </a:rPr>
              <a:t>Economia líquida do aluno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264408" y="4654296"/>
            <a:ext cx="160934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0B1220"/>
                </a:solidFill>
                <a:latin typeface="Inter"/>
              </a:rPr>
              <a:t>—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093208" y="4654296"/>
            <a:ext cx="2066543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0B1220"/>
                </a:solidFill>
                <a:latin typeface="Inter"/>
              </a:rPr>
              <a:t>R$ 180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79208" y="4654296"/>
            <a:ext cx="2066543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0B1220"/>
                </a:solidFill>
                <a:latin typeface="Inter"/>
              </a:rPr>
              <a:t>R$ 300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665207" y="4654296"/>
            <a:ext cx="2066543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0B1220"/>
                </a:solidFill>
                <a:latin typeface="Inter"/>
              </a:rPr>
              <a:t>R$ 400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20040" y="4974336"/>
            <a:ext cx="1152144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E3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429768" y="5074920"/>
            <a:ext cx="261518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1B2435"/>
                </a:solidFill>
                <a:latin typeface="Inter"/>
              </a:rPr>
              <a:t>Redução no desembolso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264408" y="5074920"/>
            <a:ext cx="160934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1B2435"/>
                </a:solidFill>
                <a:latin typeface="Inter"/>
              </a:rPr>
              <a:t>—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093208" y="5074920"/>
            <a:ext cx="2066543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1B2435"/>
                </a:solidFill>
                <a:latin typeface="Inter"/>
              </a:rPr>
              <a:t>8,2%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379208" y="5074920"/>
            <a:ext cx="2066543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1B2435"/>
                </a:solidFill>
                <a:latin typeface="Inter"/>
              </a:rPr>
              <a:t>13,6%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665207" y="5074920"/>
            <a:ext cx="2066543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1B2435"/>
                </a:solidFill>
                <a:latin typeface="Inter"/>
              </a:rPr>
              <a:t>18,2%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320040" y="5349240"/>
            <a:ext cx="11521440" cy="731520"/>
          </a:xfrm>
          <a:prstGeom prst="roundRect">
            <a:avLst>
              <a:gd name="adj" fmla="val 6000"/>
            </a:avLst>
          </a:prstGeom>
          <a:solidFill>
            <a:srgbClr val="1B24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TextBox 52"/>
          <p:cNvSpPr txBox="1"/>
          <p:nvPr/>
        </p:nvSpPr>
        <p:spPr>
          <a:xfrm>
            <a:off x="594360" y="5513832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E6E8F0"/>
                </a:solidFill>
                <a:latin typeface="Inter"/>
              </a:rPr>
              <a:t>A meta de −15% a −25% da Sprint 1 só é atingida na fase 3. No ano 1 o aluno economiza 8,2% — e isso precisa ser dito a ele.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20040" y="6638544"/>
            <a:ext cx="59436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650" b="0" spc="60">
                <a:solidFill>
                  <a:srgbClr val="9AA1AD"/>
                </a:solidFill>
                <a:latin typeface="Inter"/>
              </a:rPr>
              <a:t>GRUPO KAIRÓS · BUSINESS DESIGN · SPRINT 04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954512" y="6638544"/>
            <a:ext cx="914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650" b="0">
                <a:solidFill>
                  <a:srgbClr val="9AA1AD"/>
                </a:solidFill>
                <a:latin typeface="Inter"/>
              </a:rPr>
              <a:t>5 / 11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115214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300" b="1">
                <a:solidFill>
                  <a:srgbClr val="F2B705"/>
                </a:solidFill>
                <a:latin typeface="Sora"/>
              </a:rPr>
              <a:t>05  </a:t>
            </a:r>
            <a:r>
              <a:rPr sz="2300" b="1">
                <a:solidFill>
                  <a:srgbClr val="0B1220"/>
                </a:solidFill>
                <a:latin typeface="Sora"/>
              </a:rPr>
              <a:t>Como o mercado cobra hoje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60120"/>
            <a:ext cx="1088136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1B2435"/>
                </a:solidFill>
                <a:latin typeface="Inter"/>
              </a:rPr>
              <a:t>Nenhuma alternativa cobre a operação inteira de um programa. O aluno paga pouco em taxa e muito em tarifa.</a:t>
            </a:r>
          </a:p>
        </p:txBody>
      </p:sp>
      <p:sp>
        <p:nvSpPr>
          <p:cNvPr id="4" name="Rectangle 3"/>
          <p:cNvSpPr/>
          <p:nvPr/>
        </p:nvSpPr>
        <p:spPr>
          <a:xfrm>
            <a:off x="320040" y="2057400"/>
            <a:ext cx="11521440" cy="347472"/>
          </a:xfrm>
          <a:prstGeom prst="rect">
            <a:avLst/>
          </a:prstGeom>
          <a:solidFill>
            <a:srgbClr val="1B24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429768" y="2148840"/>
            <a:ext cx="229514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F2B705"/>
                </a:solidFill>
                <a:latin typeface="Inter SemiBold"/>
              </a:rPr>
              <a:t>Alternativa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44368" y="2148840"/>
            <a:ext cx="2569463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F2B705"/>
                </a:solidFill>
                <a:latin typeface="Inter SemiBold"/>
              </a:rPr>
              <a:t>Modelo de cobrança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33288" y="2148840"/>
            <a:ext cx="202082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>
                <a:solidFill>
                  <a:srgbClr val="F2B705"/>
                </a:solidFill>
                <a:latin typeface="Inter SemiBold"/>
              </a:rPr>
              <a:t>Faixa de referência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73568" y="2148840"/>
            <a:ext cx="3758183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F2B705"/>
                </a:solidFill>
                <a:latin typeface="Inter SemiBold"/>
              </a:rPr>
              <a:t>Por que não resolve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2404872"/>
            <a:ext cx="115214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E3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429768" y="2505456"/>
            <a:ext cx="2295144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1B2435"/>
                </a:solidFill>
                <a:latin typeface="Inter"/>
              </a:rPr>
              <a:t>Apps das cias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44368" y="2505456"/>
            <a:ext cx="2569463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1B2435"/>
                </a:solidFill>
                <a:latin typeface="Inter"/>
              </a:rPr>
              <a:t>Sem taxa; margem no tarifário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33288" y="2505456"/>
            <a:ext cx="2020824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1B2435"/>
                </a:solidFill>
                <a:latin typeface="Inter"/>
              </a:rPr>
              <a:t>R$ 0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73568" y="2505456"/>
            <a:ext cx="3758183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1B2435"/>
                </a:solidFill>
                <a:latin typeface="Inter"/>
              </a:rPr>
              <a:t>Resolve um trecho, ignora o calendário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0040" y="2880360"/>
            <a:ext cx="115214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E3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429768" y="2980944"/>
            <a:ext cx="2295144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1B2435"/>
                </a:solidFill>
                <a:latin typeface="Inter"/>
              </a:rPr>
              <a:t>OTAs (Decolar, CVC)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44368" y="2980944"/>
            <a:ext cx="2569463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1B2435"/>
                </a:solidFill>
                <a:latin typeface="Inter"/>
              </a:rPr>
              <a:t>Conveniência + comissão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33288" y="2980944"/>
            <a:ext cx="2020824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1B2435"/>
                </a:solidFill>
                <a:latin typeface="Inter"/>
              </a:rPr>
              <a:t>R$ 0–80 / emissão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73568" y="2980944"/>
            <a:ext cx="3758183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1B2435"/>
                </a:solidFill>
                <a:latin typeface="Inter"/>
              </a:rPr>
              <a:t>Viagem a viagem, sob demanda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3355848"/>
            <a:ext cx="115214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E3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429768" y="3456432"/>
            <a:ext cx="2295144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1B2435"/>
                </a:solidFill>
                <a:latin typeface="Inter"/>
              </a:rPr>
              <a:t>Agência tradicional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44368" y="3456432"/>
            <a:ext cx="2569463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1B2435"/>
                </a:solidFill>
                <a:latin typeface="Inter"/>
              </a:rPr>
              <a:t>Fee por emissão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733288" y="3456432"/>
            <a:ext cx="2020824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1B2435"/>
                </a:solidFill>
                <a:latin typeface="Inter"/>
              </a:rPr>
              <a:t>R$ 40–120 / bilhete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73568" y="3456432"/>
            <a:ext cx="3758183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1B2435"/>
                </a:solidFill>
                <a:latin typeface="Inter"/>
              </a:rPr>
              <a:t>Cotação reativa, sem integração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20040" y="3831335"/>
            <a:ext cx="115214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E3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429768" y="3931920"/>
            <a:ext cx="2295144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1B2435"/>
                </a:solidFill>
                <a:latin typeface="Inter"/>
              </a:rPr>
              <a:t>Plataformas B2B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944368" y="3931920"/>
            <a:ext cx="2569463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1B2435"/>
                </a:solidFill>
                <a:latin typeface="Inter"/>
              </a:rPr>
              <a:t>SaaS + fee por transação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733288" y="3931920"/>
            <a:ext cx="2020824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1B2435"/>
                </a:solidFill>
                <a:latin typeface="Inter"/>
              </a:rPr>
              <a:t>R$ 20–60 / usuário/mês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973568" y="3931920"/>
            <a:ext cx="3758183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1B2435"/>
                </a:solidFill>
                <a:latin typeface="Inter"/>
              </a:rPr>
              <a:t>Exige CNPJ — o aluno PF fica fora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20040" y="4306823"/>
            <a:ext cx="115214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E3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429768" y="4407407"/>
            <a:ext cx="2295144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1B2435"/>
                </a:solidFill>
                <a:latin typeface="Inter"/>
              </a:rPr>
              <a:t>Concierge premium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944368" y="4407407"/>
            <a:ext cx="2569463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1B2435"/>
                </a:solidFill>
                <a:latin typeface="Inter"/>
              </a:rPr>
              <a:t>Mensalidade ou % da viagem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733288" y="4407407"/>
            <a:ext cx="2020824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1B2435"/>
                </a:solidFill>
                <a:latin typeface="Inter"/>
              </a:rPr>
              <a:t>5–15% da viagem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73568" y="4407407"/>
            <a:ext cx="3758183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1B2435"/>
                </a:solidFill>
                <a:latin typeface="Inter"/>
              </a:rPr>
              <a:t>Não existe recorte para aluno-executivo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20040" y="5074920"/>
            <a:ext cx="11521440" cy="868680"/>
          </a:xfrm>
          <a:prstGeom prst="roundRect">
            <a:avLst>
              <a:gd name="adj" fmla="val 5000"/>
            </a:avLst>
          </a:prstGeom>
          <a:solidFill>
            <a:srgbClr val="FDF1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594360" y="5285232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1">
                <a:solidFill>
                  <a:srgbClr val="0B1220"/>
                </a:solidFill>
                <a:latin typeface="Sora"/>
              </a:rPr>
              <a:t>O custo real da decisão tardia é invisível para o aluno: não aparece como taxa, aparece como preço da passagem.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20040" y="6638544"/>
            <a:ext cx="59436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650" b="0" spc="60">
                <a:solidFill>
                  <a:srgbClr val="9AA1AD"/>
                </a:solidFill>
                <a:latin typeface="Inter"/>
              </a:rPr>
              <a:t>GRUPO KAIRÓS · BUSINESS DESIGN · SPRINT 04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954512" y="6638544"/>
            <a:ext cx="914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650" b="0">
                <a:solidFill>
                  <a:srgbClr val="9AA1AD"/>
                </a:solidFill>
                <a:latin typeface="Inter"/>
              </a:rPr>
              <a:t>6 / 11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115214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300" b="1">
                <a:solidFill>
                  <a:srgbClr val="F2B705"/>
                </a:solidFill>
                <a:latin typeface="Sora"/>
              </a:rPr>
              <a:t>06  </a:t>
            </a:r>
            <a:r>
              <a:rPr sz="2300" b="1">
                <a:solidFill>
                  <a:srgbClr val="0B1220"/>
                </a:solidFill>
                <a:latin typeface="Sora"/>
              </a:rPr>
              <a:t>O preço se paga — mas a folga cresce com o tempo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60120"/>
            <a:ext cx="1088136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1B2435"/>
                </a:solidFill>
                <a:latin typeface="Inter"/>
              </a:rPr>
              <a:t>A taxa foi ancorada na economia entregue, não em disposição a pagar declarada. Só que a economia muda por fase.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20040" y="2103120"/>
            <a:ext cx="2761488" cy="260604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3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02920" y="2359152"/>
            <a:ext cx="2395728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>
                <a:solidFill>
                  <a:srgbClr val="B85042"/>
                </a:solidFill>
                <a:latin typeface="Sora"/>
              </a:rPr>
              <a:t>1,8×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127248"/>
            <a:ext cx="2395728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>
                <a:solidFill>
                  <a:srgbClr val="0B1220"/>
                </a:solidFill>
                <a:latin typeface="Inter SemiBold"/>
              </a:rPr>
              <a:t>Retorno no ano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3584448"/>
            <a:ext cx="2395728" cy="101498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>
                <a:solidFill>
                  <a:srgbClr val="1B2435"/>
                </a:solidFill>
                <a:latin typeface="Inter"/>
              </a:rPr>
              <a:t>Paga R$ 100, recebe R$ 180. O serviço se paga, com folga apertada.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46120" y="2103120"/>
            <a:ext cx="2761488" cy="260604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3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3429000" y="2359152"/>
            <a:ext cx="2395728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>
                <a:solidFill>
                  <a:srgbClr val="F2B705"/>
                </a:solidFill>
                <a:latin typeface="Sora"/>
              </a:rPr>
              <a:t>3,0×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29000" y="3127248"/>
            <a:ext cx="2395728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>
                <a:solidFill>
                  <a:srgbClr val="0B1220"/>
                </a:solidFill>
                <a:latin typeface="Inter SemiBold"/>
              </a:rPr>
              <a:t>Retorno no ano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29000" y="3584448"/>
            <a:ext cx="2395728" cy="101498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>
                <a:solidFill>
                  <a:srgbClr val="1B2435"/>
                </a:solidFill>
                <a:latin typeface="Inter"/>
              </a:rPr>
              <a:t>Bloqueios pontuais elevam a economia para R$ 300 líquidos.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81344" y="2103120"/>
            <a:ext cx="2761488" cy="260604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3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364224" y="2359152"/>
            <a:ext cx="2395728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3000" b="1">
                <a:solidFill>
                  <a:srgbClr val="2D6A4F"/>
                </a:solidFill>
                <a:latin typeface="Sora"/>
              </a:rPr>
              <a:t>4,0×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64224" y="3127248"/>
            <a:ext cx="2395728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>
                <a:solidFill>
                  <a:srgbClr val="0B1220"/>
                </a:solidFill>
                <a:latin typeface="Inter SemiBold"/>
              </a:rPr>
              <a:t>Retorno no ano 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64224" y="3584448"/>
            <a:ext cx="2395728" cy="101498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>
                <a:solidFill>
                  <a:srgbClr val="1B2435"/>
                </a:solidFill>
                <a:latin typeface="Inter"/>
              </a:rPr>
              <a:t>Convênio próprio: paga R$ 100, recebe R$ 400 de volta.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07424" y="2103120"/>
            <a:ext cx="2761488" cy="260604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3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290304" y="2359152"/>
            <a:ext cx="2395728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F2B705"/>
                </a:solidFill>
                <a:latin typeface="Sora"/>
              </a:rPr>
              <a:t>63% → 48%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90304" y="3127248"/>
            <a:ext cx="2395728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>
                <a:solidFill>
                  <a:srgbClr val="0B1220"/>
                </a:solidFill>
                <a:latin typeface="Inter SemiBold"/>
              </a:rPr>
              <a:t>Peso da taxa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90304" y="3584448"/>
            <a:ext cx="2395728" cy="101498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>
                <a:solidFill>
                  <a:srgbClr val="1B2435"/>
                </a:solidFill>
                <a:latin typeface="Inter"/>
              </a:rPr>
              <a:t>A dependência do bolso do aluno cai conforme a comissão cresce.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0040" y="5120640"/>
            <a:ext cx="11521440" cy="777240"/>
          </a:xfrm>
          <a:prstGeom prst="roundRect">
            <a:avLst>
              <a:gd name="adj" fmla="val 6000"/>
            </a:avLst>
          </a:prstGeom>
          <a:solidFill>
            <a:srgbClr val="1B24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94360" y="5303520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E6E8F0"/>
                </a:solidFill>
                <a:latin typeface="Inter"/>
              </a:rPr>
              <a:t>Consequência comercial: no primeiro ano a venda não se sustenta só no desconto. Apoia-se no tempo devolvido e em não orquestrar três plataformas por módulo.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0040" y="6638544"/>
            <a:ext cx="59436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650" b="0" spc="60">
                <a:solidFill>
                  <a:srgbClr val="9AA1AD"/>
                </a:solidFill>
                <a:latin typeface="Inter"/>
              </a:rPr>
              <a:t>GRUPO KAIRÓS · BUSINESS DESIGN · SPRINT 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54512" y="6638544"/>
            <a:ext cx="914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650" b="0">
                <a:solidFill>
                  <a:srgbClr val="9AA1AD"/>
                </a:solidFill>
                <a:latin typeface="Inter"/>
              </a:rPr>
              <a:t>7 / 11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115214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300" b="1">
                <a:solidFill>
                  <a:srgbClr val="F2B705"/>
                </a:solidFill>
                <a:latin typeface="Sora"/>
              </a:rPr>
              <a:t>07  </a:t>
            </a:r>
            <a:r>
              <a:rPr sz="2300" b="1">
                <a:solidFill>
                  <a:srgbClr val="0B1220"/>
                </a:solidFill>
                <a:latin typeface="Sora"/>
              </a:rPr>
              <a:t>Potencial de mercado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60120"/>
            <a:ext cx="1088136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1B2435"/>
                </a:solidFill>
                <a:latin typeface="Inter"/>
              </a:rPr>
              <a:t>Construído de baixo para cima a partir da base do IBGE usada na Sprint 1.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20040" y="1938528"/>
            <a:ext cx="11521440" cy="896112"/>
          </a:xfrm>
          <a:prstGeom prst="roundRect">
            <a:avLst>
              <a:gd name="adj" fmla="val 6000"/>
            </a:avLst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76072" y="2066544"/>
            <a:ext cx="2834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1">
                <a:solidFill>
                  <a:srgbClr val="0B1220"/>
                </a:solidFill>
                <a:latin typeface="Sora"/>
              </a:rPr>
              <a:t>Quantos existem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72" y="2432304"/>
            <a:ext cx="28346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0B1220"/>
                </a:solidFill>
                <a:latin typeface="Inter"/>
              </a:rPr>
              <a:t>no Brasil inteiro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566160" y="2084832"/>
            <a:ext cx="72237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>
                <a:solidFill>
                  <a:srgbClr val="0B1220"/>
                </a:solidFill>
                <a:latin typeface="Inter SemiBold"/>
              </a:rPr>
              <a:t>42.000 alunos-viajantes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66160" y="2441448"/>
            <a:ext cx="722375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0B1220"/>
                </a:solidFill>
                <a:latin typeface="Inter"/>
              </a:rPr>
              <a:t>R$ 63,1 mi por ano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18519" y="2267712"/>
            <a:ext cx="566928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spc="140">
                <a:solidFill>
                  <a:srgbClr val="0B1220"/>
                </a:solidFill>
                <a:latin typeface="Inter SemiBold"/>
              </a:rPr>
              <a:t>TAM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828799" y="2944368"/>
            <a:ext cx="8503920" cy="896112"/>
          </a:xfrm>
          <a:prstGeom prst="roundRect">
            <a:avLst>
              <a:gd name="adj" fmla="val 6000"/>
            </a:avLst>
          </a:prstGeom>
          <a:solidFill>
            <a:srgbClr val="D9A3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2084831" y="3072384"/>
            <a:ext cx="2834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1">
                <a:solidFill>
                  <a:srgbClr val="0B1220"/>
                </a:solidFill>
                <a:latin typeface="Sora"/>
              </a:rPr>
              <a:t>Quantos podemos atender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84831" y="3438144"/>
            <a:ext cx="28346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0B1220"/>
                </a:solidFill>
                <a:latin typeface="Inter"/>
              </a:rPr>
              <a:t>Nova Lima, São Paulo e Rio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74919" y="3090672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>
                <a:solidFill>
                  <a:srgbClr val="0B1220"/>
                </a:solidFill>
                <a:latin typeface="Inter SemiBold"/>
              </a:rPr>
              <a:t>10.500 alunos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74919" y="3447288"/>
            <a:ext cx="4206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0B1220"/>
                </a:solidFill>
                <a:latin typeface="Inter"/>
              </a:rPr>
              <a:t>R$ 15,8 mi por ano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09760" y="3273552"/>
            <a:ext cx="566928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spc="140">
                <a:solidFill>
                  <a:srgbClr val="0B1220"/>
                </a:solidFill>
                <a:latin typeface="Inter SemiBold"/>
              </a:rPr>
              <a:t>SAM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857500" y="3950208"/>
            <a:ext cx="6446520" cy="896112"/>
          </a:xfrm>
          <a:prstGeom prst="roundRect">
            <a:avLst>
              <a:gd name="adj" fmla="val 6000"/>
            </a:avLst>
          </a:prstGeom>
          <a:solidFill>
            <a:srgbClr val="B886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113532" y="4078224"/>
            <a:ext cx="2834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50" b="1">
                <a:solidFill>
                  <a:srgbClr val="0B1220"/>
                </a:solidFill>
                <a:latin typeface="Sora"/>
              </a:rPr>
              <a:t>Quantos vamos atender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13532" y="4443984"/>
            <a:ext cx="28346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0B1220"/>
                </a:solidFill>
                <a:latin typeface="Inter"/>
              </a:rPr>
              <a:t>nossa meta em 3 anos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03620" y="4096512"/>
            <a:ext cx="214883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1">
                <a:solidFill>
                  <a:srgbClr val="0B1220"/>
                </a:solidFill>
                <a:latin typeface="Inter SemiBold"/>
              </a:rPr>
              <a:t>650 alunos ativos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03620" y="4453128"/>
            <a:ext cx="214883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0B1220"/>
                </a:solidFill>
                <a:latin typeface="Inter"/>
              </a:rPr>
              <a:t>R$ 977 mil por ano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81060" y="4279392"/>
            <a:ext cx="566928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 spc="140">
                <a:solidFill>
                  <a:srgbClr val="0B1220"/>
                </a:solidFill>
                <a:latin typeface="Inter SemiBold"/>
              </a:rPr>
              <a:t>SOM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0040" y="5010912"/>
            <a:ext cx="11521440" cy="292608"/>
          </a:xfrm>
          <a:prstGeom prst="rect">
            <a:avLst/>
          </a:prstGeom>
          <a:solidFill>
            <a:srgbClr val="1B24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429768" y="5102352"/>
            <a:ext cx="266090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F2B705"/>
                </a:solidFill>
                <a:latin typeface="Inter SemiBold"/>
              </a:rPr>
              <a:t>Fim do ano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10128" y="5102352"/>
            <a:ext cx="266090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>
                <a:solidFill>
                  <a:srgbClr val="F2B705"/>
                </a:solidFill>
                <a:latin typeface="Inter SemiBold"/>
              </a:rPr>
              <a:t>Alunos ativos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90488" y="5102352"/>
            <a:ext cx="266090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>
                <a:solidFill>
                  <a:srgbClr val="F2B705"/>
                </a:solidFill>
                <a:latin typeface="Inter SemiBold"/>
              </a:rPr>
              <a:t>Receita anualizada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70848" y="5102352"/>
            <a:ext cx="266090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>
                <a:solidFill>
                  <a:srgbClr val="F2B705"/>
                </a:solidFill>
                <a:latin typeface="Inter SemiBold"/>
              </a:rPr>
              <a:t>% dos 10.500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20040" y="5303520"/>
            <a:ext cx="1152144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E3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429768" y="5404104"/>
            <a:ext cx="2660904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1B2435"/>
                </a:solidFill>
                <a:latin typeface="Inter"/>
              </a:rPr>
              <a:t>Ano 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310128" y="5404104"/>
            <a:ext cx="2660904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1B2435"/>
                </a:solidFill>
                <a:latin typeface="Inter"/>
              </a:rPr>
              <a:t>100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90488" y="5404104"/>
            <a:ext cx="2660904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1B2435"/>
                </a:solidFill>
                <a:latin typeface="Inter"/>
              </a:rPr>
              <a:t>R$ 113 mil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70848" y="5404104"/>
            <a:ext cx="2660904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1B2435"/>
                </a:solidFill>
                <a:latin typeface="Inter"/>
              </a:rPr>
              <a:t>1,0%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20040" y="5614416"/>
            <a:ext cx="1152144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E3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429768" y="5715000"/>
            <a:ext cx="2660904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1B2435"/>
                </a:solidFill>
                <a:latin typeface="Inter"/>
              </a:rPr>
              <a:t>Ano 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310128" y="5715000"/>
            <a:ext cx="2660904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1B2435"/>
                </a:solidFill>
                <a:latin typeface="Inter"/>
              </a:rPr>
              <a:t>280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90488" y="5715000"/>
            <a:ext cx="2660904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1B2435"/>
                </a:solidFill>
                <a:latin typeface="Inter"/>
              </a:rPr>
              <a:t>R$ 383 mil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070848" y="5715000"/>
            <a:ext cx="2660904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1B2435"/>
                </a:solidFill>
                <a:latin typeface="Inter"/>
              </a:rPr>
              <a:t>2,7%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20040" y="5925312"/>
            <a:ext cx="11521440" cy="310896"/>
          </a:xfrm>
          <a:prstGeom prst="rect">
            <a:avLst/>
          </a:prstGeom>
          <a:solidFill>
            <a:srgbClr val="FDF1CB"/>
          </a:solidFill>
          <a:ln w="9525">
            <a:solidFill>
              <a:srgbClr val="E3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429768" y="6025896"/>
            <a:ext cx="2660904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0B1220"/>
                </a:solidFill>
                <a:latin typeface="Inter"/>
              </a:rPr>
              <a:t>Ano 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310128" y="6025896"/>
            <a:ext cx="2660904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0B1220"/>
                </a:solidFill>
                <a:latin typeface="Inter"/>
              </a:rPr>
              <a:t>650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190488" y="6025896"/>
            <a:ext cx="2660904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0B1220"/>
                </a:solidFill>
                <a:latin typeface="Inter"/>
              </a:rPr>
              <a:t>R$ 977 mil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070848" y="6025896"/>
            <a:ext cx="2660904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0B1220"/>
                </a:solidFill>
                <a:latin typeface="Inter"/>
              </a:rPr>
              <a:t>6,2%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20040" y="6364224"/>
            <a:ext cx="1152144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0">
                <a:solidFill>
                  <a:srgbClr val="6B7280"/>
                </a:solidFill>
                <a:latin typeface="Inter"/>
              </a:rPr>
              <a:t>TAM, SAM e SOM são as siglas do framework, à direita de cada faixa. A primeira versão projetava 24% do mercado atendível, assumindo turma de 100 alunos e adesão de 60% desde o T1.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20040" y="6638544"/>
            <a:ext cx="59436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650" b="0" spc="60">
                <a:solidFill>
                  <a:srgbClr val="9AA1AD"/>
                </a:solidFill>
                <a:latin typeface="Inter"/>
              </a:rPr>
              <a:t>GRUPO KAIRÓS · BUSINESS DESIGN · SPRINT 04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954512" y="6638544"/>
            <a:ext cx="914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650" b="0">
                <a:solidFill>
                  <a:srgbClr val="9AA1AD"/>
                </a:solidFill>
                <a:latin typeface="Inter"/>
              </a:rPr>
              <a:t>8 / 11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115214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300" b="1">
                <a:solidFill>
                  <a:srgbClr val="F2B705"/>
                </a:solidFill>
                <a:latin typeface="Sora"/>
              </a:rPr>
              <a:t>08  </a:t>
            </a:r>
            <a:r>
              <a:rPr sz="2300" b="1">
                <a:solidFill>
                  <a:srgbClr val="0B1220"/>
                </a:solidFill>
                <a:latin typeface="Sora"/>
              </a:rPr>
              <a:t>Três cenários de receita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60120"/>
            <a:ext cx="1088136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1B2435"/>
                </a:solidFill>
                <a:latin typeface="Inter"/>
              </a:rPr>
              <a:t>O que separa os cenários é quantos alunos a operação capta. As fases de negociação são as mesmas nos três.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20040" y="2057400"/>
            <a:ext cx="3749039" cy="1874519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3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02920" y="2313432"/>
            <a:ext cx="33832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>
                <a:solidFill>
                  <a:srgbClr val="C9CFDA"/>
                </a:solidFill>
                <a:latin typeface="Sora"/>
              </a:rPr>
              <a:t>R$ 551 mil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081528"/>
            <a:ext cx="338327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>
                <a:solidFill>
                  <a:srgbClr val="0B1220"/>
                </a:solidFill>
                <a:latin typeface="Inter SemiBold"/>
              </a:rPr>
              <a:t>Pessimista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3538728"/>
            <a:ext cx="3383279" cy="28346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>
                <a:solidFill>
                  <a:srgbClr val="1B2435"/>
                </a:solidFill>
                <a:latin typeface="Inter"/>
              </a:rPr>
              <a:t>50 alunos no ano 1 · 320 no T12 · ano 1 de R$ 38 mil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24528" y="2057400"/>
            <a:ext cx="3749039" cy="1874519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3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4407408" y="2313432"/>
            <a:ext cx="33832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>
                <a:solidFill>
                  <a:srgbClr val="F2B705"/>
                </a:solidFill>
                <a:latin typeface="Sora"/>
              </a:rPr>
              <a:t>R$ 1,10 mi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07408" y="3081528"/>
            <a:ext cx="338327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>
                <a:solidFill>
                  <a:srgbClr val="0B1220"/>
                </a:solidFill>
                <a:latin typeface="Inter SemiBold"/>
              </a:rPr>
              <a:t>Tendencial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07408" y="3538728"/>
            <a:ext cx="3383279" cy="28346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>
                <a:solidFill>
                  <a:srgbClr val="1B2435"/>
                </a:solidFill>
                <a:latin typeface="Inter"/>
              </a:rPr>
              <a:t>100 alunos no ano 1 · 650 no T12 · ano 1 de R$ 71 mil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19872" y="2057400"/>
            <a:ext cx="3749039" cy="1874519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E3E6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302752" y="2313432"/>
            <a:ext cx="33832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700" b="1">
                <a:solidFill>
                  <a:srgbClr val="2D6A4F"/>
                </a:solidFill>
                <a:latin typeface="Sora"/>
              </a:rPr>
              <a:t>R$ 1,83 mi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02752" y="3081528"/>
            <a:ext cx="3383279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50" b="1">
                <a:solidFill>
                  <a:srgbClr val="0B1220"/>
                </a:solidFill>
                <a:latin typeface="Inter SemiBold"/>
              </a:rPr>
              <a:t>Otimista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02752" y="3538728"/>
            <a:ext cx="3383279" cy="28346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>
                <a:solidFill>
                  <a:srgbClr val="1B2435"/>
                </a:solidFill>
                <a:latin typeface="Inter"/>
              </a:rPr>
              <a:t>160 alunos no ano 1 · 1.100 no T12 · ano 1 de R$ 113 mil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" y="4160520"/>
            <a:ext cx="11521440" cy="347472"/>
          </a:xfrm>
          <a:prstGeom prst="rect">
            <a:avLst/>
          </a:prstGeom>
          <a:solidFill>
            <a:srgbClr val="1B24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429768" y="4251959"/>
            <a:ext cx="1655063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F2B705"/>
                </a:solidFill>
                <a:latin typeface="Inter SemiBold"/>
              </a:rPr>
              <a:t>Cenário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04288" y="4251959"/>
            <a:ext cx="128930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>
                <a:solidFill>
                  <a:srgbClr val="F2B705"/>
                </a:solidFill>
                <a:latin typeface="Inter SemiBold"/>
              </a:rPr>
              <a:t>Ano 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13048" y="4251959"/>
            <a:ext cx="138074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>
                <a:solidFill>
                  <a:srgbClr val="F2B705"/>
                </a:solidFill>
                <a:latin typeface="Inter SemiBold"/>
              </a:rPr>
              <a:t>Ano 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13248" y="4251959"/>
            <a:ext cx="142646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>
                <a:solidFill>
                  <a:srgbClr val="F2B705"/>
                </a:solidFill>
                <a:latin typeface="Inter SemiBold"/>
              </a:rPr>
              <a:t>Ano 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59168" y="4251959"/>
            <a:ext cx="156362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>
                <a:solidFill>
                  <a:srgbClr val="F2B705"/>
                </a:solidFill>
                <a:latin typeface="Inter SemiBold"/>
              </a:rPr>
              <a:t>Total 3 anos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42247" y="4251959"/>
            <a:ext cx="119786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>
                <a:solidFill>
                  <a:srgbClr val="F2B705"/>
                </a:solidFill>
                <a:latin typeface="Inter SemiBold"/>
              </a:rPr>
              <a:t>Viagens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59567" y="4251959"/>
            <a:ext cx="1472184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1">
                <a:solidFill>
                  <a:srgbClr val="F2B705"/>
                </a:solidFill>
                <a:latin typeface="Inter SemiBold"/>
              </a:rPr>
              <a:t>Economia alunos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20040" y="4507992"/>
            <a:ext cx="1152144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E3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429768" y="4608576"/>
            <a:ext cx="1655063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1B2435"/>
                </a:solidFill>
                <a:latin typeface="Inter"/>
              </a:rPr>
              <a:t>Pessimista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04288" y="4608576"/>
            <a:ext cx="1289304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1B2435"/>
                </a:solidFill>
                <a:latin typeface="Inter"/>
              </a:rPr>
              <a:t>R$ 38 mil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13048" y="4608576"/>
            <a:ext cx="1380744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1B2435"/>
                </a:solidFill>
                <a:latin typeface="Inter"/>
              </a:rPr>
              <a:t>R$ 140 mil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13248" y="4608576"/>
            <a:ext cx="1426464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1B2435"/>
                </a:solidFill>
                <a:latin typeface="Inter"/>
              </a:rPr>
              <a:t>R$ 372 mil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59168" y="4608576"/>
            <a:ext cx="1563624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1B2435"/>
                </a:solidFill>
                <a:latin typeface="Inter"/>
              </a:rPr>
              <a:t>R$ 551 mil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842247" y="4608576"/>
            <a:ext cx="1197864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1B2435"/>
                </a:solidFill>
                <a:latin typeface="Inter"/>
              </a:rPr>
              <a:t>2.763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259567" y="4608576"/>
            <a:ext cx="1472184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1B2435"/>
                </a:solidFill>
                <a:latin typeface="Inter"/>
              </a:rPr>
              <a:t>R$ 978 mil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20040" y="4873752"/>
            <a:ext cx="11521440" cy="365760"/>
          </a:xfrm>
          <a:prstGeom prst="rect">
            <a:avLst/>
          </a:prstGeom>
          <a:solidFill>
            <a:srgbClr val="FDF1CB"/>
          </a:solidFill>
          <a:ln w="9525">
            <a:solidFill>
              <a:srgbClr val="E3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429768" y="4974336"/>
            <a:ext cx="1655063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0B1220"/>
                </a:solidFill>
                <a:latin typeface="Inter"/>
              </a:rPr>
              <a:t>Tendencial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304288" y="4974336"/>
            <a:ext cx="1289304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0B1220"/>
                </a:solidFill>
                <a:latin typeface="Inter"/>
              </a:rPr>
              <a:t>R$ 71 mil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813048" y="4974336"/>
            <a:ext cx="1380744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0B1220"/>
                </a:solidFill>
                <a:latin typeface="Inter"/>
              </a:rPr>
              <a:t>R$ 284 mil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13248" y="4974336"/>
            <a:ext cx="1426464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0B1220"/>
                </a:solidFill>
                <a:latin typeface="Inter"/>
              </a:rPr>
              <a:t>R$ 744 mil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59168" y="4974336"/>
            <a:ext cx="1563624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0B1220"/>
                </a:solidFill>
                <a:latin typeface="Inter"/>
              </a:rPr>
              <a:t>R$ 1,10 mi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842247" y="4974336"/>
            <a:ext cx="1197864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0B1220"/>
                </a:solidFill>
                <a:latin typeface="Inter"/>
              </a:rPr>
              <a:t>5.508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259567" y="4974336"/>
            <a:ext cx="1472184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0B1220"/>
                </a:solidFill>
                <a:latin typeface="Inter"/>
              </a:rPr>
              <a:t>R$ 1,95 mi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20040" y="5239512"/>
            <a:ext cx="11521440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E3E6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429768" y="5340096"/>
            <a:ext cx="1655063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0">
                <a:solidFill>
                  <a:srgbClr val="1B2435"/>
                </a:solidFill>
                <a:latin typeface="Inter"/>
              </a:rPr>
              <a:t>Otimista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304288" y="5340096"/>
            <a:ext cx="1289304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1B2435"/>
                </a:solidFill>
                <a:latin typeface="Inter"/>
              </a:rPr>
              <a:t>R$ 113 mil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813048" y="5340096"/>
            <a:ext cx="1380744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1B2435"/>
                </a:solidFill>
                <a:latin typeface="Inter"/>
              </a:rPr>
              <a:t>R$ 455 mil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13248" y="5340096"/>
            <a:ext cx="1426464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1B2435"/>
                </a:solidFill>
                <a:latin typeface="Inter"/>
              </a:rPr>
              <a:t>R$ 1,27 mi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059168" y="5340096"/>
            <a:ext cx="1563624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1B2435"/>
                </a:solidFill>
                <a:latin typeface="Inter"/>
              </a:rPr>
              <a:t>R$ 1,83 mi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842247" y="5340096"/>
            <a:ext cx="1197864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1B2435"/>
                </a:solidFill>
                <a:latin typeface="Inter"/>
              </a:rPr>
              <a:t>9.180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259567" y="5340096"/>
            <a:ext cx="1472184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0">
                <a:solidFill>
                  <a:srgbClr val="1B2435"/>
                </a:solidFill>
                <a:latin typeface="Inter"/>
              </a:rPr>
              <a:t>R$ 3,27 mi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20040" y="5669280"/>
            <a:ext cx="11521440" cy="411480"/>
          </a:xfrm>
          <a:prstGeom prst="roundRect">
            <a:avLst>
              <a:gd name="adj" fmla="val 8000"/>
            </a:avLst>
          </a:prstGeom>
          <a:solidFill>
            <a:srgbClr val="FDF1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TextBox 48"/>
          <p:cNvSpPr txBox="1"/>
          <p:nvPr/>
        </p:nvSpPr>
        <p:spPr>
          <a:xfrm>
            <a:off x="594360" y="5769864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>
                <a:solidFill>
                  <a:srgbClr val="0B1220"/>
                </a:solidFill>
                <a:latin typeface="Inter SemiBold"/>
              </a:rPr>
              <a:t>Em todos os cenários a economia devolvida aos alunos é quase o dobro da receita da empresa.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20040" y="6638544"/>
            <a:ext cx="59436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650" b="0" spc="60">
                <a:solidFill>
                  <a:srgbClr val="9AA1AD"/>
                </a:solidFill>
                <a:latin typeface="Inter"/>
              </a:rPr>
              <a:t>GRUPO KAIRÓS · BUSINESS DESIGN · SPRINT 04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954512" y="6638544"/>
            <a:ext cx="914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650" b="0">
                <a:solidFill>
                  <a:srgbClr val="9AA1AD"/>
                </a:solidFill>
                <a:latin typeface="Inter"/>
              </a:rPr>
              <a:t>9 / 11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115214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300" b="1">
                <a:solidFill>
                  <a:srgbClr val="F2B705"/>
                </a:solidFill>
                <a:latin typeface="Sora"/>
              </a:rPr>
              <a:t>09  </a:t>
            </a:r>
            <a:r>
              <a:rPr sz="2300" b="1">
                <a:solidFill>
                  <a:srgbClr val="0B1220"/>
                </a:solidFill>
                <a:latin typeface="Sora"/>
              </a:rPr>
              <a:t>Sobraram três variáveis — e a dominante é nossa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960120"/>
            <a:ext cx="1088136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1B2435"/>
                </a:solidFill>
                <a:latin typeface="Inter"/>
              </a:rPr>
              <a:t>Cada variável movida isoladamente, com as demais no cenário tendencial. Base: R$ 1,10 mi em 3 anos.</a:t>
            </a:r>
          </a:p>
        </p:txBody>
      </p:sp>
      <p:sp>
        <p:nvSpPr>
          <p:cNvPr id="4" name="Rectangle 3"/>
          <p:cNvSpPr/>
          <p:nvPr/>
        </p:nvSpPr>
        <p:spPr>
          <a:xfrm>
            <a:off x="5760720" y="2240279"/>
            <a:ext cx="10972" cy="3017520"/>
          </a:xfrm>
          <a:prstGeom prst="rect">
            <a:avLst/>
          </a:prstGeom>
          <a:solidFill>
            <a:srgbClr val="E3E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3566160" y="2459736"/>
            <a:ext cx="2194560" cy="384048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5760720" y="2459736"/>
            <a:ext cx="2194560" cy="384048"/>
          </a:xfrm>
          <a:prstGeom prst="rect">
            <a:avLst/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320040" y="2532888"/>
            <a:ext cx="5257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>
                <a:solidFill>
                  <a:srgbClr val="0B1220"/>
                </a:solidFill>
                <a:latin typeface="Inter SemiBold"/>
              </a:rPr>
              <a:t>Alunos captados por ano (±30%)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2532888"/>
            <a:ext cx="2926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0B1220"/>
                </a:solidFill>
                <a:latin typeface="Inter SemiBold"/>
              </a:rPr>
              <a:t>−30,0% / +30,0%</a:t>
            </a:r>
          </a:p>
        </p:txBody>
      </p:sp>
      <p:sp>
        <p:nvSpPr>
          <p:cNvPr id="9" name="Rectangle 8"/>
          <p:cNvSpPr/>
          <p:nvPr/>
        </p:nvSpPr>
        <p:spPr>
          <a:xfrm>
            <a:off x="3924604" y="3419856"/>
            <a:ext cx="1836115" cy="384048"/>
          </a:xfrm>
          <a:prstGeom prst="rect">
            <a:avLst/>
          </a:prstGeom>
          <a:solidFill>
            <a:srgbClr val="C9C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760720" y="3419856"/>
            <a:ext cx="1836115" cy="384048"/>
          </a:xfrm>
          <a:prstGeom prst="rect">
            <a:avLst/>
          </a:prstGeom>
          <a:solidFill>
            <a:srgbClr val="C9C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320040" y="3493008"/>
            <a:ext cx="5257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>
                <a:solidFill>
                  <a:srgbClr val="1B2435"/>
                </a:solidFill>
                <a:latin typeface="Inter"/>
              </a:rPr>
              <a:t>Taxa de serviço (R$ 50 / R$ 150)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0" y="3493008"/>
            <a:ext cx="2926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Inter"/>
              </a:rPr>
              <a:t>−25,1% / +25,1%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63440" y="4379975"/>
            <a:ext cx="1097280" cy="384048"/>
          </a:xfrm>
          <a:prstGeom prst="rect">
            <a:avLst/>
          </a:prstGeom>
          <a:solidFill>
            <a:srgbClr val="C9C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760720" y="4379975"/>
            <a:ext cx="2106777" cy="384048"/>
          </a:xfrm>
          <a:prstGeom prst="rect">
            <a:avLst/>
          </a:prstGeom>
          <a:solidFill>
            <a:srgbClr val="C9C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20040" y="4453127"/>
            <a:ext cx="5257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0">
                <a:solidFill>
                  <a:srgbClr val="1B2435"/>
                </a:solidFill>
                <a:latin typeface="Inter"/>
              </a:rPr>
              <a:t>Comissão (uma faixa abaixo / acima)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0" y="4453127"/>
            <a:ext cx="2926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Inter"/>
              </a:rPr>
              <a:t>−15,0% / +28,8%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0" y="5349240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00" b="0">
                <a:solidFill>
                  <a:srgbClr val="6B7280"/>
                </a:solidFill>
                <a:latin typeface="Inter"/>
              </a:rPr>
              <a:t>base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715000"/>
            <a:ext cx="11521440" cy="731520"/>
          </a:xfrm>
          <a:prstGeom prst="roundRect">
            <a:avLst>
              <a:gd name="adj" fmla="val 6000"/>
            </a:avLst>
          </a:prstGeom>
          <a:solidFill>
            <a:srgbClr val="1B24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94360" y="5870448"/>
            <a:ext cx="10972800" cy="4754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E6E8F0"/>
                </a:solidFill>
                <a:latin typeface="Inter"/>
              </a:rPr>
              <a:t>As versões anteriores tinham cinco variáveis, duas delas frágeis: tamanho da turma e adesão dentro dela. As duas saíram ao adotar o aluno captado como unidade. O que sobrou é direto de defender — e a variável dominante é a que o grupo controla.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" y="6638544"/>
            <a:ext cx="59436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650" b="0" spc="60">
                <a:solidFill>
                  <a:srgbClr val="9AA1AD"/>
                </a:solidFill>
                <a:latin typeface="Inter"/>
              </a:rPr>
              <a:t>GRUPO KAIRÓS · BUSINESS DESIGN · SPRINT 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54512" y="6638544"/>
            <a:ext cx="914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650" b="0">
                <a:solidFill>
                  <a:srgbClr val="9AA1AD"/>
                </a:solidFill>
                <a:latin typeface="Inter"/>
              </a:rPr>
              <a:t>10 / 11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115214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300" b="1">
                <a:solidFill>
                  <a:srgbClr val="F2B705"/>
                </a:solidFill>
                <a:latin typeface="Sora"/>
              </a:rPr>
              <a:t>10  </a:t>
            </a:r>
            <a:r>
              <a:rPr sz="2300" b="1">
                <a:solidFill>
                  <a:srgbClr val="FFFFFF"/>
                </a:solidFill>
                <a:latin typeface="Sora"/>
              </a:rPr>
              <a:t>O primeiro ano é o desafio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1234440"/>
            <a:ext cx="99669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E6E8F0"/>
                </a:solidFill>
                <a:latin typeface="Inter"/>
              </a:rPr>
              <a:t>Em 3 anos, no cenário tendencial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645920"/>
            <a:ext cx="99669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500" b="1">
                <a:solidFill>
                  <a:srgbClr val="F2B705"/>
                </a:solidFill>
                <a:latin typeface="Sora"/>
              </a:rPr>
              <a:t>R$ 1,10 mi</a:t>
            </a:r>
            <a:r>
              <a:rPr sz="2500" b="1">
                <a:solidFill>
                  <a:srgbClr val="FFFFFF"/>
                </a:solidFill>
                <a:latin typeface="Sora"/>
              </a:rPr>
              <a:t> de receita — e um ano 1 de </a:t>
            </a:r>
            <a:r>
              <a:rPr sz="2500" b="1">
                <a:solidFill>
                  <a:srgbClr val="F2B705"/>
                </a:solidFill>
                <a:latin typeface="Sora"/>
              </a:rPr>
              <a:t>R$ 71 mil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331720"/>
            <a:ext cx="99669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Sora"/>
              </a:rPr>
              <a:t>menos de R$ 6 mil por mês: não paga equipe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" y="3017520"/>
            <a:ext cx="2761488" cy="1143000"/>
          </a:xfrm>
          <a:prstGeom prst="roundRect">
            <a:avLst>
              <a:gd name="adj" fmla="val 6000"/>
            </a:avLst>
          </a:prstGeom>
          <a:solidFill>
            <a:srgbClr val="1B2435"/>
          </a:solidFill>
          <a:ln w="9525">
            <a:solidFill>
              <a:srgbClr val="2A35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02920" y="3200400"/>
            <a:ext cx="2395728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300" b="1">
                <a:solidFill>
                  <a:srgbClr val="F2B705"/>
                </a:solidFill>
                <a:latin typeface="Sora"/>
              </a:rPr>
              <a:t>5.508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3730752"/>
            <a:ext cx="239572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E6E8F0"/>
                </a:solidFill>
                <a:latin typeface="Inter"/>
              </a:rPr>
              <a:t>viagens em 3 anos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46120" y="3017520"/>
            <a:ext cx="2761488" cy="1143000"/>
          </a:xfrm>
          <a:prstGeom prst="roundRect">
            <a:avLst>
              <a:gd name="adj" fmla="val 6000"/>
            </a:avLst>
          </a:prstGeom>
          <a:solidFill>
            <a:srgbClr val="1B2435"/>
          </a:solidFill>
          <a:ln w="9525">
            <a:solidFill>
              <a:srgbClr val="2A35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3429000" y="3200400"/>
            <a:ext cx="2395728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300" b="1">
                <a:solidFill>
                  <a:srgbClr val="F2B705"/>
                </a:solidFill>
                <a:latin typeface="Sora"/>
              </a:rPr>
              <a:t>R$ 1,95 mi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29000" y="3730752"/>
            <a:ext cx="239572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E6E8F0"/>
                </a:solidFill>
                <a:latin typeface="Inter"/>
              </a:rPr>
              <a:t>devolvidos aos alunos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81344" y="3017520"/>
            <a:ext cx="2761488" cy="1143000"/>
          </a:xfrm>
          <a:prstGeom prst="roundRect">
            <a:avLst>
              <a:gd name="adj" fmla="val 6000"/>
            </a:avLst>
          </a:prstGeom>
          <a:solidFill>
            <a:srgbClr val="1B2435"/>
          </a:solidFill>
          <a:ln w="9525">
            <a:solidFill>
              <a:srgbClr val="2A35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364224" y="3200400"/>
            <a:ext cx="2395728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300" b="1">
                <a:solidFill>
                  <a:srgbClr val="F2B705"/>
                </a:solidFill>
                <a:latin typeface="Sora"/>
              </a:rPr>
              <a:t>650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64224" y="3730752"/>
            <a:ext cx="239572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E6E8F0"/>
                </a:solidFill>
                <a:latin typeface="Inter"/>
              </a:rPr>
              <a:t>alunos ativos no T12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07424" y="3017520"/>
            <a:ext cx="2761488" cy="1143000"/>
          </a:xfrm>
          <a:prstGeom prst="roundRect">
            <a:avLst>
              <a:gd name="adj" fmla="val 6000"/>
            </a:avLst>
          </a:prstGeom>
          <a:solidFill>
            <a:srgbClr val="1B2435"/>
          </a:solidFill>
          <a:ln w="9525">
            <a:solidFill>
              <a:srgbClr val="2A35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290304" y="3200400"/>
            <a:ext cx="2395728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300" b="1">
                <a:solidFill>
                  <a:srgbClr val="F2B705"/>
                </a:solidFill>
                <a:latin typeface="Sora"/>
              </a:rPr>
              <a:t>6,2%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90304" y="3730752"/>
            <a:ext cx="239572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E6E8F0"/>
                </a:solidFill>
                <a:latin typeface="Inter"/>
              </a:rPr>
              <a:t>do SAM alcançado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0040" y="4434840"/>
            <a:ext cx="11521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850" b="1" spc="150">
                <a:solidFill>
                  <a:srgbClr val="F2B705"/>
                </a:solidFill>
                <a:latin typeface="Inter SemiBold"/>
              </a:rPr>
              <a:t>O ANO 1 NÃO É MEDIDO POR RECEITA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4754880"/>
            <a:ext cx="99669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200" b="0">
                <a:solidFill>
                  <a:srgbClr val="E6E8F0"/>
                </a:solidFill>
                <a:latin typeface="Inter"/>
              </a:rPr>
              <a:t>Ele existe para produzir prova de execução, volume acumulado e concentração de campus — os três ativos que destravam a fase 2. A métrica é alunos captados, não faturamento.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0560" y="5623560"/>
            <a:ext cx="3227832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Sora"/>
              </a:rPr>
              <a:t>Ant</a:t>
            </a:r>
            <a:r>
              <a:rPr sz="2200" b="1">
                <a:solidFill>
                  <a:srgbClr val="F2B705"/>
                </a:solidFill>
                <a:latin typeface="Sora"/>
              </a:rPr>
              <a:t>é</a:t>
            </a:r>
            <a:r>
              <a:rPr sz="2200" b="1">
                <a:solidFill>
                  <a:srgbClr val="FFFFFF"/>
                </a:solidFill>
                <a:latin typeface="Sora"/>
              </a:rPr>
              <a:t>via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6160" y="6108192"/>
            <a:ext cx="5056632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750" b="0" spc="200">
                <a:solidFill>
                  <a:srgbClr val="E6E8F0"/>
                </a:solidFill>
                <a:latin typeface="Inter"/>
              </a:rPr>
              <a:t>A LOGÍSTICA DA SUA FORMAÇÃO, NO TEMPO CERTO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0040" y="6638544"/>
            <a:ext cx="59436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650" b="0" spc="60">
                <a:solidFill>
                  <a:srgbClr val="8A93A6"/>
                </a:solidFill>
                <a:latin typeface="Inter"/>
              </a:rPr>
              <a:t>GRUPO KAIRÓS · BUSINESS DESIGN · SPRINT 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54512" y="6638544"/>
            <a:ext cx="914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650" b="0">
                <a:solidFill>
                  <a:srgbClr val="8A93A6"/>
                </a:solidFill>
                <a:latin typeface="Inter"/>
              </a:rPr>
              <a:t>11 / 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