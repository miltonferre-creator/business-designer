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45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6048" y="1417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BANCA DE MODELAGEM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14884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r>
              <a:rPr lang="en-US" sz="7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r>
              <a:rPr lang="en-US" sz="7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41848" y="4343400"/>
            <a:ext cx="91440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71600" y="45720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concierge de viagem do aluno-executivo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76072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Designer · Fundação Dom Cabral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10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educação executiva cresce no Brasil — e ela é presencial e periódica. </a:t>
            </a:r>
            <a:r>
              <a:rPr lang="en-US" sz="15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Executivos de todo o país viajam a cada 4–6 semanas, por 18–24 meses, para módulos em campi como Nova Lima, São Paulo e Rio.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 em expansão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demanda por educação executiva cresce cerca de 30% no Brasil — mais turmas, mais alunos viajando com regularidade.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9092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31972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4–6 sem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31972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Viagem recorrente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31972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 de fora repete a mesma operação de viagem a cada módulo, durante todo o programa — não é uma viagem, é uma série delas.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144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61024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&gt;99,9%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 aéreo concentrado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1024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LATAM, GOL e Azul dominam a malha. Rotas do Norte e Centro-Oeste pagam mais para chegar ao Sudeste, onde estão os campi.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195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290075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PF × B2B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90075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Um cliente sem dono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0075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aluno-executivo é um órfão estrutural: as plataformas corporativas exigem CNPJ, e o varejo de viagem o trata como turista avulso.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608076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ANAC · ABEAR · Paytrack · CartaCapital/FDC · IBGE · entrevistas do projeto (Sprints 1 e 2)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1548872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logística de viagem para programas executivos é </a:t>
            </a:r>
            <a:r>
              <a:rPr lang="en-US" sz="155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fragmentada e reativa</a:t>
            </a:r>
            <a:r>
              <a:rPr lang="en-US" sz="15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sem integração ao calendário acadêmico — comprometendo o foco, o orçamento e a experiência da formação do aluno.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Como a dor aparece na prática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Sabe a data, compra tarde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 conhece o calendário desde a matrícula — e ainda assim compra com menos de 30 dias. “Brasileiro deixa tudo pra cima da hora”: é comportamento, não falta de ferramenta.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9092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31972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31972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Pagando 2–3× mais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31972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a menos de 7 dias do voo custa 2 a 3 vezes mais do que com 21+ dias de antecedência. A janela certa existe — mas ninguém a aciona pelo aluno.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8144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61024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1024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Cada módulo, um projeto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1024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 num app, hotel noutro, traslado num terceiro — e o reembolso fechado na planilha. A operação inteira se repete a cada encontro.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07195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290075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90075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 sem visibilidade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0075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Ninguém consegue dizer quanto o programa vai custar em viagens até o fim. O orçamento vira surpresa, módulo a módulo.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617220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dor se concentra nos campi que recebem alunos de fora — Nova Lima, São Paulo e Rio (entrevistas com coordenadoras FDC, Sprint 1).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 </a:t>
            </a:r>
            <a:r>
              <a:rPr lang="en-US" sz="2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solução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r>
              <a:rPr lang="en-US" sz="48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0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Antévia = antes + via. </a:t>
            </a:r>
            <a:r>
              <a:rPr lang="en-US" sz="8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</a:t>
            </a:r>
            <a:r>
              <a:rPr lang="en-US" sz="90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resolvido</a:t>
            </a:r>
            <a:r>
              <a:rPr lang="en-US" sz="8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da hora. Busca preliminar no INPI (jun/2026) sem registro conflitante.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concierge de viagem do aluno-executivo</a:t>
            </a:r>
            <a:r>
              <a:rPr lang="en-US" sz="16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: uma plataforma integrada ao calendário acadêmico que antecipa e organiza passagem, hotel e traslado de todos os módulos em um </a:t>
            </a:r>
            <a:r>
              <a:rPr lang="en-US" sz="1650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só</a:t>
            </a:r>
            <a:r>
              <a:rPr lang="en-US" sz="16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lugar</a:t>
            </a:r>
            <a:r>
              <a:rPr lang="en-US" sz="16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 com custo previsível desde o início e a liberdade de manter companhia e milhas.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87552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ANTECIPAÇÃO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Planejamos cada detalhe para que o aluno esteja sempre à frente — a compra acontece na janela certa, não em cima da hora.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3024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47616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CAMINHO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7616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Conectamos etapas e pessoas — calendário, bloqueios, voo, hotel e traslado — para tornar a jornada simples do início ao fim.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43088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107680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FACILITAÇÃO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07680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e especialistas trabalhando juntos para tirar o peso operacional do aluno, sem tirar dele o controle das escolhas.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 quem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mercado de dois lados: quem usa e paga, e quem viabiliza e ganha junto.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5638648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5638648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5638648" cy="27432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8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B2C · QUEM USA E PAGA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358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Ricardo Fontes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anos · diretor de operações · mora em Belém · cursa programa executivo em Nova Lima, viajando a cada 6 semanas por 20 meses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" y="271576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Valoriza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rapidez, previsibilidade e a liberdade de manter a companhia de sempre e as milhas pessoais.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" y="3429000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33649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Evita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 2–3× por decidir tarde, plataformas rígidas e a burocracia do reembolso.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" y="4142232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4078224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Pagaria por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alguém que resolva tudo — passagem, hotel, traslado — sem tirar dele o controle.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532120"/>
            <a:ext cx="5272888" cy="685800"/>
          </a:xfrm>
          <a:prstGeom prst="roundRect">
            <a:avLst>
              <a:gd name="adj" fmla="val 5333"/>
            </a:avLst>
          </a:prstGeom>
          <a:solidFill>
            <a:srgbClr val="FDF1CB"/>
          </a:solidFill>
          <a:ln w="635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5596128"/>
            <a:ext cx="499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 alguém resolver isso por mim sem me tirar as milhas, eu pago.”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3008" y="1371600"/>
            <a:ext cx="5638648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233008" y="1371600"/>
            <a:ext cx="5638648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233008" y="2148840"/>
            <a:ext cx="5638648" cy="27432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15888" y="155448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8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B2B · QUEM VIABILIZA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153248" y="1508760"/>
            <a:ext cx="358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Mariana Duarte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5888" y="1901952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anos · gerente de programas executivos · escola de negócios de grande porte, campus com fluxo de alunos de fora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52464" y="271576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44488" y="2651760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Apoia por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e acolhimento do aluno antes dos módulos, com zero atrito para a coordenação.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52464" y="3429000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644488" y="33649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Precisa saber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reais, governança financeira do bloqueio e quem responde quando a viagem dá errado.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52464" y="4142232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44488" y="4078224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Nunca aceita —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fornecedor que gere reclamação ou qualquer obrigação imposta ao aluno.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15888" y="5532120"/>
            <a:ext cx="5272888" cy="685800"/>
          </a:xfrm>
          <a:prstGeom prst="roundRect">
            <a:avLst>
              <a:gd name="adj" fmla="val 5333"/>
            </a:avLst>
          </a:prstGeom>
          <a:solidFill>
            <a:srgbClr val="FDF1CB"/>
          </a:solidFill>
          <a:ln w="635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53048" y="5596128"/>
            <a:ext cx="499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“Posso indicar um parceiro de confiança. Obrigar o aluno, jamais.”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acontece — a jornada do Ricardo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Belém → Nova Lima, a cada 6 semanas.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assim que o programa inteiro passa a funcionar com a Antévia: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16680" y="1581912"/>
            <a:ext cx="9358335" cy="0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61232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123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344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MARÇO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matrícula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4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Junto com a vaga, Ricardo recebe o plano de viagem do programa inteiro: todos os módulos, com estimativa de custo total desde o primeiro dia.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6344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recebe o calendário, guarda — e esquece.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00816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00816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9624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805928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BLOQUEIO GARANTIDO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05928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90 dias antes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5928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Antévia trava o bloqueio de grupo da turma e propõe voo e hotel no app. Ricardo aprova em minutos — na companhia dele, somando as milhas dele.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05928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805928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nada acontece até chegar perto da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0400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0400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9208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145512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COMPRA DISPARADA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45512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janela certa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5512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dispara a compra no melhor momento da tarifa, guiada pelo calendário — 20–30% mais barata que a compra de última hora.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45512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145512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compra com menos de 30 dias, pagando 2–3× mais.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79983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279983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38792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485096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TUDO NUM ROTEIRO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85096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Semana do módulo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85096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Voo, hotel e traslado num roteiro único no app, lembretes proativos e o concierge da turma a uma mensagem de distância no WhatsApp.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85096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485096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três apps, e-mails soltos e correria.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19567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619567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78375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824679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FOCO TOTAL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24679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encontro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824679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Ricardo chega tranquilo e focado na aula. O custo consolidado aparece no painel do programa — sem planilha de reembolso.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824679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9824679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chega cansado e ainda fecha a planilha.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614476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 no módulo seguinte, tudo se repete — sem que o Ricardo precise pensar nisso.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que será escolhido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914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Quem tenta resolver hoje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OTAs e apps de companhia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Decolar, CVC, Booking, LATAM, GOL, Azul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Resolvem viagem a viagem. Não conhecem o calendário do programa nem compram no momento certo pelo aluno.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80944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Plataformas B2B corporativas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741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Onfly, Argo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entram com CNPJ e política de empresa. O aluno pessoa física fica de fora — é o órfão estrutural.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681728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Agências tradicionais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Cotação sob demanda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330952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Atendem quando procuradas. Sem integração com a escola, sem compra programada, sem visão do programa inteiro.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5882335" cy="5468112"/>
          </a:xfrm>
          <a:prstGeom prst="roundRect">
            <a:avLst>
              <a:gd name="adj" fmla="val 100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r>
              <a:rPr lang="en-US" sz="2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81928" y="1572768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SÓ A ANTÉVIA FAZ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193852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8192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92024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Integrada ao calendário acadêmico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única que sabe as datas antes de o aluno decidir — e age sobre elas.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303580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28192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01752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Compra na janela certa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329184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Bloqueio de grupo da turma com 20–30% de desconto, disparado no momento ideal da tarifa.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81928" y="413308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8192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411480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Concierge dedicado por turma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438912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“gestor de viagens do aluno”, que hoje não existe no mercado.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1928" y="523036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281928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521208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Liberdade do aluno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120" y="5477256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Companhia, voo e milhas continuam sendo escolha dele. Nada é imposto — condição da escola para indicar.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Atores-chave — quem faz o negócio funcionar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84632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VIABILIZA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84632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Escola de negócios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Empresta o CNPJ, a turma e as datas fixas do calendário — e indica a Antévia na matrícula, sem obrigar o aluno. Ganha NPS e menos fricção.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9092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13684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NEGOCIAM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13684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Consolidadoras e agências B2B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13684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Estruturam os bloqueios de grupo junto às companhias — o modelo comercial já existe no mercado; a Antévia o embala para o aluno.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8144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42736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FORNECEM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42736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Cias aéreas e hotéis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2736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LATAM, GOL, Azul e hotéis próximos aos campi entregam tarifas de grupo em troca de volume garantido e previsível.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07195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271787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2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271787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 Antévia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787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ligada ao calendário + concierges por turma atendem o aluno ponta a ponta: da proposta ao reembolso.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11548872" cy="2148840"/>
          </a:xfrm>
          <a:prstGeom prst="roundRect">
            <a:avLst>
              <a:gd name="adj" fmla="val 255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4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 O BLOQUEIO DE GRUPO FUNCIONAR — 5 CONDIÇÕES OBRIGATÓRIAS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22376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Rota concentrada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5–8 origens principais por turma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20010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948026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Horários padronizados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48026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Módulos com datas e janelas fixas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45659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173675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Antecedência de ~90 dias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73675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programada, não reativa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71309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399325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Garantia financeira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99325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de giro cobrindo o bloqueio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96958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624974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Política de no-show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24974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claras de cancelamento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6419088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Condições mapeadas com a Velt (agência B2B) na Sprint 1 — o modelo comercial já é praticado no mercado.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  </a:t>
            </a: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Ganhos financeiros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914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Três fontes de receita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Taxa de serviço por encontro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R$ 50–150 por módulo, paga pelo aluno pela conveniência do concierge (faixa a validar nas próximas entrevistas).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89504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Comissão sobre bloqueios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Percentual sobre as tarifas de grupo negociadas com companhias aéreas e hotéis.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49884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/>
          <p:nvPr/>
        </p:nvSpPr>
        <p:spPr>
          <a:xfrm>
            <a:off x="502920" y="4645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74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Fee da escola por turma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248656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potencial da escola pelo serviço ao aluno — a validar como evolução do modelo.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5882335" cy="3657600"/>
          </a:xfrm>
          <a:prstGeom prst="roundRect">
            <a:avLst>
              <a:gd name="adj" fmla="val 1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 sz="2800"/>
          </a:p>
        </p:txBody>
      </p:sp>
      <p:sp>
        <p:nvSpPr>
          <p:cNvPr id="17" name="Text 15"/>
          <p:cNvSpPr/>
          <p:nvPr/>
        </p:nvSpPr>
        <p:spPr>
          <a:xfrm>
            <a:off x="6263640" y="1097280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4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EXEMPLO ILUSTRATIVO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alunos · 12 encontros · </a:t>
            </a:r>
            <a:r>
              <a:rPr lang="en-US" sz="105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adesão de 60%</a:t>
            </a:r>
            <a:r>
              <a:rPr lang="en-US" sz="10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(faixa realista: 50–70%)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720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92440" y="1828800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viagens organizadas por ano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432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R$ 72 mil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092440" y="2432304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turma/ano só em taxas de serviço (média R$ 100)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0358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092440" y="3035808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comissão sobre todo o volume de bloqueios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749040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escalável por turma e por escola — cada nova turma replica a mesma operação.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4709160"/>
            <a:ext cx="5882335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63640" y="4864608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4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 TODO MUNDO GANHA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5120640"/>
            <a:ext cx="5333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Aluno: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economiza 20–30% comprando na janela certa.  </a:t>
            </a: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Escola: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NPS, menos fricção, sem custo direto.  </a:t>
            </a: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Fornecedores: </a:t>
            </a: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garantido e previsível.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626364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Estimativas calibradas com as entrevistas das Sprints 1 e 2 (Velt/Bruno Brant) — valores a validar com alunos e escolas.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  </a:t>
            </a:r>
            <a:r>
              <a:rPr lang="en-US" sz="2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Proposta de valor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Compramos a viagem certa, na hora certa, </a:t>
            </a:r>
            <a:r>
              <a:rPr lang="en-US" sz="24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pelo</a:t>
            </a: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aluno</a:t>
            </a: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</a:t>
            </a: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 que ele compre apenas uma coisa: a própria formação.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6648" y="2880360"/>
            <a:ext cx="4892040" cy="2743200"/>
          </a:xfrm>
          <a:prstGeom prst="roundRect">
            <a:avLst>
              <a:gd name="adj" fmla="val 2000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1295248" y="298011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O ALUNO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13536" y="3483864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05560" y="3356263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módulos resolvidos num só lugar, com custo previsível desde a matrícula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13536" y="4197096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505560" y="4069495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20–30% de economia comprando na janela certa — sem abrir mão de companhia e milhas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13536" y="491032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505560" y="4782727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Chega a cada encontro tranquilo e focado no que importa: a aula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2880360"/>
            <a:ext cx="4892040" cy="2743200"/>
          </a:xfrm>
          <a:prstGeom prst="roundRect">
            <a:avLst>
              <a:gd name="adj" fmla="val 2000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blurRad="63500" dist="254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61608" y="298011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6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A ESCOLA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79896" y="3483864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1920" y="3377045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acolhido antes de cada módulo — NPS maior e menos reclamação na coordenação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79896" y="4197096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1920" y="40591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atrito operacional e nenhuma obrigação imposta ao aluno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79896" y="491032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671920" y="4782727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 premium: a experiência começa antes da sala de aula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59436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r>
              <a:rPr lang="en-US" sz="2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0" y="6400800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kern="0" spc="12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1915</Words>
  <Application>Microsoft Macintosh PowerPoint</Application>
  <PresentationFormat>Widescreen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Inter</vt:lpstr>
      <vt:lpstr>Inter SemiBold</vt:lpstr>
      <vt:lpstr>Sora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Felippe Maradei</cp:lastModifiedBy>
  <cp:revision>3</cp:revision>
  <dcterms:created xsi:type="dcterms:W3CDTF">2026-07-22T00:34:54Z</dcterms:created>
  <dcterms:modified xsi:type="dcterms:W3CDTF">2026-07-22T22:19:23Z</dcterms:modified>
</cp:coreProperties>
</file>