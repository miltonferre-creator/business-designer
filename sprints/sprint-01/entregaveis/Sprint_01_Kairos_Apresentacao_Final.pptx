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0972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Logística de viagem para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executivos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Fundação Dom Cabral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cobrir nos próximos 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que escolhemos investigar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contexto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04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Tendências, oferta e demanda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longo prazo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9992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que queremos gerar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de fracasso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93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testamos com entrevistas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 aprendizados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879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que estamos validando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solidFill>
            <a:srgbClr val="E8F0F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logística de viagem para programas executivos presenciais e periódicos é </a:t>
            </a:r>
            <a:pPr indent="0" marL="0">
              <a:buNone/>
            </a:pPr>
            <a:r>
              <a:rPr lang="en-US" sz="16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fragmentada e reativa</a:t>
            </a:r>
            <a:pPr indent="0" marL="0">
              <a:buNone/>
            </a:pPr>
            <a:r>
              <a:rPr lang="en-US" sz="16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integração ao calendário acadêmico — comprometendo o </a:t>
            </a:r>
            <a:pPr indent="0" marL="0">
              <a:buNone/>
            </a:pPr>
            <a:r>
              <a:rPr lang="en-US" sz="16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foco, o orçamento e a experiência</a:t>
            </a:r>
            <a:pPr indent="0" marL="0">
              <a:buNone/>
            </a:pPr>
            <a:r>
              <a:rPr lang="en-US" sz="16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formação do aluno.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aparece na prática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encontro vira um pequeno projeto à parte. O aluno descobre a data com meses de antecedência, mas só decide o que vai fazer perto da hora. Compra a passagem em uma plataforma, reserva o hotel em outra, contrata o traslado em uma terceira, e junta tudo numa planilha para pedir reembolso. No próximo módulo, repete.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Contexto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(topo) · Oferta (esquerda) · Demanda (direita)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Tecnológicas · Econômicas · Sociais · Políticas · Comportamentais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6092" y="1892808"/>
            <a:ext cx="1417320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" y="1856232"/>
            <a:ext cx="1417320" cy="1051560"/>
          </a:xfrm>
          <a:prstGeom prst="rect">
            <a:avLst/>
          </a:prstGeom>
          <a:solidFill>
            <a:srgbClr val="F4D35E"/>
          </a:solidFill>
          <a:ln w="6350">
            <a:solidFill>
              <a:srgbClr val="DEB8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" y="19202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aérea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2668" y="23317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Norte/CO paga mais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Sudeste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18004" y="1892808"/>
            <a:ext cx="1417320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1428" y="1856232"/>
            <a:ext cx="1417320" cy="1051560"/>
          </a:xfrm>
          <a:prstGeom prst="rect">
            <a:avLst/>
          </a:prstGeom>
          <a:solidFill>
            <a:srgbClr val="F4D35E"/>
          </a:solidFill>
          <a:ln w="6350">
            <a:solidFill>
              <a:srgbClr val="DEB8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4580" y="19202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Oligopólio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aéreo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54580" y="23317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+ GOL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&gt; 99,9%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99916" y="1892808"/>
            <a:ext cx="1417320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3340" y="1856232"/>
            <a:ext cx="1417320" cy="1051560"/>
          </a:xfrm>
          <a:prstGeom prst="rect">
            <a:avLst/>
          </a:prstGeom>
          <a:solidFill>
            <a:srgbClr val="F4D35E"/>
          </a:solidFill>
          <a:ln w="6350">
            <a:solidFill>
              <a:srgbClr val="DEB8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6492" y="19202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6492" y="23317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NDC + Open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prontos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1828" y="1892808"/>
            <a:ext cx="1417320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5252" y="1856232"/>
            <a:ext cx="1417320" cy="1051560"/>
          </a:xfrm>
          <a:prstGeom prst="rect">
            <a:avLst/>
          </a:prstGeom>
          <a:solidFill>
            <a:srgbClr val="F4D35E"/>
          </a:solidFill>
          <a:ln w="6350">
            <a:solidFill>
              <a:srgbClr val="DEB8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8404" y="19202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Bleisure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18404" y="23317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quer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63740" y="1892808"/>
            <a:ext cx="1417320" cy="10515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7164" y="1856232"/>
            <a:ext cx="1417320" cy="1051560"/>
          </a:xfrm>
          <a:prstGeom prst="rect">
            <a:avLst/>
          </a:prstGeom>
          <a:solidFill>
            <a:srgbClr val="F4D35E"/>
          </a:solidFill>
          <a:ln w="6350">
            <a:solidFill>
              <a:srgbClr val="DEB8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0316" y="19202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00316" y="23317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cresce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no Brasil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971800"/>
            <a:ext cx="-2103120" cy="640080"/>
          </a:xfrm>
          <a:prstGeom prst="line">
            <a:avLst/>
          </a:prstGeom>
          <a:noFill/>
          <a:ln w="12700">
            <a:solidFill>
              <a:srgbClr val="B8B8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00" y="2971800"/>
            <a:ext cx="2103120" cy="640080"/>
          </a:xfrm>
          <a:prstGeom prst="line">
            <a:avLst/>
          </a:prstGeom>
          <a:noFill/>
          <a:ln w="12700">
            <a:solidFill>
              <a:srgbClr val="B8B8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462272" y="286207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(OFERTA)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hoje resolve (ou tenta)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5216" y="4050792"/>
            <a:ext cx="1783080" cy="7315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14216"/>
            <a:ext cx="1783080" cy="731520"/>
          </a:xfrm>
          <a:prstGeom prst="rect">
            <a:avLst/>
          </a:prstGeom>
          <a:solidFill>
            <a:srgbClr val="B8DBC4"/>
          </a:solidFill>
          <a:ln w="6350">
            <a:solidFill>
              <a:srgbClr val="8FBC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05079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OTAs / Cias / Hoteis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" y="429768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Decolar, CVC, LATAM, GOL,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Azul, Booking — viagem-a-viagem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05456" y="4050792"/>
            <a:ext cx="1783080" cy="7315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4014216"/>
            <a:ext cx="1783080" cy="731520"/>
          </a:xfrm>
          <a:prstGeom prst="rect">
            <a:avLst/>
          </a:prstGeom>
          <a:solidFill>
            <a:srgbClr val="B8DBC4"/>
          </a:solidFill>
          <a:ln w="6350">
            <a:solidFill>
              <a:srgbClr val="8FBC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405079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corporativo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42032" y="429768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Onfly, Argo —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CNPJ. PF não entra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2920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(DEMANDA)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aluno e escola querem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11496" y="4050792"/>
            <a:ext cx="1783080" cy="7315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74920" y="4014216"/>
            <a:ext cx="1783080" cy="731520"/>
          </a:xfrm>
          <a:prstGeom prst="rect">
            <a:avLst/>
          </a:prstGeom>
          <a:solidFill>
            <a:srgbClr val="F4B8C9"/>
          </a:solidFill>
          <a:ln w="6350">
            <a:solidFill>
              <a:srgbClr val="D08A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8072" y="405079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Aluno-executivo (PF)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48072" y="429768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lugar só,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previsibilidade, foco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31736" y="4050792"/>
            <a:ext cx="1783080" cy="7315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4014216"/>
            <a:ext cx="1783080" cy="731520"/>
          </a:xfrm>
          <a:prstGeom prst="rect">
            <a:avLst/>
          </a:prstGeom>
          <a:solidFill>
            <a:srgbClr val="F4B8C9"/>
          </a:solidFill>
          <a:ln w="6350">
            <a:solidFill>
              <a:srgbClr val="D08A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405079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(B2B)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68312" y="429768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tranquilo,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posicionamento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65760" y="47091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ANAC · ABEAR (mercado aéreo)  ·  Paytrack (sobrepreço e bleisure 2025)  ·  CartaCapital/FDC (demanda +30%)  ·  STB (executivos C-Level +15% em 2025)  ·  IBGE (1,4 mi em pós-graduação)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 Longo Prazo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554480"/>
          </a:xfrm>
          <a:prstGeom prst="rect">
            <a:avLst/>
          </a:prstGeom>
          <a:solidFill>
            <a:srgbClr val="E8F0F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em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 tempo de planejamento logístico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em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 custo de deslocamento e hospedagem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aluno-executivo, elevando em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pontos o NPS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alunos que precisam viajar para programas executivos presenciais e periódicos no Brasil, por meio de uma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100% integrada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em 36 meses.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87452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3337560"/>
            <a:ext cx="1874520" cy="1371600"/>
          </a:xfrm>
          <a:prstGeom prst="rect">
            <a:avLst/>
          </a:prstGeom>
          <a:solidFill>
            <a:srgbClr val="8E4A2D"/>
          </a:solidFill>
          <a:ln w="12700">
            <a:solidFill>
              <a:srgbClr val="8E4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DESLOC.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HOSPEDAGEM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3337560"/>
            <a:ext cx="1874520" cy="13716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(pts)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337560"/>
            <a:ext cx="1874520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Hipóteses de Fracasso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hipóteses no formato De / Para — afirmação e pergunta investigável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77824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·  AFIRMAÇÃO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5780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 ·  PERGUNTA INVESTIGÁVEL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764792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37944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379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8105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compra passagem com menos de 30 dias de antecedência, mesmo sabendo a data há meses.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0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quantos dias de antecedência você costuma comprar passagem para os encontros?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877824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48840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148840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21992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21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194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gasta entre 2 e 5 horas por encontro organizando passagem, hotel e traslado em plataformas diferentes.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você gasta organizando a logística de cada encontro?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532888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532888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532888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606040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060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25786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não sabe quanto vai gastar com logística no programa inteiro.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0" y="2578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estimar quanto gastará com viagens até o fim do programa?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916936"/>
            <a:ext cx="877824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16936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916936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2990088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90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29626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usa pelo menos 3 plataformas diferentes para resolver cada viagem.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0" y="2962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plataformas e aplicativos você usa para organizar uma viagem ao encontro?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300984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300984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300984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374136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74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33467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conhecendo o calendário inteiro, o aluno trata cada encontro como compra isolada — nunca em bloco.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03520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pensou em comprar passagens de mais de um encontro de uma vez, em bloco? Por quê?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685032"/>
            <a:ext cx="877824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685032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0" y="3685032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758184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581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34440" y="3730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toparia pagar uma taxa de serviço para resolver toda a logística em um lugar só.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0352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pagaria entre R$ 50 e R$ 150 por encontro por uma plataforma que resolve tudo?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069080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069080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4069080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4142232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142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234440" y="4114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escola de negócios oferece hoje parceria oficial para logística de viagem.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03520" y="4114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escola sugere, indica ou oferece algum parceiro oficial para viagem ou hospedagem?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453128"/>
            <a:ext cx="877824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4453128"/>
            <a:ext cx="8778240" cy="0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4453128"/>
            <a:ext cx="0" cy="384048"/>
          </a:xfrm>
          <a:prstGeom prst="line">
            <a:avLst/>
          </a:prstGeom>
          <a:noFill/>
          <a:ln w="3810">
            <a:solidFill>
              <a:srgbClr val="D9D9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4526280"/>
            <a:ext cx="45720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5262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234440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logística vira fonte de estresse e tira o foco do aluno na hora do encontro.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03520" y="4498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10, quanto a logística da viagem afeta seu foco e tranquilidade no encontro?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1417320"/>
            <a:ext cx="8778240" cy="3419856"/>
          </a:xfrm>
          <a:prstGeom prst="rect">
            <a:avLst/>
          </a:prstGeom>
          <a:ln w="10160">
            <a:solidFill>
              <a:srgbClr val="1F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ouvimos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entrevistas com perspectivas complementares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6060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Coordenadora Lumit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· Manaus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2286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conversa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acadêmica do dia a dia da coordenação regional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82880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828800"/>
            <a:ext cx="2606040" cy="50292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Paula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· Belém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3429000"/>
            <a:ext cx="2286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conversa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regional do Norte e leitura cultural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82880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828800"/>
            <a:ext cx="2606040" cy="502920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Brant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 · agência B2B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286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conversa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mercado, formação de tarifas e operação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cada um disse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aprendizados de cada entrevistado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· Manaus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73152" cy="7040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de planejamento existe — combinação de falta de atenção ao calendário e dificuldade do aluno em se comprometer antecipadamente.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06624"/>
            <a:ext cx="73152" cy="7040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5800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institucional é real: redução de estresse antes dos módulos, mais NPS e maior senso de acolhimento.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47288"/>
            <a:ext cx="73152" cy="7040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930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" y="3648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regional não importa — o que pesa é o comprometimento do aluno, não a origem geográfica.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87952"/>
            <a:ext cx="73152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336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" y="4389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para não superdimensionar a dor — em Manaus, a maioria dos alunos é da própria capital.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Paula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1673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· Belém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1965960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965960"/>
            <a:ext cx="73152" cy="7040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0116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74720" y="2167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clara das dores: 1º financeira, 2º tempo, 3º deslocamento (resposta espontânea).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37560" y="2706624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706624"/>
            <a:ext cx="73152" cy="7040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74720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NÃO causa evasão — evasão é financeira ou de agenda. Alunos de fora terminam o programa.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37560" y="3447288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447288"/>
            <a:ext cx="73152" cy="704088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4930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74720" y="3648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cultural: "brasileiro deixa tudo pra cima da hora" — não é falta de ferramenta, é comportamento.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37560" y="4187952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4187952"/>
            <a:ext cx="73152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42336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74720" y="4389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pesquisar hotéis sobre % de bloqueios para profissionais em viagem de trabalho.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Brant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63640" y="1673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 · agência B2B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1965960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1965960"/>
            <a:ext cx="73152" cy="704088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0116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63640" y="2167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certo é "concierge de viagem", não plataforma de compra. A função gestor de viagens do aluno hoje não existe.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26480" y="2706624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2706624"/>
            <a:ext cx="73152" cy="704088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63640" y="2907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comercial já existe: escola + CNPJ + 100 alunos + 12 datas = bloqueio de grupo. Não precisa inventar produto.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26480" y="3447288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3447288"/>
            <a:ext cx="73152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34930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63640" y="3648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real é 50-70%, não 100%. Aluno-executivo quer escolher cia, voo e acumular milha pessoal.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26480" y="4187952"/>
            <a:ext cx="265176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4187952"/>
            <a:ext cx="73152" cy="7040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2336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63640" y="4389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real de bloqueio: 20-30%, não 40-50%. Compra &lt;7 dias é 2-3× mais cara que com 21+ dias.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das hipóteses após as entrevistas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37160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 / parcialmente refutada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83080"/>
            <a:ext cx="914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19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com &lt;30 dias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80160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783080"/>
            <a:ext cx="9144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1819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2-5h por encontro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496312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496312"/>
            <a:ext cx="914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visão de custo total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8016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496312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496312"/>
            <a:ext cx="914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3+ plataformas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9496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09544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09544"/>
            <a:ext cx="914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801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isolada, não em bloco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209544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209544"/>
            <a:ext cx="9144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Pagaria por solução única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496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3922776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3922776"/>
            <a:ext cx="91440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8016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não oferecem parceria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8016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refutada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922776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922776"/>
            <a:ext cx="9144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496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estresse e perda de foco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9496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Aprendizados-chave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que as entrevistas indicam — ainda em validação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9144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pode ser menos universal do que pensávamos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coordenadoras regionais (Manaus e Belém) sinalizaram que a dor parece menor no campus delas — a maioria dos alunos é local. Vale investigar se o problema se concentra em campi com fluxo de fora.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por Claudia + Ana Paula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93192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28800"/>
            <a:ext cx="91440" cy="13716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3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hierarquia de dores: financeira &gt; tempo &gt; deslocamento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0" y="2240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Paula apontou essa ordem espontaneamente. Pode ser uma pista importante de como o aluno prioriza — precisa ser confirmado com mais entrevistados.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por Ana Paula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93192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83280"/>
            <a:ext cx="91440" cy="1371600"/>
          </a:xfrm>
          <a:prstGeom prst="rect">
            <a:avLst/>
          </a:prstGeom>
          <a:solidFill>
            <a:srgbClr val="3A4FB8"/>
          </a:solidFill>
          <a:ln w="12700">
            <a:solidFill>
              <a:srgbClr val="3A4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Talvez o produto certo seja concierge, não plataforma de compra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sugeriu que o problema central pode não ser tarifa, e sim a ausência da função "gestor de viagens do aluno". Reposicionamento que ainda queremos testar.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por Bruno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393192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383280"/>
            <a:ext cx="9144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comercial parece encaixar em bloqueio de grupo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indicou que escola com CNPJ + 100 alunos + 12 datas poderia se enquadrar em bloqueio de grupo — desde que existam rota concentrada, antecedência e governança financeira.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por Bruno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· Possíveis ajustes para a Sprint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entrevistas sugerem caminhos — vamos validá-los na próxima Sprint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solidFill>
            <a:srgbClr val="E8F0F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dor logística parece existir, mas pode ser menos universal do que assumimos. A solução comercial aparenta ser viável, e o produto certo talvez seja concierge, não plataforma de compra. A Sprint 2 começa de um lugar mais firme — com hipóteses calibradas e novos perfis para ouvir.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ajustes no diagnóstico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9728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reposicionar a tese: de "plataforma de logística" para "camada operacional de gestão de viagens do aluno"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319272"/>
            <a:ext cx="109728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recalibrar meta de custo para faixa de -15% (conservador) a -25% (otimista)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09728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Refrasear meta de plataforma: 100% de cobertura, com adesão estimada em torno de 60%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109728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premissa central: a dor pode estar concentrada em campi específicos, não em todos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perfis a ouvir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816352"/>
            <a:ext cx="109728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campus com fluxo de fora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935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Lima, SP ou Rio — onde a dor pode ser mais real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109728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Aluno-executivo viajante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438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H2 (tempo) e H6 (disposição a pagar)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3822192"/>
            <a:ext cx="109728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de programa em SP ou Nova Lima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3941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que viaja de outras cidades regularmente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4325112"/>
            <a:ext cx="109728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em hotéis sobre bloqueios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4443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da Ana Paula — % de bloqueios para profissionais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KAIRÓS · BUSINESS DESIGN · SPRINT 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01 - Grupo Kairós</dc:title>
  <dc:subject>PptxGenJS Presentation</dc:subject>
  <dc:creator>Grupo Kairós</dc:creator>
  <cp:lastModifiedBy>Grupo Kairós</cp:lastModifiedBy>
  <cp:revision>1</cp:revision>
  <dcterms:created xsi:type="dcterms:W3CDTF">2026-05-27T18:54:14Z</dcterms:created>
  <dcterms:modified xsi:type="dcterms:W3CDTF">2026-05-27T18:54:14Z</dcterms:modified>
</cp:coreProperties>
</file>