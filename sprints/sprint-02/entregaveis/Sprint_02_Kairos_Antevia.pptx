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antevia_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antevia_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035040" cy="6035040"/>
          </a:xfrm>
          <a:prstGeom prst="ellipse">
            <a:avLst/>
          </a:prstGeom>
          <a:solidFill>
            <a:srgbClr val="1B243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389120" cy="4389120"/>
          </a:xfrm>
          <a:prstGeom prst="ellipse">
            <a:avLst/>
          </a:prstGeom>
          <a:solidFill>
            <a:srgbClr val="1B2435">
              <a:alpha val="38000"/>
            </a:srgbClr>
          </a:solidFill>
          <a:ln/>
        </p:spPr>
      </p:sp>
      <p:pic>
        <p:nvPicPr>
          <p:cNvPr id="4" name="Image 0" descr="antevia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4389120" cy="1387600"/>
          </a:xfrm>
          <a:prstGeom prst="roundRect">
            <a:avLst>
              <a:gd name="adj" fmla="val 9000"/>
            </a:avLst>
          </a:prstGeom>
          <a:effectLst>
            <a:outerShdw blurRad="114300" dist="38100" dir="5400000" rotWithShape="0">
              <a:srgbClr val="000000">
                <a:alpha val="3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Sprint 02 · Proposta de Valor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diagnóstico ao desenho da solução: atores, proposta de valor, nome e marca.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4800600"/>
            <a:ext cx="182880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AEC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 ·  Business Design  ·  Fundação Dom Cabral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14255" y="502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200" kern="0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Squeeze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entregamos nesta Sprint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construções que partem dos aprendizados das entrevistas e desenham a proposta de valor.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57400"/>
            <a:ext cx="713232" cy="71323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ic_calendar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219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55264" y="2020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96112" y="286207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Anotações CP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22783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perguntas “Como poderíamos…?” que abrem caminhos de solução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4256" y="1783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2057400"/>
            <a:ext cx="713232" cy="713232"/>
          </a:xfrm>
          <a:prstGeom prst="ellipse">
            <a:avLst/>
          </a:prstGeom>
          <a:solidFill>
            <a:srgbClr val="3A4FB8"/>
          </a:solidFill>
          <a:ln/>
        </p:spPr>
      </p:sp>
      <p:pic>
        <p:nvPicPr>
          <p:cNvPr id="13" name="Image 1" descr="ic_pi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219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2020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590288" y="286207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Atores-alvo e atividade-chave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0288" y="322783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a intervenção tem maior impacto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28432" y="1783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84464" y="2057400"/>
            <a:ext cx="713232" cy="71323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" name="Image 2" descr="ic_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22199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43616" y="2020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8284464" y="286207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de stakeholders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84464" y="322783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participa, influencia e é impactado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3931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6112" y="4206240"/>
            <a:ext cx="713232" cy="713232"/>
          </a:xfrm>
          <a:prstGeom prst="ellipse">
            <a:avLst/>
          </a:prstGeom>
          <a:solidFill>
            <a:srgbClr val="A23B72"/>
          </a:solidFill>
          <a:ln/>
        </p:spPr>
      </p:sp>
      <p:pic>
        <p:nvPicPr>
          <p:cNvPr id="25" name="Image 3" descr="ic_concier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37083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55264" y="41696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896112" y="501091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da Proposta de Valor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96112" y="537667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do cliente e mapa de valor (VPD)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34256" y="3931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90288" y="4206240"/>
            <a:ext cx="713232" cy="71323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1" name="Image 4" descr="ic_ta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70832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49440" y="41696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4590288" y="501091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590288" y="537667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Antévia — antecipar a via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028432" y="3931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84464" y="4206240"/>
            <a:ext cx="713232" cy="713232"/>
          </a:xfrm>
          <a:prstGeom prst="ellipse">
            <a:avLst/>
          </a:prstGeom>
          <a:solidFill>
            <a:srgbClr val="1B2435"/>
          </a:solidFill>
          <a:ln/>
        </p:spPr>
      </p:sp>
      <p:pic>
        <p:nvPicPr>
          <p:cNvPr id="37" name="Image 5" descr="ic_compas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370832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643616" y="41696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6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2800" dirty="0"/>
          </a:p>
        </p:txBody>
      </p:sp>
      <p:sp>
        <p:nvSpPr>
          <p:cNvPr id="39" name="Text 31"/>
          <p:cNvSpPr/>
          <p:nvPr/>
        </p:nvSpPr>
        <p:spPr>
          <a:xfrm>
            <a:off x="8284464" y="501091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284464" y="537667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Identidade visual da solução</a:t>
            </a:r>
            <a:endParaRPr lang="en-US" sz="1150" dirty="0"/>
          </a:p>
        </p:txBody>
      </p:sp>
      <p:pic>
        <p:nvPicPr>
          <p:cNvPr id="41" name="Image 6" descr="app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 Sprint 1 para a Sprint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diagnóstico apontou caminhos. Agora escolhemos um deles e começamos a desenhar.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157984"/>
            <a:ext cx="868680" cy="868680"/>
          </a:xfrm>
          <a:prstGeom prst="ellipse">
            <a:avLst/>
          </a:prstGeom>
          <a:solidFill>
            <a:srgbClr val="A23B72"/>
          </a:solidFill>
          <a:ln/>
        </p:spPr>
      </p:sp>
      <p:pic>
        <p:nvPicPr>
          <p:cNvPr id="7" name="Image 0" descr="ic_concierge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68296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2004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produto certo é concierge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84048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“mais um site de compra”, e sim a função que hoje não existe: gestor de viagens do aluno.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182880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2157984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ic_layer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368296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2004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é bloqueio de grupo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26864" y="384048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Escola + CNPJ + turma + 12 datas conhecidas já se enquadram num bloqueio — não é preciso inventar produto.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28432" y="182880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157984"/>
            <a:ext cx="868680" cy="868680"/>
          </a:xfrm>
          <a:prstGeom prst="ellipse">
            <a:avLst/>
          </a:prstGeom>
          <a:solidFill>
            <a:srgbClr val="3A4FB8"/>
          </a:solidFill>
          <a:ln/>
        </p:spPr>
      </p:sp>
      <p:pic>
        <p:nvPicPr>
          <p:cNvPr id="17" name="Image 2" descr="ic_p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368296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2004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dor se concentra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84048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 é maior nos campi com fluxo de fora (Nova Lima, SP, Rio); onde o aluno é local, quase some.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Calibragem que carregamos: </a:t>
            </a:r>
            <a:pPr indent="0" marL="0">
              <a:buNone/>
            </a:pPr>
            <a:r>
              <a:rPr lang="en-US" sz="13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adesão real de 50–70% (não 100%), desconto de bloqueio de 20–30% (não 40–50%) e meta de custo na faixa de −15% a −25%.</a:t>
            </a:r>
            <a:endParaRPr lang="en-US" sz="1300" dirty="0"/>
          </a:p>
        </p:txBody>
      </p:sp>
      <p:pic>
        <p:nvPicPr>
          <p:cNvPr id="21" name="Image 3" descr="app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Anotações CP — Como poderíamos…?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pergunta nasce de uma fala das entrevistas e aponta uma oportunidade. As prioritárias definem a direção da solução.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2679192" cy="2148840"/>
          </a:xfrm>
          <a:prstGeom prst="rect">
            <a:avLst/>
          </a:prstGeom>
          <a:solidFill>
            <a:srgbClr val="FCEFC8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01952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7A5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PRIORITÁRIA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6384" y="2084832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…usar o calendário acadêmico para o aluno comprar na janela certa, antes de a tarifa subir?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34655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· H5 · Bruno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38144" y="1627632"/>
            <a:ext cx="2679192" cy="2148840"/>
          </a:xfrm>
          <a:prstGeom prst="rect">
            <a:avLst/>
          </a:prstGeom>
          <a:solidFill>
            <a:srgbClr val="FCEFC8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0016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7A5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PRIORITÁRIA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2084832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…transformar as 12 datas conhecidas da turma num bloqueio de grupo com garantia financeira?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34655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Bruno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1627632"/>
            <a:ext cx="2679192" cy="2148840"/>
          </a:xfrm>
          <a:prstGeom prst="rect">
            <a:avLst/>
          </a:prstGeom>
          <a:solidFill>
            <a:srgbClr val="FCEFC8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0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7A5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PRIORITÁRIA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82512" y="2084832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…posicionar a solução como “gestor de viagens do aluno”, e não como mais um site de compra?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82512" y="34655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34272" y="1627632"/>
            <a:ext cx="2679192" cy="2148840"/>
          </a:xfrm>
          <a:prstGeom prst="rect">
            <a:avLst/>
          </a:prstGeom>
          <a:solidFill>
            <a:srgbClr val="FCEFC8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0576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96144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7A5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PRIORITÁRIA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80576" y="2084832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…resolver passagem, hotel e traslado num só lugar sem tirar a liberdade de escolher cia e milhas?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80576" y="34655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941064"/>
            <a:ext cx="2679192" cy="2148840"/>
          </a:xfrm>
          <a:prstGeom prst="rect">
            <a:avLst/>
          </a:prstGeom>
          <a:solidFill>
            <a:srgbClr val="FFF9E8"/>
          </a:solidFill>
          <a:ln w="12700">
            <a:solidFill>
              <a:srgbClr val="EAD9A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" y="4050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E7B4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6384" y="4398264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…mostrar ao aluno, no início do programa, quanto vai gastar de logística até a formatura?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6384" y="577900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Paula · H3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38144" y="3941064"/>
            <a:ext cx="2679192" cy="2148840"/>
          </a:xfrm>
          <a:prstGeom prst="rect">
            <a:avLst/>
          </a:prstGeom>
          <a:solidFill>
            <a:srgbClr val="FFF9E8"/>
          </a:solidFill>
          <a:ln w="12700">
            <a:solidFill>
              <a:srgbClr val="EAD9A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84448" y="4050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E7B4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84448" y="4398264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…devolver ao aluno as 2–5h que ele gasta orquestrando cada encontro?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84448" y="577900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36208" y="3941064"/>
            <a:ext cx="2679192" cy="2148840"/>
          </a:xfrm>
          <a:prstGeom prst="rect">
            <a:avLst/>
          </a:prstGeom>
          <a:solidFill>
            <a:srgbClr val="FFF9E8"/>
          </a:solidFill>
          <a:ln w="12700">
            <a:solidFill>
              <a:srgbClr val="EAD9A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82512" y="4050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E7B4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82512" y="4398264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…engajar a escola como parceira sem criar obrigação para o aluno?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82512" y="577900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Claudia · Bruno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34272" y="3941064"/>
            <a:ext cx="2679192" cy="2148840"/>
          </a:xfrm>
          <a:prstGeom prst="rect">
            <a:avLst/>
          </a:prstGeom>
          <a:solidFill>
            <a:srgbClr val="FFF9E8"/>
          </a:solidFill>
          <a:ln w="12700">
            <a:solidFill>
              <a:srgbClr val="EAD9A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80576" y="4050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E7B4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180576" y="4398264"/>
            <a:ext cx="2404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Como poderíamos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…concentrar o esforço nos campi com fluxo de fora, onde a dor é real?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80576" y="577900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Claudia · Ana Paula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6089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Critérios de priorização: 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relevância para o problema  ·  potencial de impacto na meta  ·  acesso real ao ator.</a:t>
            </a:r>
            <a:endParaRPr lang="en-US" sz="1150" dirty="0"/>
          </a:p>
        </p:txBody>
      </p:sp>
      <p:pic>
        <p:nvPicPr>
          <p:cNvPr id="42" name="Image 0" descr="appicon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4F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Atores-alvo e atividade-chave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777240" cy="777240"/>
          </a:xfrm>
          <a:prstGeom prst="ellipse">
            <a:avLst/>
          </a:prstGeom>
          <a:solidFill>
            <a:srgbClr val="3A4FB8"/>
          </a:solidFill>
          <a:ln/>
        </p:spPr>
      </p:sp>
      <p:pic>
        <p:nvPicPr>
          <p:cNvPr id="6" name="Image 0" descr="ic_user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A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ATOR-ALVO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19568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Aluno-executivo viajante de campus com fluxo de fora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Comportamento: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viaja de outra cidade a cada módulo e tende a decidir em cima da hora.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Disposição: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para delegar a logística, desde que mantenha cia e milhas.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Acesso: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chegamos a ele pela própria escola.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691640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ic_school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ATOR-VIABILIZADOR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98080" y="19568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escola / coordenação acadêmica (FDC)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Porta de entrada do bloqueio de grupo: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CNPJ + turma + calendário das 12 datas.
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O que ganha: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extra-sala, menos fricção antes dos módulos e reforço do posicionamento premium.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950208"/>
            <a:ext cx="10881360" cy="2286000"/>
          </a:xfrm>
          <a:prstGeom prst="roundRect">
            <a:avLst>
              <a:gd name="adj" fmla="val 3600"/>
            </a:avLst>
          </a:prstGeom>
          <a:solidFill>
            <a:srgbClr val="1B2435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224528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2" descr="ic_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38912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ATIVIDADE-CHAVE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828800" y="4480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planejamento e a compra antecipada da logística de cada módulo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0584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central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005840" y="5349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 a dor (decisão tardia → sobrepreço, fragmentação, estresse) e o maior potencial de impacto.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2628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ela influencia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26280" y="5349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total, tempo gasto por encontro, foco no módulo e NPS dos alunos.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04672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 associados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046720" y="5349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Não-adesão (50–70%), inadimplência e necessidade de capital de giro.</a:t>
            </a:r>
            <a:endParaRPr lang="en-US" sz="1100" dirty="0"/>
          </a:p>
        </p:txBody>
      </p:sp>
      <p:pic>
        <p:nvPicPr>
          <p:cNvPr id="27" name="Image 3" descr="app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Mapa de stakeholders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234440"/>
            <a:ext cx="4846320" cy="4846320"/>
          </a:xfrm>
          <a:prstGeom prst="ellipse">
            <a:avLst/>
          </a:prstGeom>
          <a:solidFill>
            <a:srgbClr val="1B2435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965960"/>
            <a:ext cx="3383280" cy="33832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2606040" y="2651760"/>
            <a:ext cx="2011680" cy="20116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1389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Indiretos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3108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47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PÚBLICO-ALVO
</a:t>
            </a:r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Aluno-executivo viajante (fluxo de fora)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1481328"/>
            <a:ext cx="49377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14032" y="1755648"/>
            <a:ext cx="310896" cy="3108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7534656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Público-alvo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34656" y="212140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Aluno-executivo viajante — campus com fluxo de fora (Nova Lima, SP, Rio)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2980944"/>
            <a:ext cx="49377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14032" y="3255264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7534656" y="3218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diretos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34656" y="362102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Escola / coordenação FDC · Operador concierge (agência) · Companhias aéreas · Hotéis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0" y="4480560"/>
            <a:ext cx="4937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14032" y="4754880"/>
            <a:ext cx="310896" cy="310896"/>
          </a:xfrm>
          <a:prstGeom prst="ellipse">
            <a:avLst/>
          </a:prstGeom>
          <a:solidFill>
            <a:srgbClr val="1B2435"/>
          </a:solidFill>
          <a:ln/>
        </p:spPr>
      </p:sp>
      <p:sp>
        <p:nvSpPr>
          <p:cNvPr id="20" name="Text 18"/>
          <p:cNvSpPr/>
          <p:nvPr/>
        </p:nvSpPr>
        <p:spPr>
          <a:xfrm>
            <a:off x="7534656" y="4718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indiretos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34656" y="51206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OTAs e concorrentes · RH e financeiro das empresas · Professores · Programas de milhas · Pagamento e Open Finance · ANAC e ABEAR · INPI</a:t>
            </a:r>
            <a:endParaRPr lang="en-US" sz="1150" dirty="0"/>
          </a:p>
        </p:txBody>
      </p:sp>
      <p:pic>
        <p:nvPicPr>
          <p:cNvPr id="22" name="Image 0" descr="appicon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3B7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Proposta de Valor — perfil do cliente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 aluno-executivo está tentando resolver, o que o atrapalha e o que ele espera ganhar.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29584" cy="452628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603504" cy="603504"/>
          </a:xfrm>
          <a:prstGeom prst="ellipse">
            <a:avLst/>
          </a:prstGeom>
          <a:solidFill>
            <a:srgbClr val="3A4FB8"/>
          </a:solidFill>
          <a:ln/>
        </p:spPr>
      </p:sp>
      <p:pic>
        <p:nvPicPr>
          <p:cNvPr id="7" name="Image 0" descr="ic_list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84708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Tarefas (JTBDs)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34256" y="1554480"/>
            <a:ext cx="3529584" cy="452628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28800"/>
            <a:ext cx="603504" cy="60350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ic_pill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84708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Dores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28432" y="1554480"/>
            <a:ext cx="3529584" cy="452628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02752" y="182880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5" name="Image 2" descr="ic_gif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96596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15984" y="184708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32688" y="23957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Funcionais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50976" y="2670048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Programar a compra pelo calendário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 na janela certa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Reservar hotel e traslado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Fazer check-in e wallet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Consolidar custos p/ reembolso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2688" y="409651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Emocionais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50976" y="4370832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Previsibilidade p/ focar na formação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Estar no controle do orçamento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32688" y="51389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Sociais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50976" y="5413248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Aproveitar a viagem (bleisure)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Ampliar conexões e networking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645152" y="2606040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de última hora custa até +135%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 espalhada em 3+ plataformas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visão do custo total do programa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2–5h gastas por encontro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Estresse que tira o foco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Reembolso trabalhoso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Medo de perder milhas numa solução rígida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39328" y="2606040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num só lugar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previsível desde o início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 na hora certa pelo calendário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 companhia e milhas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na formação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Viagem como experiência</a:t>
            </a:r>
            <a:endParaRPr lang="en-US" sz="1150" dirty="0"/>
          </a:p>
        </p:txBody>
      </p:sp>
      <p:pic>
        <p:nvPicPr>
          <p:cNvPr id="25" name="Image 3" descr="app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3B7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Canvas da Proposta de Valor (VPD) — preenchido</a:t>
            </a:r>
            <a:endParaRPr lang="en-US" sz="2700" dirty="0"/>
          </a:p>
        </p:txBody>
      </p:sp>
      <p:pic>
        <p:nvPicPr>
          <p:cNvPr id="4" name="Image 0" descr="vpd_canv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81328"/>
            <a:ext cx="9098280" cy="4654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8920" y="1508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Criadores de ganho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2788920" y="1783080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880360" y="1801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Previsibilidade orçamentária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2788920" y="2318004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80360" y="23362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na formação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88920" y="2852928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80360" y="28712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NPS para a escola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1325880" y="3401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 e serviços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325880" y="3675888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417320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integrado ao calendário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1325880" y="4210812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17320" y="42291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Bloqueio de grupo via escola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1325880" y="4745736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417320" y="47640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de custo + check-in/wallet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3310128" y="44074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Aliviadores de dores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10128" y="4681728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01568" y="47000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Antecipa a compra → corta o sobrepreço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3310128" y="5216652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01568" y="52349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só ponto: fim dos 3+ apps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3310128" y="5751576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401568" y="57698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Devolve as 2–5h por encontro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7315200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315200" y="2359152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406640" y="2377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num só lugar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7315200" y="2894076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406640" y="29123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previsível desde o início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7315200" y="3429000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406640" y="34472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 cia e milhas + foco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9646920" y="3127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Tarefas do cliente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646920" y="3401568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738360" y="34198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 na janela certa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9646920" y="3936492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738360" y="39547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Reservar hotel e traslado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9646920" y="4471416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738360" y="44897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Check-in, wallet e reembolso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7315200" y="4315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315200" y="4590288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406640" y="46085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 hora paga + 135%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7315200" y="5125212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406640" y="51435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 plataformas, sem custo total</a:t>
            </a:r>
            <a:endParaRPr lang="en-US" sz="860" dirty="0"/>
          </a:p>
        </p:txBody>
      </p:sp>
      <p:sp>
        <p:nvSpPr>
          <p:cNvPr id="45" name="Shape 42"/>
          <p:cNvSpPr/>
          <p:nvPr/>
        </p:nvSpPr>
        <p:spPr>
          <a:xfrm>
            <a:off x="7315200" y="5660136"/>
            <a:ext cx="1828800" cy="475488"/>
          </a:xfrm>
          <a:prstGeom prst="rect">
            <a:avLst/>
          </a:prstGeom>
          <a:solidFill>
            <a:srgbClr val="FFF4CC"/>
          </a:solidFill>
          <a:ln w="12700">
            <a:solidFill>
              <a:srgbClr val="E2CD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7406640" y="5678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2–5h + estresse, perde o foco</a:t>
            </a:r>
            <a:endParaRPr lang="en-US" sz="860" dirty="0"/>
          </a:p>
        </p:txBody>
      </p:sp>
      <p:pic>
        <p:nvPicPr>
          <p:cNvPr id="47" name="Image 1" descr="appic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5486400" cy="5486400"/>
          </a:xfrm>
          <a:prstGeom prst="ellipse">
            <a:avLst/>
          </a:prstGeom>
          <a:solidFill>
            <a:srgbClr val="1B2435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Proposta de valor (síntese)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64592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 xml:space="preserve">Antévia </a:t>
            </a:r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o concierge de viagem do aluno-executivo. Integrado ao calendário acadêmico, antecipa e organiza passagem, hotel e traslado de todos os módulos em um só lugar — com o custo previsível desde o início e a liberdade de manter companhia e milhas — para que o aluno chegue a cada encontro tranquilo e focado, e a escola ganhe em NPS.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2606040" cy="841248"/>
          </a:xfrm>
          <a:prstGeom prst="roundRect">
            <a:avLst>
              <a:gd name="adj" fmla="val 13043"/>
            </a:avLst>
          </a:prstGeom>
          <a:solidFill>
            <a:srgbClr val="1B2435"/>
          </a:solidFill>
          <a:ln w="12700">
            <a:solidFill>
              <a:srgbClr val="39527A"/>
            </a:solidFill>
            <a:prstDash val="solid"/>
          </a:ln>
        </p:spPr>
      </p:sp>
      <p:pic>
        <p:nvPicPr>
          <p:cNvPr id="7" name="Image 0" descr="ic_clock_F2B7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51389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489204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−80% tempo de planejamento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4892040"/>
            <a:ext cx="2606040" cy="841248"/>
          </a:xfrm>
          <a:prstGeom prst="roundRect">
            <a:avLst>
              <a:gd name="adj" fmla="val 13043"/>
            </a:avLst>
          </a:prstGeom>
          <a:solidFill>
            <a:srgbClr val="1B2435"/>
          </a:solidFill>
          <a:ln w="12700">
            <a:solidFill>
              <a:srgbClr val="39527A"/>
            </a:solidFill>
            <a:prstDash val="solid"/>
          </a:ln>
        </p:spPr>
      </p:sp>
      <p:pic>
        <p:nvPicPr>
          <p:cNvPr id="10" name="Image 1" descr="ic_coins_F2B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51389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59936" y="489204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−15% a −25% no custo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4892040"/>
            <a:ext cx="2606040" cy="841248"/>
          </a:xfrm>
          <a:prstGeom prst="roundRect">
            <a:avLst>
              <a:gd name="adj" fmla="val 13043"/>
            </a:avLst>
          </a:prstGeom>
          <a:solidFill>
            <a:srgbClr val="1B2435"/>
          </a:solidFill>
          <a:ln w="12700">
            <a:solidFill>
              <a:srgbClr val="39527A"/>
            </a:solidFill>
            <a:prstDash val="solid"/>
          </a:ln>
        </p:spPr>
      </p:sp>
      <p:pic>
        <p:nvPicPr>
          <p:cNvPr id="13" name="Image 2" descr="ic_smile_F2B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513892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03136" y="489204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 pts de NPS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69680" y="4892040"/>
            <a:ext cx="2606040" cy="841248"/>
          </a:xfrm>
          <a:prstGeom prst="roundRect">
            <a:avLst>
              <a:gd name="adj" fmla="val 13043"/>
            </a:avLst>
          </a:prstGeom>
          <a:solidFill>
            <a:srgbClr val="1B2435"/>
          </a:solidFill>
          <a:ln w="12700">
            <a:solidFill>
              <a:srgbClr val="39527A"/>
            </a:solidFill>
            <a:prstDash val="solid"/>
          </a:ln>
        </p:spPr>
      </p:sp>
      <p:pic>
        <p:nvPicPr>
          <p:cNvPr id="16" name="Image 3" descr="ic_layers_F2B7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513892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46336" y="489204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100% integrada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C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Metas-âncora do objetivo de longo prazo (36 meses)</a:t>
            </a:r>
            <a:endParaRPr lang="en-US" sz="1100" dirty="0"/>
          </a:p>
        </p:txBody>
      </p:sp>
      <p:pic>
        <p:nvPicPr>
          <p:cNvPr id="19" name="Image 4" descr="appic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81328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4526280"/>
          </a:xfrm>
          <a:prstGeom prst="roundRect">
            <a:avLst>
              <a:gd name="adj" fmla="val 1818"/>
            </a:avLst>
          </a:prstGeom>
          <a:solidFill>
            <a:srgbClr val="F7F8FA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554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pPr indent="0" marL="0">
              <a:buNone/>
            </a:pPr>
            <a:r>
              <a:rPr lang="en-US" sz="46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pPr indent="0" marL="0">
              <a:buNone/>
            </a:pPr>
            <a:r>
              <a:rPr lang="en-US" sz="4600" b="1" dirty="0">
                <a:solidFill>
                  <a:srgbClr val="1B24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ante </a:t>
            </a:r>
            <a:pPr indent="0" marL="0">
              <a:buNone/>
            </a:pPr>
            <a:r>
              <a:rPr lang="en-US" sz="14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(antecipar)  +  </a:t>
            </a:r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via </a:t>
            </a:r>
            <a:pPr indent="0" marL="0">
              <a:buNone/>
            </a:pPr>
            <a:r>
              <a:rPr lang="en-US" sz="14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(caminho, viagem)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852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Antecipar a viagem — a jornada da formação no tempo certo.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Conexão com o grupo:  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Kairós é o momento oportuno; Antévia o entrega.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3639312"/>
            <a:ext cx="448056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7124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funciona</a:t>
            </a:r>
            <a:endParaRPr lang="en-US" sz="1300" dirty="0"/>
          </a:p>
        </p:txBody>
      </p:sp>
      <p:pic>
        <p:nvPicPr>
          <p:cNvPr id="11" name="Image 0" descr="ic_flag_D977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06908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005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Curto e fácil de pronunciar — </a:t>
            </a:r>
            <a:pPr indent="0" marL="0">
              <a:buNone/>
            </a:pPr>
            <a:r>
              <a:rPr lang="en-US" sz="11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sílabas, boa sonoridade</a:t>
            </a:r>
            <a:endParaRPr lang="en-US" sz="1100" dirty="0"/>
          </a:p>
        </p:txBody>
      </p:sp>
      <p:pic>
        <p:nvPicPr>
          <p:cNvPr id="13" name="Image 1" descr="ic_flag_D97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4348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Original — </a:t>
            </a:r>
            <a:pPr indent="0" marL="0">
              <a:buNone/>
            </a:pPr>
            <a:r>
              <a:rPr lang="en-US" sz="11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cunhado — favorece o registro</a:t>
            </a:r>
            <a:endParaRPr lang="en-US" sz="1100" dirty="0"/>
          </a:p>
        </p:txBody>
      </p:sp>
      <p:pic>
        <p:nvPicPr>
          <p:cNvPr id="15" name="Image 2" descr="ic_flag_D977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0060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Significativo — </a:t>
            </a:r>
            <a:pPr indent="0" marL="0">
              <a:buNone/>
            </a:pPr>
            <a:r>
              <a:rPr lang="en-US" sz="11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 a antecipação</a:t>
            </a:r>
            <a:endParaRPr lang="en-US" sz="1100" dirty="0"/>
          </a:p>
        </p:txBody>
      </p:sp>
      <p:pic>
        <p:nvPicPr>
          <p:cNvPr id="17" name="Image 3" descr="ic_flag_D977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6636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102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Memorável — </a:t>
            </a:r>
            <a:pPr indent="0" marL="0">
              <a:buNone/>
            </a:pPr>
            <a:r>
              <a:rPr lang="en-US" sz="110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liga-se à narrativa do grupo Kairós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005840" y="5532120"/>
            <a:ext cx="448056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05840" y="5605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Alternativas:  </a:t>
            </a:r>
            <a:pPr indent="0" marL="0">
              <a:buNone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Cadência (ritmo dos módulos) · Kairós (nome do grupo)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172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no INPI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961120" y="14173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pic>
        <p:nvPicPr>
          <p:cNvPr id="23" name="Image 4" descr="ic_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48132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72600" y="1417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RESULTADO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1722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Busca por </a:t>
            </a:r>
            <a:pPr indent="0" marL="0">
              <a:buNone/>
            </a:pPr>
            <a:r>
              <a:rPr lang="en-US" sz="1150" b="1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“Antevia”</a:t>
            </a:r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na base do INPI — nenhuma marca encontrada (22/06/2026).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135624" y="2304288"/>
            <a:ext cx="5541264" cy="301141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5" descr="inpi_pr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340864"/>
            <a:ext cx="5468112" cy="293826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172200" y="5407145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Ressalva do próprio INPI:  </a:t>
            </a:r>
            <a:pPr indent="0" marL="0">
              <a:buNone/>
            </a:pPr>
            <a:r>
              <a:rPr lang="en-US" sz="1050" dirty="0">
                <a:solidFill>
                  <a:srgbClr val="2A34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ausência de resultado não garante o registro; o exame técnico decide a registrabilidade.</a:t>
            </a:r>
            <a:endParaRPr lang="en-US" sz="1050" dirty="0"/>
          </a:p>
        </p:txBody>
      </p:sp>
      <p:pic>
        <p:nvPicPr>
          <p:cNvPr id="29" name="Image 6" descr="app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38251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50976" y="63459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SPRINT 02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0180015" y="6345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uide_marc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B2435">
              <a:alpha val="40000"/>
            </a:srgbClr>
          </a:solidFill>
          <a:ln/>
        </p:spPr>
      </p:sp>
      <p:pic>
        <p:nvPicPr>
          <p:cNvPr id="3" name="Image 0" descr="antevia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4389120" cy="1387600"/>
          </a:xfrm>
          <a:prstGeom prst="roundRect">
            <a:avLst>
              <a:gd name="adj" fmla="val 9000"/>
            </a:avLst>
          </a:prstGeom>
          <a:effectLst>
            <a:outerShdw blurRad="114300" dist="38100" dir="5400000" rotWithShape="0">
              <a:srgbClr val="000000">
                <a:alpha val="3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4008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 dor diagnosticada à proposta desenhada.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Sprint 2 fecha com o ator-alvo definido, a proposta de valor montada e a marca Antévia no ar. A próxima etapa traduz tudo isso em modelo de negócio (Business Model Canvas).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754880"/>
            <a:ext cx="182880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Próximo: Sprint 3 — Business Model Canvas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Antévia · Business Design · Fundação Dom Cabral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02 — Antévia</dc:title>
  <dc:subject>PptxGenJS Presentation</dc:subject>
  <dc:creator>Grupo Kairós</dc:creator>
  <cp:lastModifiedBy>Grupo Kairós</cp:lastModifiedBy>
  <cp:revision>1</cp:revision>
  <dcterms:created xsi:type="dcterms:W3CDTF">2026-06-23T21:09:07Z</dcterms:created>
  <dcterms:modified xsi:type="dcterms:W3CDTF">2026-06-23T21:09:07Z</dcterms:modified>
</cp:coreProperties>
</file>