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6048" y="1417320"/>
            <a:ext cx="2286000" cy="310896"/>
          </a:xfrm>
          <a:prstGeom prst="roundRect">
            <a:avLst>
              <a:gd name="adj" fmla="val 14706"/>
            </a:avLst>
          </a:prstGeom>
          <a:solidFill>
            <a:srgbClr val="1B2435"/>
          </a:solidFill>
          <a:ln w="9525">
            <a:solidFill>
              <a:srgbClr val="2A355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6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BANCA DE MODELAGEM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371600" y="2148840"/>
            <a:ext cx="9445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Ant</a:t>
            </a:r>
            <a:pPr algn="ctr" indent="0" marL="0">
              <a:buNone/>
            </a:pPr>
            <a:r>
              <a:rPr lang="en-US" sz="72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é</a:t>
            </a:r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0"/>
            <a:ext cx="9445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LOGÍSTICA DA SUA FORMAÇÃO, NO TEMPO CERTO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41848" y="4343400"/>
            <a:ext cx="914400" cy="0"/>
          </a:xfrm>
          <a:prstGeom prst="line">
            <a:avLst/>
          </a:prstGeom>
          <a:noFill/>
          <a:ln w="19050">
            <a:solidFill>
              <a:srgbClr val="F2B70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457200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concierge de viagem do aluno-executivo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5760720"/>
            <a:ext cx="9445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Designer · Fundação Dom Cabral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120" kern="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BANCA DE MODELAGEM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957255" y="66385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10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  </a:t>
            </a:r>
            <a:pPr algn="l"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Contexto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educação executiva cresce no Brasil — e ela é presencial e periódica.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Executivos de todo o país viajam a cada 4–6 semanas, por 18–24 meses, para módulos em campi como Nova Lima, São Paulo e Rio.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2286000"/>
            <a:ext cx="2764460" cy="3566160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2560320"/>
            <a:ext cx="2398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+30%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383280"/>
            <a:ext cx="2398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Mercado em expansão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3931920"/>
            <a:ext cx="23987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demanda por educação executiva cresce cerca de 30% no Brasil — mais turmas, mais alunos viajando com regularidade.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9092" y="2286000"/>
            <a:ext cx="2764460" cy="3566160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31972" y="2560320"/>
            <a:ext cx="2398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4–6 sem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31972" y="3383280"/>
            <a:ext cx="2398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Viagem recorrente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31972" y="3931920"/>
            <a:ext cx="23987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aluno de fora repete a mesma operação de viagem a cada módulo, durante todo o programa — não é uma viagem, é uma série delas.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78144" y="2286000"/>
            <a:ext cx="2764460" cy="3566160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61024" y="2560320"/>
            <a:ext cx="2398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&gt;99,9%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61024" y="3383280"/>
            <a:ext cx="2398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Mercado aéreo concentrado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61024" y="3931920"/>
            <a:ext cx="23987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LATAM, GOL e Azul dominam a malha. Rotas do Norte e Centro-Oeste pagam mais para chegar ao Sudeste, onde estão os campi.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07195" y="2286000"/>
            <a:ext cx="2764460" cy="3566160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90075" y="2560320"/>
            <a:ext cx="2398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PF × B2B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290075" y="3383280"/>
            <a:ext cx="2398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Um cliente sem dono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290075" y="3931920"/>
            <a:ext cx="23987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aluno-executivo é um órfão estrutural: as plataformas corporativas exigem CNPJ, e o varejo de viagem o trata como turista avulso.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" y="6080760"/>
            <a:ext cx="1152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Fontes: ANAC · ABEAR · Paytrack · CartaCapital/FDC · IBGE · entrevistas do projeto (Sprints 1 e 2)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12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BANCA DE MODELAGEM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0957255" y="66385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10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  </a:t>
            </a:r>
            <a:pPr algn="l"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problema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11548872" cy="13716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097280"/>
            <a:ext cx="10835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logística de viagem para programas executivos é </a:t>
            </a:r>
            <a:pPr algn="l"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fragmentada e reativa</a:t>
            </a:r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, sem integração ao calendário acadêmico — comprometendo o foco, o orçamento e a experiência da formação do aluno.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320040" y="2606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Como a dor aparece na prática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2971800"/>
            <a:ext cx="2764460" cy="3063240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31729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3593592"/>
            <a:ext cx="2398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Sabe a data, compra tarde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4142232"/>
            <a:ext cx="23987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aluno conhece o calendário desde a matrícula — e ainda assim compra com menos de 30 dias. “Brasileiro deixa tudo pra cima da hora”: é comportamento, não falta de ferramenta.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9092" y="2971800"/>
            <a:ext cx="2764460" cy="3063240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31972" y="31729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31972" y="3593592"/>
            <a:ext cx="2398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Pagando 2–3× mais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31972" y="4142232"/>
            <a:ext cx="23987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Comprar a menos de 7 dias do voo custa 2 a 3 vezes mais do que com 21+ dias de antecedência. A janela certa existe — mas ninguém a aciona pelo aluno.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8144" y="2971800"/>
            <a:ext cx="2764460" cy="3063240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61024" y="31729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61024" y="3593592"/>
            <a:ext cx="2398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Cada módulo, um projeto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61024" y="4142232"/>
            <a:ext cx="23987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Voo num app, hotel noutro, traslado num terceiro — e o reembolso fechado na planilha. A operação inteira se repete a cada encontro.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107195" y="2971800"/>
            <a:ext cx="2764460" cy="3063240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90075" y="31729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290075" y="3593592"/>
            <a:ext cx="2398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Custo sem visibilidade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290075" y="4142232"/>
            <a:ext cx="23987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Ninguém consegue dizer quanto o programa vai custar em viagens até o fim. O orçamento vira surpresa, módulo a módulo.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" y="6172200"/>
            <a:ext cx="1152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dor se concentra nos campi que recebem alunos de fora — Nova Lima, São Paulo e Rio (entrevistas com coordenadoras FDC, Sprint 1).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12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BANCA DE MODELAGEM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0957255" y="66385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10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  </a:t>
            </a:r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solução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Ant</a:t>
            </a:r>
            <a:pPr algn="l" indent="0" marL="0">
              <a:buNone/>
            </a:pPr>
            <a:r>
              <a:rPr lang="en-US" sz="48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é</a:t>
            </a:r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68680" y="20116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40" kern="0" dirty="0">
                <a:solidFill>
                  <a:srgbClr val="F2B7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LOGÍSTICA DA SUA FORMAÇÃO, NO TEMPO CERTO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2395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6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Antévia = antes + via. </a:t>
            </a:r>
            <a:pPr algn="l" indent="0" marL="0">
              <a:buNone/>
            </a:pPr>
            <a:r>
              <a:rPr lang="en-US" sz="850" dirty="0">
                <a:solidFill>
                  <a:srgbClr val="AE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caminho resolvido antes da hora. Busca preliminar no INPI (jun/2026) sem registro conflitante.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concierge de viagem do aluno-executivo</a:t>
            </a:r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: uma plataforma integrada ao calendário acadêmico que antecipa e organiza passagem, hotel e traslado de todos os módulos em um só lugar — com custo previsível desde o início e a liberdade de manter companhia e milhas.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22960" y="4572000"/>
            <a:ext cx="3395472" cy="1691640"/>
          </a:xfrm>
          <a:prstGeom prst="roundRect">
            <a:avLst>
              <a:gd name="adj" fmla="val 3243"/>
            </a:avLst>
          </a:prstGeom>
          <a:solidFill>
            <a:srgbClr val="1B2435"/>
          </a:solidFill>
          <a:ln w="9525">
            <a:solidFill>
              <a:srgbClr val="2A3550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87552" y="4718304"/>
            <a:ext cx="3066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ANTECIPAÇÃO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87552" y="5010912"/>
            <a:ext cx="306628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Planejamos cada detalhe para que o aluno esteja sempre à frente — a compra acontece na janela certa, não em cima da hora.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3024" y="4572000"/>
            <a:ext cx="3395472" cy="1691640"/>
          </a:xfrm>
          <a:prstGeom prst="roundRect">
            <a:avLst>
              <a:gd name="adj" fmla="val 3243"/>
            </a:avLst>
          </a:prstGeom>
          <a:solidFill>
            <a:srgbClr val="1B2435"/>
          </a:solidFill>
          <a:ln w="9525">
            <a:solidFill>
              <a:srgbClr val="2A3550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47616" y="4718304"/>
            <a:ext cx="3066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CAMINHO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47616" y="5010912"/>
            <a:ext cx="306628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Conectamos etapas e pessoas — calendário, bloqueios, voo, hotel e traslado — para tornar a jornada simples do início ao fim.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943088" y="4572000"/>
            <a:ext cx="3395472" cy="1691640"/>
          </a:xfrm>
          <a:prstGeom prst="roundRect">
            <a:avLst>
              <a:gd name="adj" fmla="val 3243"/>
            </a:avLst>
          </a:prstGeom>
          <a:solidFill>
            <a:srgbClr val="1B2435"/>
          </a:solidFill>
          <a:ln w="9525">
            <a:solidFill>
              <a:srgbClr val="2A3550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07680" y="4718304"/>
            <a:ext cx="3066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FACILITAÇÃO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107680" y="5010912"/>
            <a:ext cx="306628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Tecnologia e especialistas trabalhando juntos para tirar o peso operacional do aluno, sem tirar dele o controle das escolhas.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120" kern="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BANCA DE MODELAGEM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0957255" y="66385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10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  </a:t>
            </a:r>
            <a:pPr algn="l"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Para quem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320040" y="868680"/>
            <a:ext cx="11521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mercado de dois lados: quem usa e paga, e quem viabiliza e ganha junto.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5638648" cy="5029200"/>
          </a:xfrm>
          <a:prstGeom prst="roundRect">
            <a:avLst>
              <a:gd name="adj" fmla="val 1091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71600"/>
            <a:ext cx="5638648" cy="1051560"/>
          </a:xfrm>
          <a:prstGeom prst="roundRect">
            <a:avLst>
              <a:gd name="adj" fmla="val 5217"/>
            </a:avLst>
          </a:prstGeom>
          <a:solidFill>
            <a:srgbClr val="0B122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148840"/>
            <a:ext cx="5638648" cy="27432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54480"/>
            <a:ext cx="1600200" cy="256032"/>
          </a:xfrm>
          <a:prstGeom prst="roundRect">
            <a:avLst>
              <a:gd name="adj" fmla="val 17857"/>
            </a:avLst>
          </a:prstGeom>
          <a:solidFill>
            <a:srgbClr val="F2B70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80" kern="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B2C · QUEM USA E PAGA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240280" y="1508760"/>
            <a:ext cx="358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Ricardo Fontes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1901952"/>
            <a:ext cx="527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 anos · diretor de operações · mora em Belém · cursa programa executivo em Nova Lima, viajando a cada 6 semanas por 20 meses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39496" y="2715768"/>
            <a:ext cx="73152" cy="73152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51760"/>
            <a:ext cx="4998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Valoriza —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rapidez, previsibilidade e a liberdade de manter a companhia de sempre e as milhas pessoais.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9496" y="3429000"/>
            <a:ext cx="73152" cy="73152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364992"/>
            <a:ext cx="4998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Evita —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pagar 2–3× por decidir tarde, plataformas rígidas e a burocracia do reembolso.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9496" y="4142232"/>
            <a:ext cx="73152" cy="73152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78224"/>
            <a:ext cx="4998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Pagaria por —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alguém que resolva tudo — passagem, hotel, traslado — sem tirar dele o controle.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5532120"/>
            <a:ext cx="5272888" cy="685800"/>
          </a:xfrm>
          <a:prstGeom prst="roundRect">
            <a:avLst>
              <a:gd name="adj" fmla="val 5333"/>
            </a:avLst>
          </a:prstGeom>
          <a:solidFill>
            <a:srgbClr val="FDF1CB"/>
          </a:solidFill>
          <a:ln w="6350">
            <a:solidFill>
              <a:srgbClr val="E8D9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596128"/>
            <a:ext cx="499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“Se alguém resolver isso por mim sem me tirar as milhas, eu pago.”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33008" y="1371600"/>
            <a:ext cx="5638648" cy="5029200"/>
          </a:xfrm>
          <a:prstGeom prst="roundRect">
            <a:avLst>
              <a:gd name="adj" fmla="val 1091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33008" y="1371600"/>
            <a:ext cx="5638648" cy="1051560"/>
          </a:xfrm>
          <a:prstGeom prst="roundRect">
            <a:avLst>
              <a:gd name="adj" fmla="val 5217"/>
            </a:avLst>
          </a:prstGeom>
          <a:solidFill>
            <a:srgbClr val="0B1220"/>
          </a:solidFill>
          <a:ln/>
        </p:spPr>
      </p:sp>
      <p:sp>
        <p:nvSpPr>
          <p:cNvPr id="20" name="Shape 18"/>
          <p:cNvSpPr/>
          <p:nvPr/>
        </p:nvSpPr>
        <p:spPr>
          <a:xfrm>
            <a:off x="6233008" y="2148840"/>
            <a:ext cx="5638648" cy="27432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21" name="Text 19"/>
          <p:cNvSpPr/>
          <p:nvPr/>
        </p:nvSpPr>
        <p:spPr>
          <a:xfrm>
            <a:off x="6415888" y="1554480"/>
            <a:ext cx="1600200" cy="256032"/>
          </a:xfrm>
          <a:prstGeom prst="roundRect">
            <a:avLst>
              <a:gd name="adj" fmla="val 17857"/>
            </a:avLst>
          </a:prstGeom>
          <a:solidFill>
            <a:srgbClr val="F2B70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80" kern="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B2B · QUEM VIABILIZA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153248" y="1508760"/>
            <a:ext cx="358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Mariana Duarte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15888" y="1901952"/>
            <a:ext cx="527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 anos · gerente de programas executivos · escola de negócios de grande porte, campus com fluxo de alunos de fora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52464" y="2715768"/>
            <a:ext cx="73152" cy="73152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25" name="Text 23"/>
          <p:cNvSpPr/>
          <p:nvPr/>
        </p:nvSpPr>
        <p:spPr>
          <a:xfrm>
            <a:off x="6644488" y="2651760"/>
            <a:ext cx="4998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Apoia por —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NPS e acolhimento do aluno antes dos módulos, com zero atrito para a coordenação.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52464" y="3429000"/>
            <a:ext cx="73152" cy="73152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27" name="Text 25"/>
          <p:cNvSpPr/>
          <p:nvPr/>
        </p:nvSpPr>
        <p:spPr>
          <a:xfrm>
            <a:off x="6644488" y="3364992"/>
            <a:ext cx="4998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Precisa saber —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casos reais, governança financeira do bloqueio e quem responde quando a viagem dá errado.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52464" y="4142232"/>
            <a:ext cx="73152" cy="73152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29" name="Text 27"/>
          <p:cNvSpPr/>
          <p:nvPr/>
        </p:nvSpPr>
        <p:spPr>
          <a:xfrm>
            <a:off x="6644488" y="4078224"/>
            <a:ext cx="4998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Nunca aceita —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fornecedor que gere reclamação ou qualquer obrigação imposta ao aluno.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15888" y="5532120"/>
            <a:ext cx="5272888" cy="685800"/>
          </a:xfrm>
          <a:prstGeom prst="roundRect">
            <a:avLst>
              <a:gd name="adj" fmla="val 5333"/>
            </a:avLst>
          </a:prstGeom>
          <a:solidFill>
            <a:srgbClr val="FDF1CB"/>
          </a:solidFill>
          <a:ln w="6350">
            <a:solidFill>
              <a:srgbClr val="E8D9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53048" y="5596128"/>
            <a:ext cx="499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“Posso indicar um parceiro de confiança. Obrigar o aluno, jamais.”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12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BANCA DE MODELAGEM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10957255" y="66385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10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05  </a:t>
            </a:r>
            <a:pPr algn="l"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Como acontece — a jornada do Ricardo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320040" y="868680"/>
            <a:ext cx="11521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Belém → Nova Lima, a cada 6 semanas. </a:t>
            </a:r>
            <a:pPr indent="0" marL="0">
              <a:buNone/>
            </a:pPr>
            <a:r>
              <a:rPr lang="en-US" sz="120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 assim que o programa inteiro passa a funcionar com a Antévia: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416680" y="1581912"/>
            <a:ext cx="9358335" cy="0"/>
          </a:xfrm>
          <a:prstGeom prst="line">
            <a:avLst/>
          </a:prstGeom>
          <a:noFill/>
          <a:ln w="19050">
            <a:solidFill>
              <a:srgbClr val="C9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1232" y="1426464"/>
            <a:ext cx="310896" cy="310896"/>
          </a:xfrm>
          <a:prstGeom prst="ellipse">
            <a:avLst/>
          </a:prstGeom>
          <a:solidFill>
            <a:srgbClr val="F2B705"/>
          </a:solidFill>
          <a:ln/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61232" y="1426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965960"/>
            <a:ext cx="2193280" cy="3977640"/>
          </a:xfrm>
          <a:prstGeom prst="roundRect">
            <a:avLst>
              <a:gd name="adj" fmla="val 2501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" y="2112264"/>
            <a:ext cx="190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9A750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MARÇO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66344" y="2331720"/>
            <a:ext cx="190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Na matrícula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66344" y="2834640"/>
            <a:ext cx="19006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Junto com a vaga, Ricardo recebe o plano de viagem do programa inteiro: todos os módulos, com estimativa de custo total desde o primeiro dia.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66344" y="5029200"/>
            <a:ext cx="1900672" cy="0"/>
          </a:xfrm>
          <a:prstGeom prst="line">
            <a:avLst/>
          </a:prstGeom>
          <a:noFill/>
          <a:ln w="9525">
            <a:solidFill>
              <a:srgbClr val="E3E6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" y="5138928"/>
            <a:ext cx="190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Hoje: recebe o calendário, guarda — e esquece.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3600816" y="1426464"/>
            <a:ext cx="310896" cy="310896"/>
          </a:xfrm>
          <a:prstGeom prst="ellipse">
            <a:avLst/>
          </a:prstGeom>
          <a:solidFill>
            <a:srgbClr val="F2B705"/>
          </a:solidFill>
          <a:ln/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00816" y="1426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59624" y="1965960"/>
            <a:ext cx="2193280" cy="3977640"/>
          </a:xfrm>
          <a:prstGeom prst="roundRect">
            <a:avLst>
              <a:gd name="adj" fmla="val 2501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805928" y="2112264"/>
            <a:ext cx="190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9A750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BLOQUEIO GARANTIDO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805928" y="2331720"/>
            <a:ext cx="190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90 dias antes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805928" y="2834640"/>
            <a:ext cx="19006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Antévia trava o bloqueio de grupo da turma e propõe voo e hotel no app. Ricardo aprova em minutos — na companhia dele, somando as milhas dele.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2805928" y="5029200"/>
            <a:ext cx="1900672" cy="0"/>
          </a:xfrm>
          <a:prstGeom prst="line">
            <a:avLst/>
          </a:prstGeom>
          <a:noFill/>
          <a:ln w="9525">
            <a:solidFill>
              <a:srgbClr val="E3E6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05928" y="5138928"/>
            <a:ext cx="190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Hoje: nada acontece até chegar perto da data.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5940400" y="1426464"/>
            <a:ext cx="310896" cy="310896"/>
          </a:xfrm>
          <a:prstGeom prst="ellipse">
            <a:avLst/>
          </a:prstGeom>
          <a:solidFill>
            <a:srgbClr val="F2B705"/>
          </a:solidFill>
          <a:ln/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0400" y="1426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99208" y="1965960"/>
            <a:ext cx="2193280" cy="3977640"/>
          </a:xfrm>
          <a:prstGeom prst="roundRect">
            <a:avLst>
              <a:gd name="adj" fmla="val 2501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145512" y="2112264"/>
            <a:ext cx="190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9A750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COMPRA DISPARADA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145512" y="2331720"/>
            <a:ext cx="190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Na janela certa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145512" y="2834640"/>
            <a:ext cx="19006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plataforma dispara a compra no melhor momento da tarifa, guiada pelo calendário — 20–30% mais barata que a compra de última hora.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5145512" y="5029200"/>
            <a:ext cx="1900672" cy="0"/>
          </a:xfrm>
          <a:prstGeom prst="line">
            <a:avLst/>
          </a:prstGeom>
          <a:noFill/>
          <a:ln w="9525">
            <a:solidFill>
              <a:srgbClr val="E3E6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45512" y="5138928"/>
            <a:ext cx="190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Hoje: compra com menos de 30 dias, pagando 2–3× mais.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8279983" y="1426464"/>
            <a:ext cx="310896" cy="310896"/>
          </a:xfrm>
          <a:prstGeom prst="ellipse">
            <a:avLst/>
          </a:prstGeom>
          <a:solidFill>
            <a:srgbClr val="F2B705"/>
          </a:solidFill>
          <a:ln/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79983" y="1426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38792" y="1965960"/>
            <a:ext cx="2193280" cy="3977640"/>
          </a:xfrm>
          <a:prstGeom prst="roundRect">
            <a:avLst>
              <a:gd name="adj" fmla="val 2501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485096" y="2112264"/>
            <a:ext cx="190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9A750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TUDO NUM ROTEIRO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485096" y="2331720"/>
            <a:ext cx="190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Semana do módulo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485096" y="2834640"/>
            <a:ext cx="19006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Voo, hotel e traslado num roteiro único no app, lembretes proativos e o concierge da turma a uma mensagem de distância no WhatsApp.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7485096" y="5029200"/>
            <a:ext cx="1900672" cy="0"/>
          </a:xfrm>
          <a:prstGeom prst="line">
            <a:avLst/>
          </a:prstGeom>
          <a:noFill/>
          <a:ln w="9525">
            <a:solidFill>
              <a:srgbClr val="E3E6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85096" y="5138928"/>
            <a:ext cx="190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Hoje: três apps, e-mails soltos e correria.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10619567" y="1426464"/>
            <a:ext cx="310896" cy="310896"/>
          </a:xfrm>
          <a:prstGeom prst="ellipse">
            <a:avLst/>
          </a:prstGeom>
          <a:solidFill>
            <a:srgbClr val="F2B705"/>
          </a:solidFill>
          <a:ln/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0619567" y="1426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678375" y="1965960"/>
            <a:ext cx="2193280" cy="3977640"/>
          </a:xfrm>
          <a:prstGeom prst="roundRect">
            <a:avLst>
              <a:gd name="adj" fmla="val 2501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824679" y="2112264"/>
            <a:ext cx="190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9A750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FOCO TOTAL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9824679" y="2331720"/>
            <a:ext cx="190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 encontro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824679" y="2834640"/>
            <a:ext cx="19006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Ricardo chega tranquilo e focado na aula. O custo consolidado aparece no painel do programa — sem planilha de reembolso.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9824679" y="5029200"/>
            <a:ext cx="1900672" cy="0"/>
          </a:xfrm>
          <a:prstGeom prst="line">
            <a:avLst/>
          </a:prstGeom>
          <a:noFill/>
          <a:ln w="9525">
            <a:solidFill>
              <a:srgbClr val="E3E6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824679" y="5138928"/>
            <a:ext cx="190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Hoje: chega cansado e ainda fecha a planilha.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320040" y="6144768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 no módulo seguinte, tudo se repete — sem que o Ricardo precise pensar nisso.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12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BANCA DE MODELAGEM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10957255" y="66385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10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06  </a:t>
            </a:r>
            <a:pPr algn="l"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Por que será escolhido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320040" y="914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Quem tenta resolver hoje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539496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0817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OTAs e apps de companhia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168249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Decolar, CVC, Booking, LATAM, GOL, Azul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5029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Resolvem viagem a viagem. Não conhecem o calendário do programa nem compram no momento certo pelo aluno.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2980944"/>
            <a:ext cx="539496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31089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Plataformas B2B corporativas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3832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Onfly, Argo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3639312"/>
            <a:ext cx="5029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Só entram com CNPJ e política de empresa. O aluno pessoa física fica de fora — é o órfão estrutural.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4681728"/>
            <a:ext cx="539496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48097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Agências tradicionais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508406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Cotação sob demanda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5340096"/>
            <a:ext cx="5029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Atendem quando procuradas. Sem integração com a escola, sem compra programada, sem visão do programa inteiro.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89320" y="914400"/>
            <a:ext cx="5882335" cy="5468112"/>
          </a:xfrm>
          <a:prstGeom prst="roundRect">
            <a:avLst>
              <a:gd name="adj" fmla="val 100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63640" y="10789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Ant</a:t>
            </a:r>
            <a:pPr algn="l" indent="0" marL="0">
              <a:buNone/>
            </a:pPr>
            <a:r>
              <a:rPr lang="en-US" sz="22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é</a:t>
            </a:r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81928" y="1572768"/>
            <a:ext cx="5333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 QUE SÓ A ANTÉVIA FAZ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281928" y="1938528"/>
            <a:ext cx="274320" cy="27432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20" name="Text 18"/>
          <p:cNvSpPr/>
          <p:nvPr/>
        </p:nvSpPr>
        <p:spPr>
          <a:xfrm>
            <a:off x="6281928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75120" y="1920240"/>
            <a:ext cx="4876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Integrada ao calendário acadêmico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2194560"/>
            <a:ext cx="4876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única que sabe as datas antes de o aluno decidir — e age sobre elas.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81928" y="3035808"/>
            <a:ext cx="274320" cy="27432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24" name="Text 22"/>
          <p:cNvSpPr/>
          <p:nvPr/>
        </p:nvSpPr>
        <p:spPr>
          <a:xfrm>
            <a:off x="6281928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75120" y="3017520"/>
            <a:ext cx="4876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Compra na janela certa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0" y="3291840"/>
            <a:ext cx="4876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Bloqueio de grupo da turma com 20–30% de desconto, disparado no momento ideal da tarifa.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81928" y="4133088"/>
            <a:ext cx="274320" cy="27432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28" name="Text 26"/>
          <p:cNvSpPr/>
          <p:nvPr/>
        </p:nvSpPr>
        <p:spPr>
          <a:xfrm>
            <a:off x="6281928" y="4133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75120" y="4114800"/>
            <a:ext cx="4876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Concierge dedicado por turma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75120" y="4389120"/>
            <a:ext cx="4876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função “gestor de viagens do aluno”, que hoje não existe no mercado.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81928" y="5230368"/>
            <a:ext cx="274320" cy="27432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32" name="Text 30"/>
          <p:cNvSpPr/>
          <p:nvPr/>
        </p:nvSpPr>
        <p:spPr>
          <a:xfrm>
            <a:off x="6281928" y="5230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75120" y="5212080"/>
            <a:ext cx="4876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Liberdade do aluno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75120" y="5486400"/>
            <a:ext cx="4876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Companhia, voo e milhas continuam sendo escolha dele. Nada é imposto — condição da escola para indicar.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12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BANCA DE MODELAGEM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10957255" y="66385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10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07  </a:t>
            </a:r>
            <a:pPr algn="l"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Atores-chave — quem faz o negócio funcionar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2764460" cy="3017520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84632" y="1124712"/>
            <a:ext cx="1143000" cy="237744"/>
          </a:xfrm>
          <a:prstGeom prst="roundRect">
            <a:avLst>
              <a:gd name="adj" fmla="val 15385"/>
            </a:avLst>
          </a:prstGeom>
          <a:solidFill>
            <a:srgbClr val="FDF1CB"/>
          </a:solidFill>
          <a:ln w="6350">
            <a:solidFill>
              <a:srgbClr val="E8D9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20" kern="0" dirty="0">
                <a:solidFill>
                  <a:srgbClr val="9A750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VIABILIZA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84632" y="1472184"/>
            <a:ext cx="24352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Escola de negócios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" y="2093976"/>
            <a:ext cx="24352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2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Empresta o CNPJ, a turma e as datas fixas do calendário — e indica a Antévia na matrícula, sem obrigar o aluno. Ganha NPS e menos fricção.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3249092" y="960120"/>
            <a:ext cx="2764460" cy="3017520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13684" y="1124712"/>
            <a:ext cx="1143000" cy="237744"/>
          </a:xfrm>
          <a:prstGeom prst="roundRect">
            <a:avLst>
              <a:gd name="adj" fmla="val 15385"/>
            </a:avLst>
          </a:prstGeom>
          <a:solidFill>
            <a:srgbClr val="FDF1CB"/>
          </a:solidFill>
          <a:ln w="6350">
            <a:solidFill>
              <a:srgbClr val="E8D9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20" kern="0" dirty="0">
                <a:solidFill>
                  <a:srgbClr val="9A750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NEGOCIAM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13684" y="1472184"/>
            <a:ext cx="24352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Consolidadoras e agências B2B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13684" y="2093976"/>
            <a:ext cx="24352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2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Estruturam os bloqueios de grupo junto às companhias — o modelo comercial já existe no mercado; a Antévia o embala para o aluno.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6178144" y="960120"/>
            <a:ext cx="2764460" cy="3017520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42736" y="1124712"/>
            <a:ext cx="1143000" cy="237744"/>
          </a:xfrm>
          <a:prstGeom prst="roundRect">
            <a:avLst>
              <a:gd name="adj" fmla="val 15385"/>
            </a:avLst>
          </a:prstGeom>
          <a:solidFill>
            <a:srgbClr val="FDF1CB"/>
          </a:solidFill>
          <a:ln w="6350">
            <a:solidFill>
              <a:srgbClr val="E8D9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20" kern="0" dirty="0">
                <a:solidFill>
                  <a:srgbClr val="9A750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FORNECEM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342736" y="1472184"/>
            <a:ext cx="24352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Cias aéreas e hotéis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42736" y="2093976"/>
            <a:ext cx="24352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2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LATAM, GOL, Azul e hotéis próximos aos campi entregam tarifas de grupo em troca de volume garantido e previsível.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9107195" y="960120"/>
            <a:ext cx="2764460" cy="3017520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71787" y="1124712"/>
            <a:ext cx="1143000" cy="237744"/>
          </a:xfrm>
          <a:prstGeom prst="roundRect">
            <a:avLst>
              <a:gd name="adj" fmla="val 15385"/>
            </a:avLst>
          </a:prstGeom>
          <a:solidFill>
            <a:srgbClr val="FDF1CB"/>
          </a:solidFill>
          <a:ln w="6350">
            <a:solidFill>
              <a:srgbClr val="E8D9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20" kern="0" dirty="0">
                <a:solidFill>
                  <a:srgbClr val="9A750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OPERA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9271787" y="1472184"/>
            <a:ext cx="24352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Time Antévia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271787" y="2093976"/>
            <a:ext cx="24352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2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 ligada ao calendário + concierges por turma atendem o aluno ponta a ponta: da proposta ao reembolso.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320040" y="4206240"/>
            <a:ext cx="11548872" cy="2148840"/>
          </a:xfrm>
          <a:prstGeom prst="roundRect">
            <a:avLst>
              <a:gd name="adj" fmla="val 255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438912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 QUE FAZ O BLOQUEIO DE GRUPO FUNCIONAR — 5 CONDIÇÕES OBRIGATÓRIAS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4754880"/>
            <a:ext cx="2097634" cy="1325880"/>
          </a:xfrm>
          <a:prstGeom prst="roundRect">
            <a:avLst>
              <a:gd name="adj" fmla="val 3448"/>
            </a:avLst>
          </a:prstGeom>
          <a:solidFill>
            <a:srgbClr val="1B2435"/>
          </a:solidFill>
          <a:ln w="9525">
            <a:solidFill>
              <a:srgbClr val="2A35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" y="4901184"/>
            <a:ext cx="18416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Rota concentrada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22376" y="5431536"/>
            <a:ext cx="18416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5–8 origens principais por turma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2820010" y="4754880"/>
            <a:ext cx="2097634" cy="1325880"/>
          </a:xfrm>
          <a:prstGeom prst="roundRect">
            <a:avLst>
              <a:gd name="adj" fmla="val 3448"/>
            </a:avLst>
          </a:prstGeom>
          <a:solidFill>
            <a:srgbClr val="1B2435"/>
          </a:solidFill>
          <a:ln w="9525">
            <a:solidFill>
              <a:srgbClr val="2A35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48026" y="4901184"/>
            <a:ext cx="18416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Horários padronizados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948026" y="5431536"/>
            <a:ext cx="18416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Módulos com datas e janelas fixas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5045659" y="4754880"/>
            <a:ext cx="2097634" cy="1325880"/>
          </a:xfrm>
          <a:prstGeom prst="roundRect">
            <a:avLst>
              <a:gd name="adj" fmla="val 3448"/>
            </a:avLst>
          </a:prstGeom>
          <a:solidFill>
            <a:srgbClr val="1B2435"/>
          </a:solidFill>
          <a:ln w="9525">
            <a:solidFill>
              <a:srgbClr val="2A35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73675" y="4901184"/>
            <a:ext cx="18416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Antecedência de ~90 dias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73675" y="5431536"/>
            <a:ext cx="18416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Compra programada, não reativa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7271309" y="4754880"/>
            <a:ext cx="2097634" cy="1325880"/>
          </a:xfrm>
          <a:prstGeom prst="roundRect">
            <a:avLst>
              <a:gd name="adj" fmla="val 3448"/>
            </a:avLst>
          </a:prstGeom>
          <a:solidFill>
            <a:srgbClr val="1B2435"/>
          </a:solidFill>
          <a:ln w="9525">
            <a:solidFill>
              <a:srgbClr val="2A35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99325" y="4901184"/>
            <a:ext cx="18416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Garantia financeira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399325" y="5431536"/>
            <a:ext cx="18416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 de giro cobrindo o bloqueio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9496958" y="4754880"/>
            <a:ext cx="2097634" cy="1325880"/>
          </a:xfrm>
          <a:prstGeom prst="roundRect">
            <a:avLst>
              <a:gd name="adj" fmla="val 3448"/>
            </a:avLst>
          </a:prstGeom>
          <a:solidFill>
            <a:srgbClr val="1B2435"/>
          </a:solidFill>
          <a:ln w="9525">
            <a:solidFill>
              <a:srgbClr val="2A35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24974" y="4901184"/>
            <a:ext cx="18416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Política de no-show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624974" y="5431536"/>
            <a:ext cx="18416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Regras claras de cancelamento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320040" y="6419088"/>
            <a:ext cx="1152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Condições mapeadas com a Velt (agência B2B) na Sprint 1 — o modelo comercial já é praticado no mercado.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12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BANCA DE MODELAGEM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10957255" y="66385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10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08  </a:t>
            </a:r>
            <a:pPr algn="l"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Ganhos financeiros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320040" y="914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Três fontes de receita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53949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2646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7556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Taxa de serviço por encontro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029968"/>
            <a:ext cx="5029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R$ 50–150 por módulo, paga pelo aluno pela conveniência do concierge (faixa a validar nas próximas entrevistas).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2889504"/>
            <a:ext cx="53949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30358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33649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Comissão sobre bloqueios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639312"/>
            <a:ext cx="5029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Percentual sobre as tarifas de grupo negociadas com companhias aéreas e hotéis.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4498848"/>
            <a:ext cx="53949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464515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49743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Fee da escola por turma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5248656"/>
            <a:ext cx="5029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Receita potencial da escola pelo serviço ao aluno — a validar como evolução do modelo.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89320" y="914400"/>
            <a:ext cx="5882335" cy="3657600"/>
          </a:xfrm>
          <a:prstGeom prst="roundRect">
            <a:avLst>
              <a:gd name="adj" fmla="val 15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63640" y="1097280"/>
            <a:ext cx="5333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EXEMPLO ILUSTRATIVO — 1 TURMA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263640" y="1371600"/>
            <a:ext cx="5333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alunos · 12 encontros · </a:t>
            </a:r>
            <a:pPr indent="0" marL="0">
              <a:buNone/>
            </a:pPr>
            <a:r>
              <a:rPr lang="en-US" sz="1050" b="1" dirty="0">
                <a:solidFill>
                  <a:srgbClr val="F2B7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adesão de 60%</a:t>
            </a:r>
            <a:pPr indent="0" marL="0">
              <a:buNone/>
            </a:pPr>
            <a:r>
              <a:rPr lang="en-US" sz="1050" dirty="0">
                <a:solidFill>
                  <a:srgbClr val="AE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(faixa realista: 50–70%)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63640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720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092440" y="1828800"/>
            <a:ext cx="3459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viagens organizadas por ano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63640" y="243230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R$ 72 mil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092440" y="2432304"/>
            <a:ext cx="3459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turma/ano só em taxas de serviço (média R$ 100)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63640" y="30358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+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8092440" y="3035808"/>
            <a:ext cx="3459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comissão sobre todo o volume de bloqueios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63640" y="3749040"/>
            <a:ext cx="5333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AE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escalável por turma e por escola — cada nova turma replica a mesma operação.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89320" y="4709160"/>
            <a:ext cx="5882335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63640" y="4864608"/>
            <a:ext cx="5333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9A750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 TODO MUNDO GANHA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63640" y="5120640"/>
            <a:ext cx="5333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Aluno: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economiza 20–30% comprando na janela certa. 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Escola: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NPS, menos fricção, sem custo direto. 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122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Fornecedores: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4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 garantido e previsível.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" y="6263640"/>
            <a:ext cx="1152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Estimativas calibradas com as entrevistas das Sprints 1 e 2 (Velt/Bruno Brant) — valores a validar com alunos e escolas.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12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BANCA DE MODELAGEM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10957255" y="66385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10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09  </a:t>
            </a:r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Proposta de valor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97280" y="1234440"/>
            <a:ext cx="9966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Compramos a viagem certa, na hora certa, pelo aluno — </a:t>
            </a:r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para que ele compre apenas uma coisa: a própria formação.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66648" y="2880360"/>
            <a:ext cx="4892040" cy="2743200"/>
          </a:xfrm>
          <a:prstGeom prst="roundRect">
            <a:avLst>
              <a:gd name="adj" fmla="val 2000"/>
            </a:avLst>
          </a:prstGeom>
          <a:solidFill>
            <a:srgbClr val="1B2435"/>
          </a:solidFill>
          <a:ln w="9525">
            <a:solidFill>
              <a:srgbClr val="2A3550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95248" y="306324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PARA O ALUNO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313536" y="3483864"/>
            <a:ext cx="73152" cy="73152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" name="Text 5"/>
          <p:cNvSpPr/>
          <p:nvPr/>
        </p:nvSpPr>
        <p:spPr>
          <a:xfrm>
            <a:off x="1505560" y="342900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os módulos resolvidos num só lugar, com custo previsível desde a matrícula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313536" y="4197096"/>
            <a:ext cx="73152" cy="73152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9" name="Text 7"/>
          <p:cNvSpPr/>
          <p:nvPr/>
        </p:nvSpPr>
        <p:spPr>
          <a:xfrm>
            <a:off x="1505560" y="414223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20–30% de economia comprando na janela certa — sem abrir mão de companhia e milhas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313536" y="4910328"/>
            <a:ext cx="73152" cy="73152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1" name="Text 9"/>
          <p:cNvSpPr/>
          <p:nvPr/>
        </p:nvSpPr>
        <p:spPr>
          <a:xfrm>
            <a:off x="1505560" y="485546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Chega a cada encontro tranquilo e focado no que importa: a aula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33008" y="2880360"/>
            <a:ext cx="4892040" cy="2743200"/>
          </a:xfrm>
          <a:prstGeom prst="roundRect">
            <a:avLst>
              <a:gd name="adj" fmla="val 2000"/>
            </a:avLst>
          </a:prstGeom>
          <a:solidFill>
            <a:srgbClr val="1B2435"/>
          </a:solidFill>
          <a:ln w="9525">
            <a:solidFill>
              <a:srgbClr val="2A3550"/>
            </a:solidFill>
            <a:prstDash val="solid"/>
          </a:ln>
          <a:effectLst>
            <a:outerShdw sx="100000" sy="100000" kx="0" ky="0" algn="bl" rotWithShape="0" blurRad="63500" dist="25400" dir="5400000">
              <a:srgbClr val="0B122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61608" y="306324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F2B70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PARA A ESCOLA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79896" y="3483864"/>
            <a:ext cx="73152" cy="73152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5" name="Text 13"/>
          <p:cNvSpPr/>
          <p:nvPr/>
        </p:nvSpPr>
        <p:spPr>
          <a:xfrm>
            <a:off x="6671920" y="342900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Aluno acolhido antes de cada módulo — NPS maior e menos reclamação na coordenação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79896" y="4197096"/>
            <a:ext cx="73152" cy="73152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7" name="Text 15"/>
          <p:cNvSpPr/>
          <p:nvPr/>
        </p:nvSpPr>
        <p:spPr>
          <a:xfrm>
            <a:off x="6671920" y="414223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atrito operacional e nenhuma obrigação imposta ao aluno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79896" y="4910328"/>
            <a:ext cx="73152" cy="73152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9" name="Text 17"/>
          <p:cNvSpPr/>
          <p:nvPr/>
        </p:nvSpPr>
        <p:spPr>
          <a:xfrm>
            <a:off x="6671920" y="485546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Posicionamento premium: a experiência começa antes da sala de aula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80560" y="5943600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Ant</a:t>
            </a:r>
            <a:pPr algn="ctr" indent="0" marL="0">
              <a:buNone/>
            </a:pPr>
            <a:r>
              <a:rPr lang="en-US" sz="2200" b="1" dirty="0">
                <a:solidFill>
                  <a:srgbClr val="F2B7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é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via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566160" y="6400800"/>
            <a:ext cx="5056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20" kern="0" dirty="0">
                <a:solidFill>
                  <a:srgbClr val="E6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LOGÍSTICA DA SUA FORMAÇÃO, NO TEMPO CERTO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120" kern="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KAIRÓS · BUSINESS DESIGN · BANCA DE MODELAGEM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0957255" y="66385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10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2026-07-22T00:34:54Z</dcterms:created>
  <dcterms:modified xsi:type="dcterms:W3CDTF">2026-07-22T00:34:54Z</dcterms:modified>
</cp:coreProperties>
</file>